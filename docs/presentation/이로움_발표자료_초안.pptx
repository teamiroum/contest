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24"/>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  <Relationship Id="rId24" Type="http://schemas.openxmlformats.org/officeDocument/2006/relationships/slide" Target="slides/slide18.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 약 15초]
안녕하십니까, 이로움입니다. 저희는 어르신이 찍고 AI가 판독해 현장과 행정을 잇는 생활 시설 점검 서비스 '시니어 동네 점검단'을 웹·앱 서비스로 만들었습니다.
※ 발표 분담: 이승재(발표·프론트엔드)가 1~13번 전체를 발표합니다. 질의응답은 맡은 분야대로 나눠 답합니다. 기획·업무 서버·운영은 이소미, 앱·웹 화면과 시연은 이승재, AI 판독·검증과 근거 자료는 황상진. 역할과 기여는 13번 팀원 카드로 보여 주고, 질의응답에서 각자 직접 답하면 자연스럽게 드러납니다.
※ 전체 시간 배분: 슬라이드 약 6분 55초 + 시연 영상 2분 30초 = 9분 25초(여유 35초). 영상이 3분이면 2·3·11번에서 10초씩 줄이세요.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[0:15–1:15 · 약 60초]
동네 곳곳에 흩어진 생활 시설의 고장은 대개 누군가 다치거나 불편을 겪은 뒤에야 민원으로 들어옵니다. 시민 신고는 발견한 사람이 신고할 때만 작동하는데, 경기도 안전신문고의 도로·시설물 파손 신고는 7만 8천 건에서 10만 5천 건으로 34% 늘었습니다.
양주시는 2023년 인구증가율 전국 1위, 11%로 빠르게 커지는 도시지만, 담당 공무원이 흩어진 시설을 모두 돌아보기에는 인력이 부족합니다.
2026년 양주시 노인일자리는 2,710명, 117억 원 규모이고, 남면·양주1동 일대는 고령인구 비율이 36~48%입니다. 하지만 기존 어르신 일자리는 위험 판단을 어르신이 직접 해야 하고, 신고하면 역할이 끝나 고쳐졌는지 다시 확인하지 않습니다.
그래서 저희는 민원 전에 먼저 찾는 체계를 만들고, 고친 뒤에도 확인하는 단계까지 설계했습니다.
※ 고령인구 비율(36~48%)과 시설 5종 그림은 화면에서 뺐습니다. 고령인구 비율은 말로만 짚고, 시간이 빠듯하면 생략해도 됩니다.
※ 양주시 단위 안전신문고 신고 통계는 공개 자료가 없습니다. '양주시 신고는 몇 건이냐'고 물으면 경기도 수치를 쓰고, 시범 협의 때 시에 자료를 요청한다고 답하세요.
※ 2,710명·117억 원은 양주시 2026년 노인일자리 모집 공고와 보도(헤럴드경제, 2025.11.19)입니다. 공익활동사업은 월 30시간 29만 원입니다.
※ 2번과 9번 대본이 합쳐서 10초쯤 늘었습니다. 시간이 빠듯하면 2번의 고령인구 비율 문장부터 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[1:15–2:10 · 약 55초]
핵심은 신고에서 끝나지 않는 다섯 단계 루프입니다. 어르신은 참고 사진과 같은 구도로 찍고, 얼굴과 번호판은 휴대폰에서 먼저 가린 뒤 서버가 한 번 더 검사합니다. AI가 시설과 이상 의심, 판독 근거를 정리하면 시설 담당자가 확정해 관리 부서에 보수를 요청합니다. 지금도 신고 없이 정기 순회로 먼저 찾고, 위험 판단을 어르신에게 맡기지 않는다는 점이 기존 방식과 다릅니다.
STEP 5 수리 확인까지 이미 만들어 두었습니다. 보수가 끝나면 다음 순회 때 보수 후 사진을 찍고, AI가 전후 사진을 비교한 결과를 참고해 담당자가 종결하거나 재보수를 요청합니다. 아래 예시처럼, 보수 완료로 보고됐지만 가로대가 그대로인 운동기구도 잡아낼 수 있습니다.
※ 루프는 STEP 1~5, 추진 계획은 1~3단계로 나눠 적었습니다. 수리 확인(STEP 5)은 구현을 마쳐 1단계 시범부터 함께 씁니다.
※ 앱의 '재촬영'은 잘못 찍힌 사진을 바로 다시 찍는 1단계 기능입니다. 수리 확인에 쓰는 사진은 '보수 후 사진'이라고 구분해 말하세요.
※ 화면에서 단계별 설명 줄과 보도블록 예시(수리 확인 → 담당자 종결)는 뺐습니다. 둘 다 위 대본에 들어 있으니 그대로 말하면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[2:10–2:40 · 약 30초]
서비스는 네 부분으로 구성됩니다. 어르신은 설치 없이 휴대폰 웹으로 쓰는 시니어 앱을, 담당자는 관리자 웹을 씁니다. 업무 서버는 Spring Boot와 PostgreSQL로 시설 대장과 사진 처리 이력을 관리하고, AI 판독 서버는 보안을 위해 외부 AI 서비스 대신 공개 모델 Qwen3-VL을 자체 서버에서 돌립니다. 그래서 어르신이 찍은 사진이 밖으로 나가지 않습니다. 앱은 AI 판독 서버를 직접 부르지 않고 항상 업무 서버를 거칩니다.
[화면] 아래쪽 '사진 한 장의 흐름' 1~5번을 손으로 짚으며 마무리하세요. 휴대폰에서 가림 → 백엔드 접수·저장 → AI 판독 → 재촬영 또는 다음 장소 안내 → 담당자 검토·보수 요청 순서입니다.
※ 그림의 Redis·S3·JWT는 업무 백엔드 구성입니다. 실제 구현과 다르면 그림(시스템_아키텍처.svg)을 먼저 고치세요.
※ 모델 상세(질의응답용): 가림은 휴대폰에서 먼저 하고 서버가 한 번 더 검사합니다. 서버에서는 얼굴은 YuNet(OpenCV), 번호판은 YOLOv9 기반 사전 학습 모델(open-image-models)을 씁니다. 번호판을 못 찾은 차량은 RF-DETR nano로 차량 전체를 가리고, 규칙 기반 검출도 함께 씁니다. 한국 번호판 추가 학습 모델은 실제 사진 평가에서 98%에 못 미칠 때만 만듭니다.
※ 판독은 Qwen3-VL 8B instruct를 Ollama로 자체 서버에서 돌립니다. 지금은 시험용이고, 같은 정답 사진으로 후보 2~3개를 비교해 확정합니다. 외부 AI(Gemini·Claude) 연동은 이미 뺐습니다.
※ 휴대폰 가림은 앱에 들어가 있고 실제 휴대폰에서 확인했습니다(YuNet 경량판, 작은 YOLOv9, MediaPipe EfficientDet-Lite0). '원본이 서버로 가나요?'라는 질문에는 휴대폰에서 가린 사진만 보내고, 서버가 한 번 더 검사해 가린 사진만 저장하며, 원본은 휴대폰에도 서버에도 남기지 않는다고 답하세요. 운영에서는 휴대폰에서 가리지 않은 사진을 받지 않도록 설정합니다(REQUIRE_DEVICE_MASKING=1).
※ 합성 한국 번호판 80장 점검에서 번호판 모델만으로 가린 비율은 서버 모델 39%, 앱용 작은 모델 4~32%였고, 규칙 기반 검출을 더하면 65%였습니다(9번 화면 수치, 모두 같은 글꼴 환경에서 잰 값). 차량 전체 가림은 이 합성 사진에 차가 없어 아직 측정 전이라 차가 찍힌 실제 사진으로 따로 평가하고, 실제 사진 평가에서 98%에 못 미치면 한국 번호판으로 추가 학습합니다.
※ 라이선스 질문 대비: YuNet MIT(OpenCV Zoo), Qwen3-VL Apache-2.0, open-image-models 패키지 MIT.
※ 화면에서 뺀 기술 이름(Spring Boot·PostgreSQL)과 AI 모델명은 부록 A5에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[2:40–3:05 · 약 25초]
실제 화면입니다. 어르신 앱은 큰 글씨와 참고 사진으로 장소를 안내하고, 지난번에 찍은 곳은 그때 사진을 겹쳐 같은 구도로 찍게 합니다. 사진 품질과 진행 상황을 알려 주고, 못 찍는 경우는 이유를 고르면 됩니다. AI 판독 결과는 어르신 화면에 띄우지 않아, 어르신은 위험을 판단할 부담 없이 촬영에 집중할 수 있습니다.
※ 캡처 넣는 법: 휴대폰 틀 안의 점선 칸을 선택해 지우고, 캡처 이미지를 넣은 뒤 틀 크기에 맞추세요. 주황색 '✎' 표시는 완성 후 삭제하세요.
※ 이 슬라이드는 PDF 심사용 '주요 기능별 실행 화면'입니다. 발표 때는 빠르게 짚고 시연 영상으로 넘어가세요.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[3:05–3:25 · 약 20초]
담당자 웹에서는 AI가 '확인 필요'로 올린 사진을 판독 근거와 함께 보고 판정합니다. 출석·출발·복귀 기록과 주간 점검 현황은 시스템이 자동으로 집계합니다. 이제 실제 동작을 영상으로 보여 드리겠습니다.
※ 관리자 화면은 글씨가 작으니, 캡처할 때 브라우저 확대(Ctrl +)를 125~150%로 올리고 찍으면 PDF에서도 잘 읽힙니다.
※ 수리 확인(전후 비교) 화면도 만들어 두었습니다. 칸을 늘리기 어려우면 2번 칸을 전후 비교 화면으로 바꾸는 것도 방법입니다. 실제로 만든 화면만 넣으세요.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[3:25–5:55 · 약 2분 30초]
[영상 재생] 영상이 나오는 동안 단계마다 한 문장씩 짚어 주세요.
· 어르신이 앱에서 출석을 요청하면 활동 담당자가 한 사람씩 확인합니다.
· 참고 사진을 보고 찍으면 품질을 확인해 잘못 찍힌 사진은 바로 재촬영하게 하고, 얼굴과 번호판은 휴대폰에서 먼저 가린 뒤 서버가 한 번 더 검사합니다.
· AI가 '확인 필요'로 분류한 사진을 시설 담당자가 근거와 함께 보고 이상을 확정해 보수를 요청합니다.
· (영상에 담았다면) 보수 후 다시 찍은 사진을 AI가 전후 비교하고, 담당자가 종결하거나 재보수를 요청합니다.
※ 시연 영상은 AI_PROVIDER=ollama로 바꾼 상태에서 찍으세요. 기본값(mock)이면 실제 AI 판독 결과가 아닙니다.
※ 수리 확인(전후 비교)도 만들어 두었으니, 시간이 되면 5번 뒤에 보수 후 사진 → AI 전후 비교 → 담당자 종결을 이어 담으세요. 영상이 2분 30초를 넘지 않게 주의하세요.
※ 현장 인터넷에 기대지 말고 영상 파일을 PPT에 직접 넣으세요. 영상 화면이 오른쪽 '시연 흐름' 순서와 같으면 설명하기 쉽습니다.
※ 영상이 3분이면 합계 9분 55초로 여유가 5초뿐이니, 다른 슬라이드에서 30초를 줄이는 게 안전합니다.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[5:55–6:30 · 약 35초]
AI는 판단이 필요한 곳에만 씁니다. 얼굴·번호판 가림, 시설·이상 판독, 보수 전후 사진 비교를 맡습니다. 위험 등급, 부서 배정, 시설 연결, 숫자 집계처럼 결과가 늘 같아야 하는 일은 규칙 코드가, 이상 확정처럼 업무 상태를 바꾸는 결정은 언제나 담당자가 맡습니다.
그래서 어르신은 전문 점검 교육 없이도 참여할 수 있습니다.
※ AI는 주간 보고 문장도 씁니다. 숫자는 코드가 세고 AI는 문장만 다듬으며, 숫자가 틀리면 고정 문장으로 바꿉니다(기획서 참고 5).
※ 항목별 설명(품질 검사 기준, 시설 ID 연결, 부서 배정 기준 등)은 부록 A5에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[6:30–7:10 · 약 40초]
AI 결과를 그대로 믿지 않도록 설계했습니다. AI는 문제의 정도만 0~3으로 읽고 위험 등급은 규칙표가 정합니다. AI는 업무 상태를 스스로 바꾸지 않고, 부서를 정하거나 사진을 밖으로 보내지도 않습니다.
성능은 따로 학습시키지 않은 공개 모델을 우리 사진으로 평가합니다. 가림 성공률은 시범 전에 시범 구역 실제 거리 사진으로 98%를 목표로 확인합니다. 지금까지 합성 한국 번호판 80장으로 점검해 보니 번호판 모델만으로는 39%, 규칙 기반 검출을 더해 65%를 가렸습니다. 판독은 시설마다 50장에 정답을 달고, 같은 사진으로 판독 후보 2~3개의 일치율을 비교해 최종 모델을 정합니다.
※ 65%는 합성 번호판을 차가 없는 배경에 붙여 본 점검이라 참고용입니다. 차량 전체 가림은 이 점검에서 측정되지 않았으니 '차량 가림까지 합친 수치'라고 말하지 말고, 차가 찍힌 실제 사진으로 따로 평가한다고 답하세요.
※ 합성 번호판 글꼴에 따라 결과가 달라져, 맑은 고딕 Bold로 재면 79%, Noto Sans CJK Bold로 재면 65%입니다. 4번 노트의 서버 모델 39%·앱용 모델 4~32%와 같은 Noto 환경의 낮은 쪽 수치를 적었습니다. '왜 65%냐'고 물으면 이렇게 답하세요.
※ 같은 점검에서 번호판이 없는 배경 8장 중 3장은 엉뚱한 곳을 가렸습니다(과잉 가림). 개인정보 쪽으로는 안전하지만 판독할 부분까지 가릴 수 있어 실제 사진 평가 때 함께 확인합니다.
※ 판독 일치율도 실측치가 생기면 같은 방식으로 넣으세요. 없으면 '목표'라고 분명히 말하세요.
※ 기준에 못 미치면 번호판 모델은 한국 번호판으로 추가 학습하고(부록 A5), 판독은 시설별 판독 기준표를 보완합니다.
※ '긴급은 누가 정하나요?'라는 질문에는: AI가 문제의 정도(0~3)를 읽으면, 규칙표가 통학로·차도변이면 한 단계 올리고 덮개 없는 빗물받이는 최소 긴급으로 두는 식으로 등급을 정합니다. 업무 화면의 검토 분류는 등급이 아니라 판독 상태와 이상 항목으로 나누고, 최종 판단은 담당자가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[7:10–7:45 · 약 35초]
만드는 과정에서도 초안은 AI가, 결정은 팀이 했습니다. 기획 단계에서는 AI 판독이 위험 등급과 처리 제안까지 내도록 설계됐지만, 업무 판단은 판독 상태와 담당자에게 맡기고 등급은 쓰지 않기로 했습니다. 개발은 AI 코딩 도구의 도움을 받았고 자동 테스트로 확인했으며, 사진 보안 때문에 외부 AI 연동은 빼고 자체 서버 모델로 바꿨습니다. 검증에서는 번호판 가림 모델이 키보드를 번호판으로 보고 사진의 절반을 가린 사례를 찾아, 크기와 비율 기준을 넣어 고쳤습니다.
※ 기획·개발·검증 사례는 저장소 기록(2026-10-11 결정, 번호판 오검출 수정 커밋, 자동 테스트)에 근거합니다. 문제 분석 칸은 팀이 실제로 한 방식과 다르면 고치세요.
※ 합성 번호판 점검이 글꼴에 따라 65~79%로 달라져 글꼴을 고정하고 낮은 값을 보고한 사례도 질의응답용으로 쓸 수 있습니다(기획서 참고 5).
※ 쓴 도구 이름(예: ChatGPT, Claude, Copilot 등)과 용도를 구체적으로 적으면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[7:45–8:35 · 약 50초]
양주시가 새 조직 없이 운영할 수 있습니다. 사회복지과가 총괄하고, 모집·교육·출결은 양주시니어클럽 같은 수행기관이 맡습니다. 활동은 노인공익활동사업으로 회당 3시간씩 월 10회이고, 활동비는 기존 노인일자리 예산으로 1인당 월 29만 원을 지급합니다. 앱은 설치가 필요 없고, AI 서버는 활동 시간에만 켜며, 보수는 관리 부서가 기존 업무로 처리합니다.
개인정보는 휴대폰에서 얼굴과 번호판을 먼저 가리고 서버가 한 번 더 검사해 저장하며, AI 판독도 자체 서버에서만 돌려 사진이 외부로 나가지 않습니다. 어르신은 만지지 않고 찍기만 하며, 2인 1조로 보행로 고정 코스를 다닙니다.
※ 질의응답에서 '비용이 얼마냐'는 질문이 나올 가능성이 큽니다. Qwen3-VL 8B가 도는 GPU 서버의 시간당 요금 × 활동 시간(공익활동사업 월 30시간 기준)으로 계산한 월 예상 금액을 준비해 두세요.
※ 29만 원은 2026년 노인공익활동사업(월 30시간) 활동비입니다. 시범 연도인 2027년 금액은 연말 국회 예산 확정 뒤 달라질 수 있습니다.
※ '시범 인원은 몇 명이냐'는 질문에는: 인원은 1단계에서 코스 거리와 촬영 장수를 정하면서 수행기관과 확정합니다. 활동비는 기존 노인일자리 예산에서 나가므로 새 예산은 들지 않습니다. '그럼 총 얼마냐'로 이어지면 새로 드는 돈은 AI 서버비뿐이라고 답하세요.
※ 수행기관은 양주시 노인일자리 수행기관인 양주시니어클럽, (사)대한노인회 양주시지회, 양주시 회천노인복지관 중에서 협의합니다.
※ '준비에 얼마나 걸리냐'는 질문에는: 11월 시·수행기관 협의와 코스 선정, 12월 노인일자리 정기 모집에 맞춰 사업단 편성, 1월 사전 교육 3일과 가림 98% 확인, 2월부터 순회 시작입니다(기획서 참고 4).
※ '사진만 믿을 수 있냐'는 질문에는: 분기마다 시설 담당자와 활동 담당자가 표본 코스를 함께 돌며 AI가 '이상 미발견'으로 본 시설과 수리 완료 건을 현장에서 확인한다고 답하세요.
※ 화면에서 뺀 항목(협력 기관, 휴대폰 가림 방식, 사진 보관 기간: 정상 사진 6개월·처리된 건 3년 뒤 자동 삭제)은 부록 A5에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[8:35–9:10 · 약 35초]
1단계는 2027년 한 해, 2~3개 동에서 시설 5종으로 시범 운영하며 수리 확인까지 함께 쓰고, 가림 성공률과 판독 일치율을 확인합니다. 양주시 노인일자리 모집이 매년 12월이라 올해 12월 모집에 맞춰 시작합니다. 2028년 2단계에서 시 전역으로 넓히며 시설 종류와 기존 노인일자리 사업 연계를 늘리고, 2029년부터 3단계에서 판정 기록으로 자체 모델과 사전 관리를 검토합니다.
시민은 민원 전에 고쳐지는 동네를, 어르신은 의미 있는 공익 일자리를, 시는 검토 시간 단축과 확실한 수리 확인을 얻습니다.
※ 연도는 양주시 노인일자리 일정(매년 12월에 다음 해 참여자 모집, 유형별 10~12개월 활동)에 맞췄습니다. '왜 2027년이냐'는 질문에는 이 근거로 답하세요.
※ 연도와 근거를 넣어 원래보다 10초 남짓 길어졌습니다. 시간이 빠듯하면 둘째 문장(12월 모집 근거)은 빼고 질의응답 때 말하세요.
※ 단계별 세부 항목(코스 확정, 기존 노인일자리 사진 판독, 부서 시스템 연계, 기상 예보 코스)은 부록 A5에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[9:10–9:25 · 약 15초]
시니어 동네 점검단은 민원 전에 먼저 찾습니다. 어르신이 찍고 AI가 판독해 현장과 행정을 잇는, 함께하는 양주를 만들겠습니다. 감사합니다. 질문 받겠습니다.
※ '왜 함께하는 양주냐'는 질문에는, 어르신이 시민으로 참여해 찍은 사진을 AI가 추려 담당자에게 넘기고 그 판정이 보수 요청과 수리 확인으로 이어지는 구조라서 시민 참여로 사람과 행정을 잇는 소주제에 맞는다고 답하세요. AI는 어르신의 발견을 행정이 바로 처리할 수 있게 정리하는 연결 고리입니다.
※ 질의응답은 맡은 분야대로 답합니다. 기획·업무 서버·운영은 이소미, 앱·웹 화면과 시연은 이승재, AI 판독·검증과 근거 자료는 황상진.
※ 이 뒤의 부록 슬라이드 5장은 질의응답 때 근거로 띄우는 용도입니다. 발표 중에는 넘기지 마세요.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 예: '기존 안전신문고나 노인일자리 사업과 뭐가 다른가요?' → 정해진 시설을 신고 없이 정기 순회한다는 점과 어르신이 위험을 판단하지 않는다는 점을 먼저 강조하고, 보수 후 사진으로 고쳐졌는지까지 확인한다고 덧붙이기.
※ AI 안전신문고 참고: 행정안전부·KETI·LG AI연구원이 1단계 연구개발을 마치고 2026년 말 시범 서비스를 앞두고 있습니다(LG AI연구원 발표, 세계일보 2026.4, 헬로티 2026.5.26). 발표 직전에 시범 서비스가 시작됐는지 다시 확인하세요. 시민이 사진을 올리면 AI(엑사원 4.5)가 신고문을 만들고 분류·이송·답변까지 자동화합니다. 보도 예시가 '막힌 빗물받이'라 우리와 겹친다는 질문이 나올 수 있습니다.
답변 예: 안전신문고는 시민이 우연히 발견한 위험을 빠르게 처리하는 체계이고, 점검단은 정해진 시설을 신고 없이 정기적으로 살피는 체계입니다. 보수 후 사진으로 고쳐졌는지까지 확인합니다. 점검단 판독 결과를 필요하면 안전신문고로 넘길 수 있어 경쟁이 아니라 보완 관계입니다.
※ 기존 신고 흐름과 점검단 흐름을 나란히 그린 그림은 기획서 참고 2에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 예: 'AI가 틀리면 어떻게 하나요?', '위험한 걸 놓치면요?' → 확인 필요·불확실은 전부 사람이 보고, 이상 미발견도 표본 검토. AI는 업무 상태를 바꾸지 못함. 급한 위험은 어르신의 '위험해서 못 찍겠어요' 표시나 검토 중 판단으로 담당자가 바로 현장 확인.
질문 예: '같은 고장이 여러 번 올라오면요?' → 같은 조 두 사람이 같은 곳을 찍으면 먼저 접수된 사진만 판독하고 묶음(참여 기록은 각자). 이미 열린 건과 같은 시설·같은 문제면 AI가 '기존 건과 같음'으로 표시하고 담당자가 기존 건에 추가. 통신 재시도는 저장된 결과를 그대로 돌려줘 알림이 두 번 가지 않음. 안전신문고로 이미 들어온 고장은 시설 ID로 시 민원 내역과 대조하는 연계를 시범에서 협의.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 예: '어르신이 다치면요?', '스마트폰을 못 쓰시면요?' → 찍기만, 2인 1조, 출발·복귀 개별 확인, 3일 교육과 현장 실습. 보험·사고 대응과 기상 악화 중단 기준은 수행기관과 협의해 정함. 빗물받이처럼 차도 옆 시설도 보도에서만 찍고 차도로 내려가지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 예: '효과를 어떻게 증명하나요?' → 현장·AI 정확도·참여자 세 축으로 분기 기록, 민원 건수와 처리 기간은 도입 전과 비교.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 예: '어떤 AI 모델을 쓰나요?', '번호판을 못 찾으면요?', '부서는 어떻게 정하나요?' → 이 장을 띄우고 답하세요.
※ 본문 4·8·9·11·12번 화면에서 줄인 세부 내용을 모은 장입니다. 모델 상세와 측정값은 4번 노트를 참고하세요.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384048"/>
            <a:ext cx="365760" cy="365760"/>
          </a:xfrm>
          <a:prstGeom prst="ellipse">
            <a:avLst/>
          </a:prstGeom>
          <a:solidFill>
            <a:schemeClr val="accent1"/>
          </a:solidFill>
          <a:ln>
            <a:solidFill>
              <a:schemeClr val="accent1"/>
            </a:solidFill>
          </a:ln>
        </p:spPr>
        <p:txBody>
          <a:bodyPr wrap="square" rtlCol="0" anchor="ctr"/>
          <a:lstStyle/>
          <a:p>
            <a:pPr indent="0" marL="0">
              <a:buNone/>
            </a:pPr>
            <a:endParaRPr lang="en-US" dirty="0"/>
          </a:p>
        </p:txBody>
      </p:sp>
      <p:sp>
        <p:nvSpPr>
          <p:cNvPr id="3" name="Text 1"/>
          <p:cNvSpPr/>
          <p:nvPr>
            <p:ph idx="101" type="body" hasCustomPrompt="1"/>
          </p:nvPr>
        </p:nvSpPr>
        <p:spPr>
          <a:xfrm>
            <a:off x="548640" y="384048"/>
            <a:ext cx="365760" cy="365760"/>
          </a:xfrm>
          <a:prstGeom prst="rect">
            <a:avLst/>
          </a:prstGeom>
          <a:noFill/>
          <a:ln/>
        </p:spPr>
        <p:txBody>
          <a:bodyPr wrap="square" rtlCol="0"/>
          <a:lstStyle>
            <a:lvl1pPr algn="ctr" indent="0" marL="0">
              <a:buNone/>
              <a:defRPr lang="en-US" sz="1300" b="1" dirty="0">
                <a:solidFill>
                  <a:schemeClr val="tx1"/>
                </a:solidFill>
              </a:defRPr>
            </a:lvl1pPr>
          </a:lstStyle>
          <a:p>
            <a:pPr algn="ctr" indent="0" marL="0">
              <a:buNone/>
            </a:pPr>
            <a:endParaRPr lang="en-US" sz="1300" dirty="0"/>
          </a:p>
        </p:txBody>
      </p:sp>
      <p:sp>
        <p:nvSpPr>
          <p:cNvPr id="4" name="Text 1"/>
          <p:cNvSpPr/>
          <p:nvPr>
            <p:ph idx="102" type="body" hasCustomPrompt="1"/>
          </p:nvPr>
        </p:nvSpPr>
        <p:spPr>
          <a:xfrm>
            <a:off x="1024128" y="384048"/>
            <a:ext cx="7772400" cy="365760"/>
          </a:xfrm>
          <a:prstGeom prst="rect">
            <a:avLst/>
          </a:prstGeom>
          <a:noFill/>
          <a:ln/>
        </p:spPr>
        <p:txBody>
          <a:bodyPr wrap="square" rtlCol="0"/>
          <a:lstStyle>
            <a:lvl1pPr indent="0" marL="0">
              <a:buNone/>
              <a:defRPr lang="en-US" sz="1400" b="1" dirty="0">
                <a:solidFill>
                  <a:schemeClr val="tx2"/>
                </a:solidFill>
              </a:defRPr>
            </a:lvl1pPr>
          </a:lstStyle>
          <a:p>
            <a:pPr indent="0" marL="0">
              <a:buNone/>
            </a:pPr>
            <a:endParaRPr lang="en-US" sz="1400" dirty="0"/>
          </a:p>
        </p:txBody>
      </p:sp>
      <p:sp>
        <p:nvSpPr>
          <p:cNvPr id="5" name="Text 1"/>
          <p:cNvSpPr/>
          <p:nvPr>
            <p:ph idx="103" type="title" hasCustomPrompt="1"/>
          </p:nvPr>
        </p:nvSpPr>
        <p:spPr>
          <a:xfrm>
            <a:off x="548640" y="841248"/>
            <a:ext cx="11094415" cy="658368"/>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6" name="Text 1"/>
          <p:cNvSpPr/>
          <p:nvPr/>
        </p:nvSpPr>
        <p:spPr>
          <a:xfrm>
            <a:off x="548640" y="6419088"/>
            <a:ext cx="5486400" cy="256032"/>
          </a:xfrm>
          <a:prstGeom prst="rect">
            <a:avLst/>
          </a:prstGeom>
          <a:noFill/>
          <a:ln/>
        </p:spPr>
        <p:txBody>
          <a:bodyPr wrap="square" lIns="0" tIns="0" rIns="0" bIns="0" rtlCol="0" anchor="ctr"/>
          <a:lstStyle/>
          <a:p>
            <a:pPr indent="0" marL="0">
              <a:buNone/>
            </a:pPr>
            <a:r>
              <a:rPr lang="en-US" sz="1000" dirty="0">
                <a:solidFill>
                  <a:schemeClr val="accent6"/>
                </a:solidFill>
              </a:rPr>
              <a:t>시니어 동네 점검단 · 이로움</a:t>
            </a:r>
            <a:endParaRPr lang="en-US" sz="10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548640" y="384048"/>
            <a:ext cx="365760" cy="365760"/>
          </a:xfrm>
          <a:prstGeom prst="ellipse">
            <a:avLst/>
          </a:prstGeom>
          <a:solidFill>
            <a:schemeClr val="accent1"/>
          </a:solidFill>
          <a:ln>
            <a:solidFill>
              <a:schemeClr val="accent1"/>
            </a:solidFill>
          </a:ln>
        </p:spPr>
        <p:txBody>
          <a:bodyPr wrap="square" rtlCol="0" anchor="ctr"/>
          <a:lstStyle/>
          <a:p>
            <a:pPr indent="0" marL="0">
              <a:buNone/>
            </a:pPr>
            <a:endParaRPr lang="en-US" dirty="0"/>
          </a:p>
        </p:txBody>
      </p:sp>
      <p:sp>
        <p:nvSpPr>
          <p:cNvPr id="3" name="Text 1"/>
          <p:cNvSpPr/>
          <p:nvPr>
            <p:ph idx="101" type="body" hasCustomPrompt="1"/>
          </p:nvPr>
        </p:nvSpPr>
        <p:spPr>
          <a:xfrm>
            <a:off x="548640" y="384048"/>
            <a:ext cx="365760" cy="365760"/>
          </a:xfrm>
          <a:prstGeom prst="rect">
            <a:avLst/>
          </a:prstGeom>
          <a:noFill/>
          <a:ln/>
        </p:spPr>
        <p:txBody>
          <a:bodyPr wrap="square" rtlCol="0"/>
          <a:lstStyle>
            <a:lvl1pPr algn="ctr" indent="0" marL="0">
              <a:buNone/>
              <a:defRPr lang="en-US" sz="1300" b="1" dirty="0">
                <a:solidFill>
                  <a:schemeClr val="tx1"/>
                </a:solidFill>
              </a:defRPr>
            </a:lvl1pPr>
          </a:lstStyle>
          <a:p>
            <a:pPr algn="ctr" indent="0" marL="0">
              <a:buNone/>
            </a:pPr>
            <a:endParaRPr lang="en-US" sz="1300" dirty="0"/>
          </a:p>
        </p:txBody>
      </p:sp>
      <p:sp>
        <p:nvSpPr>
          <p:cNvPr id="4" name="Text 1"/>
          <p:cNvSpPr/>
          <p:nvPr>
            <p:ph idx="102" type="body" hasCustomPrompt="1"/>
          </p:nvPr>
        </p:nvSpPr>
        <p:spPr>
          <a:xfrm>
            <a:off x="1024128" y="384048"/>
            <a:ext cx="7772400" cy="36576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5" name="Text 1"/>
          <p:cNvSpPr/>
          <p:nvPr>
            <p:ph idx="103" type="title" hasCustomPrompt="1"/>
          </p:nvPr>
        </p:nvSpPr>
        <p:spPr>
          <a:xfrm>
            <a:off x="548640" y="841248"/>
            <a:ext cx="11094415" cy="658368"/>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6" name="Text 1"/>
          <p:cNvSpPr/>
          <p:nvPr/>
        </p:nvSpPr>
        <p:spPr>
          <a:xfrm>
            <a:off x="548640" y="6419088"/>
            <a:ext cx="5486400" cy="256032"/>
          </a:xfrm>
          <a:prstGeom prst="rect">
            <a:avLst/>
          </a:prstGeom>
          <a:noFill/>
          <a:ln/>
        </p:spPr>
        <p:txBody>
          <a:bodyPr wrap="square" lIns="0" tIns="0" rIns="0" bIns="0" rtlCol="0" anchor="ctr"/>
          <a:lstStyle/>
          <a:p>
            <a:pPr indent="0" marL="0">
              <a:buNone/>
            </a:pPr>
            <a:r>
              <a:rPr lang="en-US" sz="1000" dirty="0">
                <a:solidFill>
                  <a:schemeClr val="accent5"/>
                </a:solidFill>
              </a:rPr>
              <a:t>시니어 동네 점검단 · 이로움</a:t>
            </a:r>
            <a:endParaRPr lang="en-US" sz="10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8686800" cy="10515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548640" y="2468880"/>
            <a:ext cx="8686800" cy="868680"/>
          </a:xfrm>
          <a:prstGeom prst="rect">
            <a:avLst/>
          </a:prstGeom>
          <a:noFill/>
          <a:ln/>
        </p:spPr>
        <p:txBody>
          <a:bodyPr wrap="square" rtlCol="0"/>
          <a:lstStyle>
            <a:lvl1pPr algn="l" indent="0" marL="0">
              <a:lnSpc>
                <a:spcPct val="115000"/>
              </a:lnSpc>
              <a:buNone/>
              <a:defRPr lang="en-US" sz="2200" dirty="0">
                <a:solidFill>
                  <a:schemeClr val="bg1"/>
                </a:solidFill>
              </a:defRPr>
            </a:lvl1pPr>
          </a:lstStyle>
          <a:p>
            <a:pPr algn="l" indent="0" marL="0">
              <a:lnSpc>
                <a:spcPct val="115000"/>
              </a:lnSpc>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4.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xml"/><Relationship Id="rId8" Type="http://schemas.openxmlformats.org/officeDocument/2006/relationships/notesSlide" Target="../notesSlides/notesSlide4.xml"/><Relationship Id="rIdArch" Type="http://schemas.openxmlformats.org/officeDocument/2006/relationships/image" Target="../media/architecture.pn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9"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6400800" cy="320040"/>
          </a:xfrm>
          <a:prstGeom prst="rect">
            <a:avLst/>
          </a:prstGeom>
          <a:noFill/>
          <a:ln/>
        </p:spPr>
        <p:txBody>
          <a:bodyPr wrap="square" lIns="0" tIns="0" rIns="0" bIns="0" rtlCol="0" anchor="t"/>
          <a:lstStyle/>
          <a:p>
            <a:pPr indent="0" marL="0">
              <a:buNone/>
            </a:pPr>
            <a:r>
              <a:rPr lang="en-US" sz="1400" dirty="0">
                <a:solidFill>
                  <a:schemeClr val="accent5"/>
                </a:solidFill>
              </a:rPr>
              <a:t>2026 양주시 미래인재 AI 공모전</a:t>
            </a:r>
            <a:endParaRPr lang="en-US" sz="1400" dirty="0"/>
          </a:p>
        </p:txBody>
      </p:sp>
      <p:sp>
        <p:nvSpPr>
          <p:cNvPr id="3" name="Text 1"/>
          <p:cNvSpPr txBox="1"/>
          <p:nvPr/>
        </p:nvSpPr>
        <p:spPr>
          <a:xfrm>
            <a:off x="6153912" y="502920"/>
            <a:ext cx="5486400" cy="320040"/>
          </a:xfrm>
          <a:prstGeom prst="rect">
            <a:avLst/>
          </a:prstGeom>
          <a:noFill/>
          <a:ln/>
        </p:spPr>
        <p:txBody>
          <a:bodyPr wrap="square" lIns="0" tIns="0" rIns="0" bIns="0" rtlCol="0" anchor="t"/>
          <a:lstStyle/>
          <a:p>
            <a:pPr algn="r" indent="0" marL="0">
              <a:buNone/>
            </a:pPr>
            <a:r>
              <a:rPr lang="en-US" sz="1400" dirty="0">
                <a:solidFill>
                  <a:schemeClr val="accent5"/>
                </a:solidFill>
              </a:rPr>
              <a:t>소주제: 함께하는 양주</a:t>
            </a:r>
            <a:endParaRPr lang="en-US" sz="1400" dirty="0"/>
          </a:p>
        </p:txBody>
      </p:sp>
      <p:sp>
        <p:nvSpPr>
          <p:cNvPr id="4" name="Text 0"/>
          <p:cNvSpPr/>
          <p:nvPr>
            <p:ph idx="100" type="title" hasCustomPrompt="1"/>
          </p:nvPr>
        </p:nvSpPr>
        <p:spPr>
          <a:xfrm>
            <a:off x="548640" y="1325880"/>
            <a:ext cx="8686800" cy="1051560"/>
          </a:xfrm>
          <a:prstGeom prst="rect">
            <a:avLst/>
          </a:prstGeom>
          <a:noFill/>
          <a:ln/>
        </p:spPr>
        <p:txBody>
          <a:bodyPr wrap="square" lIns="0" tIns="0" rIns="0" bIns="0" rtlCol="0" anchor="ctr"/>
          <a:lstStyle/>
          <a:p>
            <a:pPr algn="l" indent="0" marL="0">
              <a:buNone/>
            </a:pPr>
            <a:r>
              <a:rPr lang="en-US" sz="6000" b="1" dirty="0">
                <a:solidFill>
                  <a:schemeClr val="accent1"/>
                </a:solidFill>
              </a:rPr>
              <a:t>시니어 동네 점검단</a:t>
            </a:r>
            <a:endParaRPr lang="en-US" sz="6000" dirty="0"/>
          </a:p>
        </p:txBody>
      </p:sp>
      <p:sp>
        <p:nvSpPr>
          <p:cNvPr id="5" name="Text 0"/>
          <p:cNvSpPr/>
          <p:nvPr>
            <p:ph idx="101" type="body" hasCustomPrompt="1"/>
          </p:nvPr>
        </p:nvSpPr>
        <p:spPr>
          <a:xfrm>
            <a:off x="548640" y="2468880"/>
            <a:ext cx="8686800" cy="868680"/>
          </a:xfrm>
          <a:prstGeom prst="rect">
            <a:avLst/>
          </a:prstGeom>
          <a:noFill/>
          <a:ln/>
        </p:spPr>
        <p:txBody>
          <a:bodyPr wrap="square" lIns="0" tIns="0" rIns="0" bIns="0" rtlCol="0" anchor="t"/>
          <a:lstStyle/>
          <a:p>
            <a:pPr algn="l" indent="0" marL="0">
              <a:lnSpc>
                <a:spcPct val="115000"/>
              </a:lnSpc>
              <a:buNone/>
            </a:pPr>
            <a:r>
              <a:rPr lang="en-US" sz="2200" dirty="0">
                <a:solidFill>
                  <a:schemeClr val="bg1"/>
                </a:solidFill>
              </a:rPr>
              <a:t>어르신이 찍고 AI가 판독해 현장과 행정을 잇는</a:t>
            </a:r>
            <a:endParaRPr lang="en-US" sz="2200" dirty="0"/>
          </a:p>
          <a:p>
            <a:pPr algn="l" indent="0" marL="0">
              <a:lnSpc>
                <a:spcPct val="115000"/>
              </a:lnSpc>
              <a:buNone/>
            </a:pPr>
            <a:r>
              <a:rPr lang="en-US" sz="2200" dirty="0">
                <a:solidFill>
                  <a:schemeClr val="bg1"/>
                </a:solidFill>
              </a:rPr>
              <a:t>생활 시설 점검 서비스</a:t>
            </a:r>
            <a:endParaRPr lang="en-US" sz="2200" dirty="0"/>
          </a:p>
        </p:txBody>
      </p:sp>
      <p:sp>
        <p:nvSpPr>
          <p:cNvPr id="6" name="시설 타일 보도블록"/>
          <p:cNvSpPr/>
          <p:nvPr/>
        </p:nvSpPr>
        <p:spPr>
          <a:xfrm>
            <a:off x="548640" y="3840480"/>
            <a:ext cx="1481328" cy="1115568"/>
          </a:xfrm>
          <a:prstGeom prst="roundRect">
            <a:avLst>
              <a:gd name="adj" fmla="val 6557"/>
            </a:avLst>
          </a:prstGeom>
          <a:solidFill>
            <a:schemeClr val="bg1">
              <a:alpha val="10000"/>
            </a:schemeClr>
          </a:solidFill>
          <a:ln w="12700">
            <a:solidFill>
              <a:schemeClr val="bg1">
                <a:alpha val="0"/>
              </a:schemeClr>
            </a:solidFill>
            <a:prstDash val="solid"/>
          </a:ln>
        </p:spPr>
      </p:sp>
      <p:pic>
        <p:nvPicPr>
          <p:cNvPr id="7" name="Image 0" descr="preencoded.png">    </p:cNvPr>
          <p:cNvPicPr>
            <a:picLocks noChangeAspect="1"/>
          </p:cNvPicPr>
          <p:nvPr/>
        </p:nvPicPr>
        <p:blipFill>
          <a:blip r:embed="rId1"/>
          <a:stretch>
            <a:fillRect/>
          </a:stretch>
        </p:blipFill>
        <p:spPr>
          <a:xfrm>
            <a:off x="722376" y="3977640"/>
            <a:ext cx="1133856" cy="850392"/>
          </a:xfrm>
          <a:prstGeom prst="rect">
            <a:avLst/>
          </a:prstGeom>
        </p:spPr>
      </p:pic>
      <p:sp>
        <p:nvSpPr>
          <p:cNvPr id="8" name="Text 5"/>
          <p:cNvSpPr txBox="1"/>
          <p:nvPr/>
        </p:nvSpPr>
        <p:spPr>
          <a:xfrm>
            <a:off x="548640" y="5047488"/>
            <a:ext cx="1481328" cy="274320"/>
          </a:xfrm>
          <a:prstGeom prst="rect">
            <a:avLst/>
          </a:prstGeom>
          <a:noFill/>
          <a:ln/>
        </p:spPr>
        <p:txBody>
          <a:bodyPr wrap="square" lIns="0" tIns="0" rIns="0" bIns="0" rtlCol="0" anchor="t"/>
          <a:lstStyle/>
          <a:p>
            <a:pPr algn="ctr" indent="0" marL="0">
              <a:buNone/>
            </a:pPr>
            <a:r>
              <a:rPr lang="en-US" sz="1300" dirty="0">
                <a:solidFill>
                  <a:schemeClr val="accent5"/>
                </a:solidFill>
              </a:rPr>
              <a:t>보도블록</a:t>
            </a:r>
            <a:endParaRPr lang="en-US" sz="1300" dirty="0"/>
          </a:p>
        </p:txBody>
      </p:sp>
      <p:sp>
        <p:nvSpPr>
          <p:cNvPr id="9" name="시설 타일 빗물받이"/>
          <p:cNvSpPr/>
          <p:nvPr/>
        </p:nvSpPr>
        <p:spPr>
          <a:xfrm>
            <a:off x="2231136" y="3840480"/>
            <a:ext cx="1481328" cy="1115568"/>
          </a:xfrm>
          <a:prstGeom prst="roundRect">
            <a:avLst>
              <a:gd name="adj" fmla="val 6557"/>
            </a:avLst>
          </a:prstGeom>
          <a:solidFill>
            <a:schemeClr val="bg1">
              <a:alpha val="10000"/>
            </a:schemeClr>
          </a:solidFill>
          <a:ln w="12700">
            <a:solidFill>
              <a:schemeClr val="bg1">
                <a:alpha val="0"/>
              </a:schemeClr>
            </a:solidFill>
            <a:prstDash val="solid"/>
          </a:ln>
        </p:spPr>
      </p:sp>
      <p:pic>
        <p:nvPicPr>
          <p:cNvPr id="10" name="Image 1" descr="preencoded.png">    </p:cNvPr>
          <p:cNvPicPr>
            <a:picLocks noChangeAspect="1"/>
          </p:cNvPicPr>
          <p:nvPr/>
        </p:nvPicPr>
        <p:blipFill>
          <a:blip r:embed="rId2"/>
          <a:stretch>
            <a:fillRect/>
          </a:stretch>
        </p:blipFill>
        <p:spPr>
          <a:xfrm>
            <a:off x="2404872" y="3977640"/>
            <a:ext cx="1133856" cy="850392"/>
          </a:xfrm>
          <a:prstGeom prst="rect">
            <a:avLst/>
          </a:prstGeom>
        </p:spPr>
      </p:pic>
      <p:sp>
        <p:nvSpPr>
          <p:cNvPr id="11" name="Text 7"/>
          <p:cNvSpPr txBox="1"/>
          <p:nvPr/>
        </p:nvSpPr>
        <p:spPr>
          <a:xfrm>
            <a:off x="2231136" y="5047488"/>
            <a:ext cx="1481328" cy="274320"/>
          </a:xfrm>
          <a:prstGeom prst="rect">
            <a:avLst/>
          </a:prstGeom>
          <a:noFill/>
          <a:ln/>
        </p:spPr>
        <p:txBody>
          <a:bodyPr wrap="square" lIns="0" tIns="0" rIns="0" bIns="0" rtlCol="0" anchor="t"/>
          <a:lstStyle/>
          <a:p>
            <a:pPr algn="ctr" indent="0" marL="0">
              <a:buNone/>
            </a:pPr>
            <a:r>
              <a:rPr lang="en-US" sz="1300" dirty="0">
                <a:solidFill>
                  <a:schemeClr val="accent5"/>
                </a:solidFill>
              </a:rPr>
              <a:t>빗물받이</a:t>
            </a:r>
            <a:endParaRPr lang="en-US" sz="1300" dirty="0"/>
          </a:p>
        </p:txBody>
      </p:sp>
      <p:sp>
        <p:nvSpPr>
          <p:cNvPr id="12" name="시설 타일 벤치"/>
          <p:cNvSpPr/>
          <p:nvPr/>
        </p:nvSpPr>
        <p:spPr>
          <a:xfrm>
            <a:off x="3913632" y="3840480"/>
            <a:ext cx="1481328" cy="1115568"/>
          </a:xfrm>
          <a:prstGeom prst="roundRect">
            <a:avLst>
              <a:gd name="adj" fmla="val 6557"/>
            </a:avLst>
          </a:prstGeom>
          <a:solidFill>
            <a:schemeClr val="bg1">
              <a:alpha val="10000"/>
            </a:schemeClr>
          </a:solidFill>
          <a:ln w="12700">
            <a:solidFill>
              <a:schemeClr val="bg1">
                <a:alpha val="0"/>
              </a:schemeClr>
            </a:solidFill>
            <a:prstDash val="solid"/>
          </a:ln>
        </p:spPr>
      </p:sp>
      <p:pic>
        <p:nvPicPr>
          <p:cNvPr id="13" name="Image 2" descr="preencoded.png">    </p:cNvPr>
          <p:cNvPicPr>
            <a:picLocks noChangeAspect="1"/>
          </p:cNvPicPr>
          <p:nvPr/>
        </p:nvPicPr>
        <p:blipFill>
          <a:blip r:embed="rId3"/>
          <a:stretch>
            <a:fillRect/>
          </a:stretch>
        </p:blipFill>
        <p:spPr>
          <a:xfrm>
            <a:off x="4087368" y="3977640"/>
            <a:ext cx="1133856" cy="850392"/>
          </a:xfrm>
          <a:prstGeom prst="rect">
            <a:avLst/>
          </a:prstGeom>
        </p:spPr>
      </p:pic>
      <p:sp>
        <p:nvSpPr>
          <p:cNvPr id="14" name="Text 9"/>
          <p:cNvSpPr txBox="1"/>
          <p:nvPr/>
        </p:nvSpPr>
        <p:spPr>
          <a:xfrm>
            <a:off x="3913632" y="5047488"/>
            <a:ext cx="1481328" cy="274320"/>
          </a:xfrm>
          <a:prstGeom prst="rect">
            <a:avLst/>
          </a:prstGeom>
          <a:noFill/>
          <a:ln/>
        </p:spPr>
        <p:txBody>
          <a:bodyPr wrap="square" lIns="0" tIns="0" rIns="0" bIns="0" rtlCol="0" anchor="t"/>
          <a:lstStyle/>
          <a:p>
            <a:pPr algn="ctr" indent="0" marL="0">
              <a:buNone/>
            </a:pPr>
            <a:r>
              <a:rPr lang="en-US" sz="1300" dirty="0">
                <a:solidFill>
                  <a:schemeClr val="accent5"/>
                </a:solidFill>
              </a:rPr>
              <a:t>벤치</a:t>
            </a:r>
            <a:endParaRPr lang="en-US" sz="1300" dirty="0"/>
          </a:p>
        </p:txBody>
      </p:sp>
      <p:sp>
        <p:nvSpPr>
          <p:cNvPr id="15" name="시설 타일 안전펜스"/>
          <p:cNvSpPr/>
          <p:nvPr/>
        </p:nvSpPr>
        <p:spPr>
          <a:xfrm>
            <a:off x="5596128" y="3840480"/>
            <a:ext cx="1481328" cy="1115568"/>
          </a:xfrm>
          <a:prstGeom prst="roundRect">
            <a:avLst>
              <a:gd name="adj" fmla="val 6557"/>
            </a:avLst>
          </a:prstGeom>
          <a:solidFill>
            <a:schemeClr val="bg1">
              <a:alpha val="10000"/>
            </a:schemeClr>
          </a:solidFill>
          <a:ln w="12700">
            <a:solidFill>
              <a:schemeClr val="bg1">
                <a:alpha val="0"/>
              </a:schemeClr>
            </a:solidFill>
            <a:prstDash val="solid"/>
          </a:ln>
        </p:spPr>
      </p:sp>
      <p:pic>
        <p:nvPicPr>
          <p:cNvPr id="16" name="Image 3" descr="preencoded.png">    </p:cNvPr>
          <p:cNvPicPr>
            <a:picLocks noChangeAspect="1"/>
          </p:cNvPicPr>
          <p:nvPr/>
        </p:nvPicPr>
        <p:blipFill>
          <a:blip r:embed="rId4"/>
          <a:stretch>
            <a:fillRect/>
          </a:stretch>
        </p:blipFill>
        <p:spPr>
          <a:xfrm>
            <a:off x="5769864" y="3977640"/>
            <a:ext cx="1133856" cy="850392"/>
          </a:xfrm>
          <a:prstGeom prst="rect">
            <a:avLst/>
          </a:prstGeom>
        </p:spPr>
      </p:pic>
      <p:sp>
        <p:nvSpPr>
          <p:cNvPr id="17" name="Text 11"/>
          <p:cNvSpPr txBox="1"/>
          <p:nvPr/>
        </p:nvSpPr>
        <p:spPr>
          <a:xfrm>
            <a:off x="5596128" y="5047488"/>
            <a:ext cx="1481328" cy="274320"/>
          </a:xfrm>
          <a:prstGeom prst="rect">
            <a:avLst/>
          </a:prstGeom>
          <a:noFill/>
          <a:ln/>
        </p:spPr>
        <p:txBody>
          <a:bodyPr wrap="square" lIns="0" tIns="0" rIns="0" bIns="0" rtlCol="0" anchor="t"/>
          <a:lstStyle/>
          <a:p>
            <a:pPr algn="ctr" indent="0" marL="0">
              <a:buNone/>
            </a:pPr>
            <a:r>
              <a:rPr lang="en-US" sz="1300" dirty="0">
                <a:solidFill>
                  <a:schemeClr val="accent5"/>
                </a:solidFill>
              </a:rPr>
              <a:t>안전펜스</a:t>
            </a:r>
            <a:endParaRPr lang="en-US" sz="1300" dirty="0"/>
          </a:p>
        </p:txBody>
      </p:sp>
      <p:sp>
        <p:nvSpPr>
          <p:cNvPr id="18" name="시설 타일 운동기구"/>
          <p:cNvSpPr/>
          <p:nvPr/>
        </p:nvSpPr>
        <p:spPr>
          <a:xfrm>
            <a:off x="7278624" y="3840480"/>
            <a:ext cx="1481328" cy="1115568"/>
          </a:xfrm>
          <a:prstGeom prst="roundRect">
            <a:avLst>
              <a:gd name="adj" fmla="val 6557"/>
            </a:avLst>
          </a:prstGeom>
          <a:solidFill>
            <a:schemeClr val="bg1">
              <a:alpha val="10000"/>
            </a:schemeClr>
          </a:solidFill>
          <a:ln w="12700">
            <a:solidFill>
              <a:schemeClr val="bg1">
                <a:alpha val="0"/>
              </a:schemeClr>
            </a:solidFill>
            <a:prstDash val="solid"/>
          </a:ln>
        </p:spPr>
      </p:sp>
      <p:pic>
        <p:nvPicPr>
          <p:cNvPr id="19" name="Image 4" descr="preencoded.png">    </p:cNvPr>
          <p:cNvPicPr>
            <a:picLocks noChangeAspect="1"/>
          </p:cNvPicPr>
          <p:nvPr/>
        </p:nvPicPr>
        <p:blipFill>
          <a:blip r:embed="rId5"/>
          <a:stretch>
            <a:fillRect/>
          </a:stretch>
        </p:blipFill>
        <p:spPr>
          <a:xfrm>
            <a:off x="7452360" y="3977640"/>
            <a:ext cx="1133856" cy="850392"/>
          </a:xfrm>
          <a:prstGeom prst="rect">
            <a:avLst/>
          </a:prstGeom>
        </p:spPr>
      </p:pic>
      <p:sp>
        <p:nvSpPr>
          <p:cNvPr id="20" name="Text 13"/>
          <p:cNvSpPr txBox="1"/>
          <p:nvPr/>
        </p:nvSpPr>
        <p:spPr>
          <a:xfrm>
            <a:off x="7278624" y="5047488"/>
            <a:ext cx="1481328" cy="274320"/>
          </a:xfrm>
          <a:prstGeom prst="rect">
            <a:avLst/>
          </a:prstGeom>
          <a:noFill/>
          <a:ln/>
        </p:spPr>
        <p:txBody>
          <a:bodyPr wrap="square" lIns="0" tIns="0" rIns="0" bIns="0" rtlCol="0" anchor="t"/>
          <a:lstStyle/>
          <a:p>
            <a:pPr algn="ctr" indent="0" marL="0">
              <a:buNone/>
            </a:pPr>
            <a:r>
              <a:rPr lang="en-US" sz="1300" dirty="0">
                <a:solidFill>
                  <a:schemeClr val="accent5"/>
                </a:solidFill>
              </a:rPr>
              <a:t>운동기구</a:t>
            </a:r>
            <a:endParaRPr lang="en-US" sz="1300" dirty="0"/>
          </a:p>
        </p:txBody>
      </p:sp>
      <p:sp>
        <p:nvSpPr>
          <p:cNvPr id="21" name="확인 필요 카드"/>
          <p:cNvSpPr/>
          <p:nvPr/>
        </p:nvSpPr>
        <p:spPr>
          <a:xfrm>
            <a:off x="9034272" y="3840480"/>
            <a:ext cx="2608783" cy="1481328"/>
          </a:xfrm>
          <a:prstGeom prst="roundRect">
            <a:avLst>
              <a:gd name="adj" fmla="val 4938"/>
            </a:avLst>
          </a:prstGeom>
          <a:solidFill>
            <a:schemeClr val="accent1"/>
          </a:solidFill>
          <a:ln w="12700">
            <a:solidFill>
              <a:schemeClr val="accent1"/>
            </a:solidFill>
            <a:prstDash val="solid"/>
          </a:ln>
        </p:spPr>
      </p:sp>
      <p:sp>
        <p:nvSpPr>
          <p:cNvPr id="22" name="Text 15"/>
          <p:cNvSpPr txBox="1"/>
          <p:nvPr/>
        </p:nvSpPr>
        <p:spPr>
          <a:xfrm>
            <a:off x="9262872" y="3840480"/>
            <a:ext cx="2151583" cy="1481328"/>
          </a:xfrm>
          <a:prstGeom prst="rect">
            <a:avLst/>
          </a:prstGeom>
          <a:noFill/>
          <a:ln/>
        </p:spPr>
        <p:txBody>
          <a:bodyPr wrap="square" lIns="0" tIns="0" rIns="0" bIns="0" rtlCol="0" anchor="ctr"/>
          <a:lstStyle/>
          <a:p>
            <a:pPr indent="0" marL="0">
              <a:buNone/>
            </a:pPr>
            <a:r>
              <a:rPr lang="en-US" sz="1200" b="1" dirty="0">
                <a:solidFill>
                  <a:schemeClr val="tx1"/>
                </a:solidFill>
              </a:rPr>
              <a:t>AI 판독 결과</a:t>
            </a:r>
            <a:endParaRPr lang="en-US" sz="1400" dirty="0"/>
          </a:p>
          <a:p>
            <a:pPr indent="0" marL="0">
              <a:spcAft>
                <a:spcPts val="400"/>
              </a:spcAft>
              <a:buNone/>
            </a:pPr>
            <a:r>
              <a:rPr lang="en-US" sz="2200" b="1" dirty="0">
                <a:solidFill>
                  <a:schemeClr val="tx1"/>
                </a:solidFill>
              </a:rPr>
              <a:t>확인 필요 2건</a:t>
            </a:r>
            <a:endParaRPr lang="en-US" sz="1400" dirty="0"/>
          </a:p>
          <a:p>
            <a:pPr indent="0" marL="0">
              <a:buNone/>
            </a:pPr>
            <a:r>
              <a:rPr lang="en-US" sz="1400" dirty="0">
                <a:solidFill>
                  <a:schemeClr val="tx1"/>
                </a:solidFill>
              </a:rPr>
              <a:t>· 보도블록 들뜸</a:t>
            </a:r>
            <a:endParaRPr lang="en-US" sz="1400" dirty="0"/>
          </a:p>
          <a:p>
            <a:pPr indent="0" marL="0">
              <a:buNone/>
            </a:pPr>
            <a:r>
              <a:rPr lang="en-US" sz="1400" dirty="0">
                <a:solidFill>
                  <a:schemeClr val="tx1"/>
                </a:solidFill>
              </a:rPr>
              <a:t>· 운동기구 이탈</a:t>
            </a:r>
            <a:endParaRPr lang="en-US" sz="1400" dirty="0"/>
          </a:p>
        </p:txBody>
      </p:sp>
      <p:sp>
        <p:nvSpPr>
          <p:cNvPr id="23" name="Text 16"/>
          <p:cNvSpPr txBox="1"/>
          <p:nvPr/>
        </p:nvSpPr>
        <p:spPr>
          <a:xfrm>
            <a:off x="548640" y="5897880"/>
            <a:ext cx="868680" cy="365760"/>
          </a:xfrm>
          <a:prstGeom prst="rect">
            <a:avLst/>
          </a:prstGeom>
          <a:noFill/>
          <a:ln/>
        </p:spPr>
        <p:txBody>
          <a:bodyPr wrap="square" lIns="0" tIns="0" rIns="0" bIns="0" rtlCol="0" anchor="t"/>
          <a:lstStyle/>
          <a:p>
            <a:pPr indent="0" marL="0">
              <a:buNone/>
            </a:pPr>
            <a:r>
              <a:rPr lang="en-US" sz="1800" b="1" dirty="0">
                <a:solidFill>
                  <a:schemeClr val="accent1"/>
                </a:solidFill>
              </a:rPr>
              <a:t>이로움</a:t>
            </a:r>
            <a:endParaRPr lang="en-US" sz="1800" dirty="0"/>
          </a:p>
        </p:txBody>
      </p:sp>
      <p:sp>
        <p:nvSpPr>
          <p:cNvPr id="24" name="Text 17"/>
          <p:cNvSpPr txBox="1"/>
          <p:nvPr/>
        </p:nvSpPr>
        <p:spPr>
          <a:xfrm>
            <a:off x="1463040" y="5897880"/>
            <a:ext cx="5486400" cy="365760"/>
          </a:xfrm>
          <a:prstGeom prst="rect">
            <a:avLst/>
          </a:prstGeom>
          <a:noFill/>
          <a:ln/>
        </p:spPr>
        <p:txBody>
          <a:bodyPr wrap="square" lIns="0" tIns="0" rIns="0" bIns="0" rtlCol="0" anchor="t"/>
          <a:lstStyle/>
          <a:p>
            <a:pPr indent="0" marL="0">
              <a:buNone/>
            </a:pPr>
            <a:r>
              <a:rPr lang="en-US" sz="1800" dirty="0">
                <a:solidFill>
                  <a:schemeClr val="bg1"/>
                </a:solidFill>
              </a:rPr>
              <a:t>이소미 · 이승재 · 황상진</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tx2"/>
                </a:solidFill>
              </a:rPr>
              <a:t>문제 정의</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tx1"/>
                </a:solidFill>
              </a:rPr>
              <a:t>시설 고장은 민원이 들어와야 알게 된다</a:t>
            </a:r>
            <a:endParaRPr lang="en-US" sz="3200" dirty="0"/>
          </a:p>
        </p:txBody>
      </p:sp>
      <p:sp>
        <p:nvSpPr>
          <p:cNvPr id="100" name="문제 카드 1"/>
          <p:cNvSpPr/>
          <p:nvPr/>
        </p:nvSpPr>
        <p:spPr>
          <a:xfrm>
            <a:off x="548640" y="1737360"/>
            <a:ext cx="11091672" cy="960120"/>
          </a:xfrm>
          <a:prstGeom prst="roundRect">
            <a:avLst>
              <a:gd name="adj" fmla="val 7619"/>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01" name="문제 1 원"/>
          <p:cNvSpPr/>
          <p:nvPr/>
        </p:nvSpPr>
        <p:spPr>
          <a:xfrm>
            <a:off x="822960" y="1920240"/>
            <a:ext cx="594360" cy="594360"/>
          </a:xfrm>
          <a:prstGeom prst="ellipse">
            <a:avLst/>
          </a:prstGeom>
          <a:solidFill>
            <a:schemeClr val="accent3"/>
          </a:solidFill>
          <a:ln w="12700">
            <a:solidFill>
              <a:schemeClr val="accent3"/>
            </a:solidFill>
            <a:prstDash val="solid"/>
          </a:ln>
        </p:spPr>
      </p:sp>
      <p:pic>
        <p:nvPicPr>
          <p:cNvPr id="102" name="문제 1 아이콘" descr=""/>
          <p:cNvPicPr>
            <a:picLocks noChangeAspect="1"/>
          </p:cNvPicPr>
          <p:nvPr/>
        </p:nvPicPr>
        <p:blipFill>
          <a:blip r:embed="rId6"/>
          <a:stretch>
            <a:fillRect/>
          </a:stretch>
        </p:blipFill>
        <p:spPr>
          <a:xfrm>
            <a:off x="955091" y="2052371"/>
            <a:ext cx="330098" cy="330098"/>
          </a:xfrm>
          <a:prstGeom prst="rect">
            <a:avLst/>
          </a:prstGeom>
        </p:spPr>
      </p:pic>
      <p:sp>
        <p:nvSpPr>
          <p:cNvPr id="103" name="문제 1 내용"/>
          <p:cNvSpPr txBox="1"/>
          <p:nvPr/>
        </p:nvSpPr>
        <p:spPr>
          <a:xfrm>
            <a:off x="1645920" y="1810512"/>
            <a:ext cx="5120640" cy="813816"/>
          </a:xfrm>
          <a:prstGeom prst="rect">
            <a:avLst/>
          </a:prstGeom>
          <a:noFill/>
          <a:ln/>
        </p:spPr>
        <p:txBody>
          <a:bodyPr wrap="square" lIns="0" tIns="0" rIns="0" bIns="0" rtlCol="0" anchor="ctr"/>
          <a:lstStyle/>
          <a:p>
            <a:pPr indent="0" marL="0">
              <a:spcAft>
                <a:spcPts val="300"/>
              </a:spcAft>
              <a:buNone/>
            </a:pPr>
            <a:r>
              <a:rPr lang="en-US" sz="1900" b="1" dirty="0">
                <a:solidFill>
                  <a:schemeClr val="tx1"/>
                </a:solidFill>
              </a:rPr>
              <a:t>시민 신고에만 의존</a:t>
            </a:r>
            <a:endParaRPr lang="en-US" sz="1400" dirty="0"/>
          </a:p>
          <a:p>
            <a:pPr indent="0" marL="0">
              <a:buNone/>
            </a:pPr>
            <a:r>
              <a:rPr lang="en-US" sz="1500" dirty="0">
                <a:solidFill>
                  <a:schemeClr val="accent6"/>
                </a:solidFill>
              </a:rPr>
              <a:t>누군가 발견하고 신고해야 시가 안다</a:t>
            </a:r>
            <a:endParaRPr lang="en-US" sz="1400" dirty="0"/>
          </a:p>
        </p:txBody>
      </p:sp>
      <p:sp>
        <p:nvSpPr>
          <p:cNvPr id="104" name="문제 1 근거 배경"/>
          <p:cNvSpPr/>
          <p:nvPr/>
        </p:nvSpPr>
        <p:spPr>
          <a:xfrm>
            <a:off x="6949440" y="1856232"/>
            <a:ext cx="4480560" cy="722376"/>
          </a:xfrm>
          <a:prstGeom prst="roundRect">
            <a:avLst>
              <a:gd name="adj" fmla="val 6962"/>
            </a:avLst>
          </a:prstGeom>
          <a:solidFill>
            <a:schemeClr val="accent5"/>
          </a:solidFill>
          <a:ln w="9525">
            <a:solidFill>
              <a:schemeClr val="accent5"/>
            </a:solidFill>
            <a:prstDash val="solid"/>
          </a:ln>
        </p:spPr>
      </p:sp>
      <p:sp>
        <p:nvSpPr>
          <p:cNvPr id="105" name="문제 1 근거 수치"/>
          <p:cNvSpPr txBox="1"/>
          <p:nvPr/>
        </p:nvSpPr>
        <p:spPr>
          <a:xfrm>
            <a:off x="7150608" y="1856232"/>
            <a:ext cx="1874520" cy="722376"/>
          </a:xfrm>
          <a:prstGeom prst="rect">
            <a:avLst/>
          </a:prstGeom>
          <a:noFill/>
          <a:ln/>
        </p:spPr>
        <p:txBody>
          <a:bodyPr wrap="square" lIns="0" tIns="0" rIns="0" bIns="0" rtlCol="0" anchor="ctr"/>
          <a:lstStyle/>
          <a:p>
            <a:pPr indent="0" marL="0">
              <a:buNone/>
            </a:pPr>
            <a:r>
              <a:rPr lang="en-US" sz="2600" b="1" dirty="0">
                <a:solidFill>
                  <a:schemeClr val="tx2"/>
                </a:solidFill>
              </a:rPr>
              <a:t>+34%</a:t>
            </a:r>
            <a:endParaRPr lang="en-US" sz="2600" dirty="0"/>
          </a:p>
        </p:txBody>
      </p:sp>
      <p:sp>
        <p:nvSpPr>
          <p:cNvPr id="106" name="문제 1 근거 설명"/>
          <p:cNvSpPr txBox="1"/>
          <p:nvPr/>
        </p:nvSpPr>
        <p:spPr>
          <a:xfrm>
            <a:off x="9098280" y="1856232"/>
            <a:ext cx="2240280" cy="722376"/>
          </a:xfrm>
          <a:prstGeom prst="rect">
            <a:avLst/>
          </a:prstGeom>
          <a:noFill/>
          <a:ln/>
        </p:spPr>
        <p:txBody>
          <a:bodyPr wrap="square" lIns="0" tIns="0" rIns="0" bIns="0" rtlCol="0" anchor="ctr"/>
          <a:lstStyle/>
          <a:p>
            <a:pPr indent="0" marL="0">
              <a:buNone/>
            </a:pPr>
            <a:r>
              <a:rPr lang="en-US" sz="1200" dirty="0">
                <a:solidFill>
                  <a:schemeClr val="tx1"/>
                </a:solidFill>
              </a:rPr>
              <a:t>경기 안전신문고 도로·시설물</a:t>
            </a:r>
            <a:endParaRPr lang="en-US" sz="1200" dirty="0"/>
          </a:p>
          <a:p>
            <a:pPr indent="0" marL="0">
              <a:buNone/>
            </a:pPr>
            <a:r>
              <a:rPr lang="en-US" sz="1200" dirty="0">
                <a:solidFill>
                  <a:schemeClr val="tx1"/>
                </a:solidFill>
              </a:rPr>
              <a:t>파손 신고 7.8만→10.5만 건</a:t>
            </a:r>
            <a:endParaRPr lang="en-US" sz="1200" dirty="0"/>
          </a:p>
        </p:txBody>
      </p:sp>
      <p:sp>
        <p:nvSpPr>
          <p:cNvPr id="107" name="문제 카드 2"/>
          <p:cNvSpPr/>
          <p:nvPr/>
        </p:nvSpPr>
        <p:spPr>
          <a:xfrm>
            <a:off x="548640" y="2862072"/>
            <a:ext cx="11091672" cy="960120"/>
          </a:xfrm>
          <a:prstGeom prst="roundRect">
            <a:avLst>
              <a:gd name="adj" fmla="val 7619"/>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08" name="문제 2 원"/>
          <p:cNvSpPr/>
          <p:nvPr/>
        </p:nvSpPr>
        <p:spPr>
          <a:xfrm>
            <a:off x="822960" y="3044952"/>
            <a:ext cx="594360" cy="594360"/>
          </a:xfrm>
          <a:prstGeom prst="ellipse">
            <a:avLst/>
          </a:prstGeom>
          <a:solidFill>
            <a:schemeClr val="accent3"/>
          </a:solidFill>
          <a:ln w="12700">
            <a:solidFill>
              <a:schemeClr val="accent3"/>
            </a:solidFill>
            <a:prstDash val="solid"/>
          </a:ln>
        </p:spPr>
      </p:sp>
      <p:pic>
        <p:nvPicPr>
          <p:cNvPr id="109" name="문제 2 아이콘" descr=""/>
          <p:cNvPicPr>
            <a:picLocks noChangeAspect="1"/>
          </p:cNvPicPr>
          <p:nvPr/>
        </p:nvPicPr>
        <p:blipFill>
          <a:blip r:embed="rId7"/>
          <a:stretch>
            <a:fillRect/>
          </a:stretch>
        </p:blipFill>
        <p:spPr>
          <a:xfrm>
            <a:off x="955091" y="3177083"/>
            <a:ext cx="330098" cy="330098"/>
          </a:xfrm>
          <a:prstGeom prst="rect">
            <a:avLst/>
          </a:prstGeom>
        </p:spPr>
      </p:pic>
      <p:sp>
        <p:nvSpPr>
          <p:cNvPr id="110" name="문제 2 내용"/>
          <p:cNvSpPr txBox="1"/>
          <p:nvPr/>
        </p:nvSpPr>
        <p:spPr>
          <a:xfrm>
            <a:off x="1645920" y="2935224"/>
            <a:ext cx="5120640" cy="813816"/>
          </a:xfrm>
          <a:prstGeom prst="rect">
            <a:avLst/>
          </a:prstGeom>
          <a:noFill/>
          <a:ln/>
        </p:spPr>
        <p:txBody>
          <a:bodyPr wrap="square" lIns="0" tIns="0" rIns="0" bIns="0" rtlCol="0" anchor="ctr"/>
          <a:lstStyle/>
          <a:p>
            <a:pPr indent="0" marL="0">
              <a:spcAft>
                <a:spcPts val="300"/>
              </a:spcAft>
              <a:buNone/>
            </a:pPr>
            <a:r>
              <a:rPr lang="en-US" sz="1900" b="1" dirty="0">
                <a:solidFill>
                  <a:schemeClr val="tx1"/>
                </a:solidFill>
              </a:rPr>
              <a:t>담당 인력 부족</a:t>
            </a:r>
            <a:endParaRPr lang="en-US" sz="1400" dirty="0"/>
          </a:p>
          <a:p>
            <a:pPr indent="0" marL="0">
              <a:buNone/>
            </a:pPr>
            <a:r>
              <a:rPr lang="en-US" sz="1500" dirty="0">
                <a:solidFill>
                  <a:schemeClr val="accent6"/>
                </a:solidFill>
              </a:rPr>
              <a:t>흩어진 시설을 정기적으로 다 돌아보기 어렵다</a:t>
            </a:r>
            <a:endParaRPr lang="en-US" sz="1400" dirty="0"/>
          </a:p>
        </p:txBody>
      </p:sp>
      <p:sp>
        <p:nvSpPr>
          <p:cNvPr id="111" name="문제 2 근거 배경"/>
          <p:cNvSpPr/>
          <p:nvPr/>
        </p:nvSpPr>
        <p:spPr>
          <a:xfrm>
            <a:off x="6949440" y="2980944"/>
            <a:ext cx="4480560" cy="722376"/>
          </a:xfrm>
          <a:prstGeom prst="roundRect">
            <a:avLst>
              <a:gd name="adj" fmla="val 6962"/>
            </a:avLst>
          </a:prstGeom>
          <a:solidFill>
            <a:schemeClr val="accent5"/>
          </a:solidFill>
          <a:ln w="9525">
            <a:solidFill>
              <a:schemeClr val="accent5"/>
            </a:solidFill>
            <a:prstDash val="solid"/>
          </a:ln>
        </p:spPr>
      </p:sp>
      <p:sp>
        <p:nvSpPr>
          <p:cNvPr id="112" name="문제 2 근거 수치"/>
          <p:cNvSpPr txBox="1"/>
          <p:nvPr/>
        </p:nvSpPr>
        <p:spPr>
          <a:xfrm>
            <a:off x="7150608" y="2980944"/>
            <a:ext cx="1874520" cy="722376"/>
          </a:xfrm>
          <a:prstGeom prst="rect">
            <a:avLst/>
          </a:prstGeom>
          <a:noFill/>
          <a:ln/>
        </p:spPr>
        <p:txBody>
          <a:bodyPr wrap="square" lIns="0" tIns="0" rIns="0" bIns="0" rtlCol="0" anchor="ctr"/>
          <a:lstStyle/>
          <a:p>
            <a:pPr indent="0" marL="0">
              <a:buNone/>
            </a:pPr>
            <a:r>
              <a:rPr lang="en-US" sz="2600" b="1" dirty="0">
                <a:solidFill>
                  <a:schemeClr val="tx2"/>
                </a:solidFill>
              </a:rPr>
              <a:t>전국 1위</a:t>
            </a:r>
            <a:endParaRPr lang="en-US" sz="2600" dirty="0"/>
          </a:p>
        </p:txBody>
      </p:sp>
      <p:sp>
        <p:nvSpPr>
          <p:cNvPr id="113" name="문제 2 근거 설명"/>
          <p:cNvSpPr txBox="1"/>
          <p:nvPr/>
        </p:nvSpPr>
        <p:spPr>
          <a:xfrm>
            <a:off x="9098280" y="2980944"/>
            <a:ext cx="2240280" cy="722376"/>
          </a:xfrm>
          <a:prstGeom prst="rect">
            <a:avLst/>
          </a:prstGeom>
          <a:noFill/>
          <a:ln/>
        </p:spPr>
        <p:txBody>
          <a:bodyPr wrap="square" lIns="0" tIns="0" rIns="0" bIns="0" rtlCol="0" anchor="ctr"/>
          <a:lstStyle/>
          <a:p>
            <a:pPr indent="0" marL="0">
              <a:buNone/>
            </a:pPr>
            <a:r>
              <a:rPr lang="en-US" sz="1200" dirty="0">
                <a:solidFill>
                  <a:schemeClr val="tx1"/>
                </a:solidFill>
              </a:rPr>
              <a:t>2023년 인구증가율 +11%</a:t>
            </a:r>
            <a:endParaRPr lang="en-US" sz="1200" dirty="0"/>
          </a:p>
          <a:p>
            <a:pPr indent="0" marL="0">
              <a:buNone/>
            </a:pPr>
            <a:r>
              <a:rPr lang="en-US" sz="1200" dirty="0">
                <a:solidFill>
                  <a:schemeClr val="tx1"/>
                </a:solidFill>
              </a:rPr>
              <a:t>양주시, 빠르게 커지는 도시</a:t>
            </a:r>
            <a:endParaRPr lang="en-US" sz="1200" dirty="0"/>
          </a:p>
        </p:txBody>
      </p:sp>
      <p:sp>
        <p:nvSpPr>
          <p:cNvPr id="114" name="문제 카드 3"/>
          <p:cNvSpPr/>
          <p:nvPr/>
        </p:nvSpPr>
        <p:spPr>
          <a:xfrm>
            <a:off x="548640" y="3986784"/>
            <a:ext cx="11091672" cy="960120"/>
          </a:xfrm>
          <a:prstGeom prst="roundRect">
            <a:avLst>
              <a:gd name="adj" fmla="val 7619"/>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15" name="문제 3 원"/>
          <p:cNvSpPr/>
          <p:nvPr/>
        </p:nvSpPr>
        <p:spPr>
          <a:xfrm>
            <a:off x="822960" y="4169664"/>
            <a:ext cx="594360" cy="594360"/>
          </a:xfrm>
          <a:prstGeom prst="ellipse">
            <a:avLst/>
          </a:prstGeom>
          <a:solidFill>
            <a:schemeClr val="accent3"/>
          </a:solidFill>
          <a:ln w="12700">
            <a:solidFill>
              <a:schemeClr val="accent3"/>
            </a:solidFill>
            <a:prstDash val="solid"/>
          </a:ln>
        </p:spPr>
      </p:sp>
      <p:pic>
        <p:nvPicPr>
          <p:cNvPr id="116" name="문제 3 아이콘" descr=""/>
          <p:cNvPicPr>
            <a:picLocks noChangeAspect="1"/>
          </p:cNvPicPr>
          <p:nvPr/>
        </p:nvPicPr>
        <p:blipFill>
          <a:blip r:embed="rId8"/>
          <a:stretch>
            <a:fillRect/>
          </a:stretch>
        </p:blipFill>
        <p:spPr>
          <a:xfrm>
            <a:off x="955091" y="4301795"/>
            <a:ext cx="330098" cy="330098"/>
          </a:xfrm>
          <a:prstGeom prst="rect">
            <a:avLst/>
          </a:prstGeom>
        </p:spPr>
      </p:pic>
      <p:sp>
        <p:nvSpPr>
          <p:cNvPr id="117" name="문제 3 내용"/>
          <p:cNvSpPr txBox="1"/>
          <p:nvPr/>
        </p:nvSpPr>
        <p:spPr>
          <a:xfrm>
            <a:off x="1645920" y="4059936"/>
            <a:ext cx="5120640" cy="813816"/>
          </a:xfrm>
          <a:prstGeom prst="rect">
            <a:avLst/>
          </a:prstGeom>
          <a:noFill/>
          <a:ln/>
        </p:spPr>
        <p:txBody>
          <a:bodyPr wrap="square" lIns="0" tIns="0" rIns="0" bIns="0" rtlCol="0" anchor="ctr"/>
          <a:lstStyle/>
          <a:p>
            <a:pPr indent="0" marL="0">
              <a:spcAft>
                <a:spcPts val="300"/>
              </a:spcAft>
              <a:buNone/>
            </a:pPr>
            <a:r>
              <a:rPr lang="en-US" sz="1900" b="1" dirty="0">
                <a:solidFill>
                  <a:schemeClr val="tx1"/>
                </a:solidFill>
              </a:rPr>
              <a:t>기존 노인일자리는 신고로 끝</a:t>
            </a:r>
            <a:endParaRPr lang="en-US" sz="1400" dirty="0"/>
          </a:p>
          <a:p>
            <a:pPr indent="0" marL="0">
              <a:buNone/>
            </a:pPr>
            <a:r>
              <a:rPr lang="en-US" sz="1500" dirty="0">
                <a:solidFill>
                  <a:schemeClr val="accent6"/>
                </a:solidFill>
              </a:rPr>
              <a:t>위험 판단은 어르신 몫, 고친 뒤 재확인은 대개 없다</a:t>
            </a:r>
            <a:endParaRPr lang="en-US" sz="1400" dirty="0"/>
          </a:p>
        </p:txBody>
      </p:sp>
      <p:sp>
        <p:nvSpPr>
          <p:cNvPr id="118" name="문제 3 근거 배경"/>
          <p:cNvSpPr/>
          <p:nvPr/>
        </p:nvSpPr>
        <p:spPr>
          <a:xfrm>
            <a:off x="6949440" y="4105656"/>
            <a:ext cx="4480560" cy="722376"/>
          </a:xfrm>
          <a:prstGeom prst="roundRect">
            <a:avLst>
              <a:gd name="adj" fmla="val 6962"/>
            </a:avLst>
          </a:prstGeom>
          <a:solidFill>
            <a:schemeClr val="accent5"/>
          </a:solidFill>
          <a:ln w="9525">
            <a:solidFill>
              <a:schemeClr val="accent5"/>
            </a:solidFill>
            <a:prstDash val="solid"/>
          </a:ln>
        </p:spPr>
      </p:sp>
      <p:sp>
        <p:nvSpPr>
          <p:cNvPr id="119" name="문제 3 근거 수치"/>
          <p:cNvSpPr txBox="1"/>
          <p:nvPr/>
        </p:nvSpPr>
        <p:spPr>
          <a:xfrm>
            <a:off x="7150608" y="4105656"/>
            <a:ext cx="1874520" cy="722376"/>
          </a:xfrm>
          <a:prstGeom prst="rect">
            <a:avLst/>
          </a:prstGeom>
          <a:noFill/>
          <a:ln/>
        </p:spPr>
        <p:txBody>
          <a:bodyPr wrap="square" lIns="0" tIns="0" rIns="0" bIns="0" rtlCol="0" anchor="ctr"/>
          <a:lstStyle/>
          <a:p>
            <a:pPr indent="0" marL="0">
              <a:buNone/>
            </a:pPr>
            <a:r>
              <a:rPr lang="en-US" sz="2600" b="1" dirty="0">
                <a:solidFill>
                  <a:schemeClr val="tx2"/>
                </a:solidFill>
              </a:rPr>
              <a:t>2,710명</a:t>
            </a:r>
            <a:endParaRPr lang="en-US" sz="2600" dirty="0"/>
          </a:p>
        </p:txBody>
      </p:sp>
      <p:sp>
        <p:nvSpPr>
          <p:cNvPr id="120" name="문제 3 근거 설명"/>
          <p:cNvSpPr txBox="1"/>
          <p:nvPr/>
        </p:nvSpPr>
        <p:spPr>
          <a:xfrm>
            <a:off x="9098280" y="4105656"/>
            <a:ext cx="2240280" cy="722376"/>
          </a:xfrm>
          <a:prstGeom prst="rect">
            <a:avLst/>
          </a:prstGeom>
          <a:noFill/>
          <a:ln/>
        </p:spPr>
        <p:txBody>
          <a:bodyPr wrap="square" lIns="0" tIns="0" rIns="0" bIns="0" rtlCol="0" anchor="ctr"/>
          <a:lstStyle/>
          <a:p>
            <a:pPr indent="0" marL="0">
              <a:buNone/>
            </a:pPr>
            <a:r>
              <a:rPr lang="en-US" sz="1200" dirty="0">
                <a:solidFill>
                  <a:schemeClr val="tx1"/>
                </a:solidFill>
              </a:rPr>
              <a:t>2026년 양주시 노인일자리</a:t>
            </a:r>
            <a:endParaRPr lang="en-US" sz="1200" dirty="0"/>
          </a:p>
          <a:p>
            <a:pPr indent="0" marL="0">
              <a:buNone/>
            </a:pPr>
            <a:r>
              <a:rPr lang="en-US" sz="1200" dirty="0">
                <a:solidFill>
                  <a:schemeClr val="tx1"/>
                </a:solidFill>
              </a:rPr>
              <a:t>117억 원 규모</a:t>
            </a:r>
            <a:endParaRPr lang="en-US" sz="1200" dirty="0"/>
          </a:p>
        </p:txBody>
      </p:sp>
      <p:sp>
        <p:nvSpPr>
          <p:cNvPr id="121" name="결론 상자"/>
          <p:cNvSpPr/>
          <p:nvPr/>
        </p:nvSpPr>
        <p:spPr>
          <a:xfrm>
            <a:off x="548640" y="5129784"/>
            <a:ext cx="11091672" cy="640080"/>
          </a:xfrm>
          <a:prstGeom prst="roundRect">
            <a:avLst>
              <a:gd name="adj" fmla="val 11429"/>
            </a:avLst>
          </a:prstGeom>
          <a:solidFill>
            <a:schemeClr val="tx2"/>
          </a:solidFill>
          <a:ln w="9525">
            <a:solidFill>
              <a:schemeClr val="tx2"/>
            </a:solidFill>
            <a:prstDash val="solid"/>
          </a:ln>
        </p:spPr>
        <p:txBody>
          <a:bodyPr wrap="square" lIns="219456" tIns="0" rIns="219456" bIns="0" rtlCol="0" anchor="ctr"/>
          <a:lstStyle/>
          <a:p>
            <a:pPr indent="0" marL="0">
              <a:buNone/>
            </a:pPr>
            <a:r>
              <a:rPr lang="en-US" sz="1800" b="1" dirty="0">
                <a:solidFill>
                  <a:schemeClr val="accent1"/>
                </a:solidFill>
              </a:rPr>
              <a:t>필요한 것</a:t>
            </a:r>
            <a:r>
              <a:rPr lang="en-US" sz="1800" b="1" dirty="0">
                <a:solidFill>
                  <a:schemeClr val="bg1"/>
                </a:solidFill>
              </a:rPr>
              <a:t>: 민원 전에 먼저 찾고, 고친 뒤에도 확인하는 체계</a:t>
            </a:r>
            <a:endParaRPr lang="en-US" sz="1800" dirty="0"/>
          </a:p>
        </p:txBody>
      </p:sp>
      <p:sp>
        <p:nvSpPr>
          <p:cNvPr id="122" name="데이터 출처"/>
          <p:cNvSpPr txBox="1"/>
          <p:nvPr/>
        </p:nvSpPr>
        <p:spPr>
          <a:xfrm>
            <a:off x="548640" y="5870448"/>
            <a:ext cx="11091672" cy="219456"/>
          </a:xfrm>
          <a:prstGeom prst="rect">
            <a:avLst/>
          </a:prstGeom>
          <a:noFill/>
          <a:ln/>
        </p:spPr>
        <p:txBody>
          <a:bodyPr wrap="square" lIns="0" tIns="0" rIns="0" bIns="0" rtlCol="0" anchor="t"/>
          <a:lstStyle/>
          <a:p>
            <a:pPr indent="0" marL="0">
              <a:buNone/>
            </a:pPr>
            <a:r>
              <a:rPr lang="en-US" sz="900" dirty="0">
                <a:solidFill>
                  <a:schemeClr val="accent6"/>
                </a:solidFill>
              </a:rPr>
              <a:t>출처: 통계청 2023 인구주택총조사 · 행정안전부 주민등록 인구통계 · 안전신문고 통계(경기, 2021→2023년) · 양주시 2026년 노인일자리 모집 공고</a:t>
            </a:r>
            <a:endParaRPr lang="en-US" sz="9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tx2"/>
                </a:solidFill>
              </a:rPr>
              <a:t>해결 방법</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tx1"/>
                </a:solidFill>
              </a:rPr>
              <a:t>신고에서 끝나지 않는 수리 확인 루프</a:t>
            </a:r>
            <a:endParaRPr lang="en-US" sz="3200" dirty="0"/>
          </a:p>
        </p:txBody>
      </p:sp>
      <p:sp>
        <p:nvSpPr>
          <p:cNvPr id="100" name="단계 1 카드"/>
          <p:cNvSpPr/>
          <p:nvPr/>
        </p:nvSpPr>
        <p:spPr>
          <a:xfrm>
            <a:off x="548640" y="1737360"/>
            <a:ext cx="2039112" cy="1463040"/>
          </a:xfrm>
          <a:prstGeom prst="roundRect">
            <a:avLst>
              <a:gd name="adj" fmla="val 5000"/>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01" name="단계 1 원"/>
          <p:cNvSpPr/>
          <p:nvPr/>
        </p:nvSpPr>
        <p:spPr>
          <a:xfrm>
            <a:off x="731520" y="1920240"/>
            <a:ext cx="438912" cy="438912"/>
          </a:xfrm>
          <a:prstGeom prst="ellipse">
            <a:avLst/>
          </a:prstGeom>
          <a:solidFill>
            <a:schemeClr val="tx2"/>
          </a:solidFill>
          <a:ln w="12700">
            <a:solidFill>
              <a:schemeClr val="tx2"/>
            </a:solidFill>
            <a:prstDash val="solid"/>
          </a:ln>
        </p:spPr>
      </p:sp>
      <p:pic>
        <p:nvPicPr>
          <p:cNvPr id="102" name="단계 1 아이콘" descr=""/>
          <p:cNvPicPr>
            <a:picLocks noChangeAspect="1"/>
          </p:cNvPicPr>
          <p:nvPr/>
        </p:nvPicPr>
        <p:blipFill>
          <a:blip r:embed="rId1"/>
          <a:stretch>
            <a:fillRect/>
          </a:stretch>
        </p:blipFill>
        <p:spPr>
          <a:xfrm>
            <a:off x="828904" y="2017624"/>
            <a:ext cx="244145" cy="244145"/>
          </a:xfrm>
          <a:prstGeom prst="rect">
            <a:avLst/>
          </a:prstGeom>
        </p:spPr>
      </p:pic>
      <p:sp>
        <p:nvSpPr>
          <p:cNvPr id="103" name="단계 1 담당"/>
          <p:cNvSpPr txBox="1"/>
          <p:nvPr/>
        </p:nvSpPr>
        <p:spPr>
          <a:xfrm>
            <a:off x="1261872" y="1920240"/>
            <a:ext cx="1252728" cy="438912"/>
          </a:xfrm>
          <a:prstGeom prst="rect">
            <a:avLst/>
          </a:prstGeom>
          <a:noFill/>
          <a:ln/>
        </p:spPr>
        <p:txBody>
          <a:bodyPr wrap="square" lIns="0" tIns="0" rIns="0" bIns="0" rtlCol="0" anchor="ctr"/>
          <a:lstStyle/>
          <a:p>
            <a:pPr indent="0" marL="0">
              <a:buNone/>
            </a:pPr>
            <a:r>
              <a:rPr lang="en-US" sz="1100" b="1" dirty="0">
                <a:solidFill>
                  <a:schemeClr val="accent2"/>
                </a:solidFill>
              </a:rPr>
              <a:t>어르신</a:t>
            </a:r>
            <a:endParaRPr lang="en-US" sz="1100" dirty="0"/>
          </a:p>
        </p:txBody>
      </p:sp>
      <p:sp>
        <p:nvSpPr>
          <p:cNvPr id="104" name="단계 1 이름"/>
          <p:cNvSpPr txBox="1"/>
          <p:nvPr/>
        </p:nvSpPr>
        <p:spPr>
          <a:xfrm>
            <a:off x="731520" y="2487168"/>
            <a:ext cx="1673352" cy="603504"/>
          </a:xfrm>
          <a:prstGeom prst="rect">
            <a:avLst/>
          </a:prstGeom>
          <a:noFill/>
          <a:ln/>
        </p:spPr>
        <p:txBody>
          <a:bodyPr wrap="square" lIns="0" tIns="0" rIns="0" bIns="0" rtlCol="0" anchor="t"/>
          <a:lstStyle/>
          <a:p>
            <a:pPr indent="0" marL="0">
              <a:spcAft>
                <a:spcPts val="300"/>
              </a:spcAft>
              <a:buNone/>
            </a:pPr>
            <a:r>
              <a:rPr lang="en-US" sz="1000" b="1" dirty="0">
                <a:solidFill>
                  <a:schemeClr val="accent6"/>
                </a:solidFill>
              </a:rPr>
              <a:t>STEP 1</a:t>
            </a:r>
            <a:endParaRPr lang="en-US" sz="1400" dirty="0"/>
          </a:p>
          <a:p>
            <a:pPr indent="0" marL="0">
              <a:buNone/>
            </a:pPr>
            <a:r>
              <a:rPr lang="en-US" sz="2000" b="1" dirty="0">
                <a:solidFill>
                  <a:schemeClr val="tx1"/>
                </a:solidFill>
              </a:rPr>
              <a:t>찍기</a:t>
            </a:r>
            <a:endParaRPr lang="en-US" sz="2000" dirty="0"/>
          </a:p>
        </p:txBody>
      </p:sp>
      <p:sp>
        <p:nvSpPr>
          <p:cNvPr id="105" name="단계 2 카드"/>
          <p:cNvSpPr/>
          <p:nvPr/>
        </p:nvSpPr>
        <p:spPr>
          <a:xfrm>
            <a:off x="2812466" y="1737360"/>
            <a:ext cx="2039112" cy="1463040"/>
          </a:xfrm>
          <a:prstGeom prst="roundRect">
            <a:avLst>
              <a:gd name="adj" fmla="val 5000"/>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06" name="단계 2 원"/>
          <p:cNvSpPr/>
          <p:nvPr/>
        </p:nvSpPr>
        <p:spPr>
          <a:xfrm>
            <a:off x="2995346" y="1920240"/>
            <a:ext cx="438912" cy="438912"/>
          </a:xfrm>
          <a:prstGeom prst="ellipse">
            <a:avLst/>
          </a:prstGeom>
          <a:solidFill>
            <a:schemeClr val="tx2"/>
          </a:solidFill>
          <a:ln w="12700">
            <a:solidFill>
              <a:schemeClr val="tx2"/>
            </a:solidFill>
            <a:prstDash val="solid"/>
          </a:ln>
        </p:spPr>
      </p:sp>
      <p:pic>
        <p:nvPicPr>
          <p:cNvPr id="107" name="단계 2 아이콘" descr=""/>
          <p:cNvPicPr>
            <a:picLocks noChangeAspect="1"/>
          </p:cNvPicPr>
          <p:nvPr/>
        </p:nvPicPr>
        <p:blipFill>
          <a:blip r:embed="rId2"/>
          <a:stretch>
            <a:fillRect/>
          </a:stretch>
        </p:blipFill>
        <p:spPr>
          <a:xfrm>
            <a:off x="3092730" y="2017624"/>
            <a:ext cx="244145" cy="244145"/>
          </a:xfrm>
          <a:prstGeom prst="rect">
            <a:avLst/>
          </a:prstGeom>
        </p:spPr>
      </p:pic>
      <p:sp>
        <p:nvSpPr>
          <p:cNvPr id="108" name="단계 2 담당"/>
          <p:cNvSpPr txBox="1"/>
          <p:nvPr/>
        </p:nvSpPr>
        <p:spPr>
          <a:xfrm>
            <a:off x="3525698" y="1920240"/>
            <a:ext cx="1252728" cy="438912"/>
          </a:xfrm>
          <a:prstGeom prst="rect">
            <a:avLst/>
          </a:prstGeom>
          <a:noFill/>
          <a:ln/>
        </p:spPr>
        <p:txBody>
          <a:bodyPr wrap="square" lIns="0" tIns="0" rIns="0" bIns="0" rtlCol="0" anchor="ctr"/>
          <a:lstStyle/>
          <a:p>
            <a:pPr indent="0" marL="0">
              <a:buNone/>
            </a:pPr>
            <a:r>
              <a:rPr lang="en-US" sz="1100" b="1" dirty="0">
                <a:solidFill>
                  <a:schemeClr val="accent2"/>
                </a:solidFill>
              </a:rPr>
              <a:t>AI</a:t>
            </a:r>
            <a:endParaRPr lang="en-US" sz="1100" dirty="0"/>
          </a:p>
        </p:txBody>
      </p:sp>
      <p:sp>
        <p:nvSpPr>
          <p:cNvPr id="109" name="단계 2 이름"/>
          <p:cNvSpPr txBox="1"/>
          <p:nvPr/>
        </p:nvSpPr>
        <p:spPr>
          <a:xfrm>
            <a:off x="2995346" y="2487168"/>
            <a:ext cx="1673352" cy="603504"/>
          </a:xfrm>
          <a:prstGeom prst="rect">
            <a:avLst/>
          </a:prstGeom>
          <a:noFill/>
          <a:ln/>
        </p:spPr>
        <p:txBody>
          <a:bodyPr wrap="square" lIns="0" tIns="0" rIns="0" bIns="0" rtlCol="0" anchor="t"/>
          <a:lstStyle/>
          <a:p>
            <a:pPr indent="0" marL="0">
              <a:spcAft>
                <a:spcPts val="300"/>
              </a:spcAft>
              <a:buNone/>
            </a:pPr>
            <a:r>
              <a:rPr lang="en-US" sz="1000" b="1" dirty="0">
                <a:solidFill>
                  <a:schemeClr val="accent6"/>
                </a:solidFill>
              </a:rPr>
              <a:t>STEP 2</a:t>
            </a:r>
            <a:endParaRPr lang="en-US" sz="1400" dirty="0"/>
          </a:p>
          <a:p>
            <a:pPr indent="0" marL="0">
              <a:buNone/>
            </a:pPr>
            <a:r>
              <a:rPr lang="en-US" sz="2000" b="1" dirty="0">
                <a:solidFill>
                  <a:schemeClr val="tx1"/>
                </a:solidFill>
              </a:rPr>
              <a:t>판독</a:t>
            </a:r>
            <a:endParaRPr lang="en-US" sz="2000" dirty="0"/>
          </a:p>
        </p:txBody>
      </p:sp>
      <p:sp>
        <p:nvSpPr>
          <p:cNvPr id="110" name="단계 3 카드"/>
          <p:cNvSpPr/>
          <p:nvPr/>
        </p:nvSpPr>
        <p:spPr>
          <a:xfrm>
            <a:off x="5076292" y="1737360"/>
            <a:ext cx="2039112" cy="1463040"/>
          </a:xfrm>
          <a:prstGeom prst="roundRect">
            <a:avLst>
              <a:gd name="adj" fmla="val 5000"/>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11" name="단계 3 원"/>
          <p:cNvSpPr/>
          <p:nvPr/>
        </p:nvSpPr>
        <p:spPr>
          <a:xfrm>
            <a:off x="5259172" y="1920240"/>
            <a:ext cx="438912" cy="438912"/>
          </a:xfrm>
          <a:prstGeom prst="ellipse">
            <a:avLst/>
          </a:prstGeom>
          <a:solidFill>
            <a:schemeClr val="tx2"/>
          </a:solidFill>
          <a:ln w="12700">
            <a:solidFill>
              <a:schemeClr val="tx2"/>
            </a:solidFill>
            <a:prstDash val="solid"/>
          </a:ln>
        </p:spPr>
      </p:sp>
      <p:pic>
        <p:nvPicPr>
          <p:cNvPr id="112" name="단계 3 아이콘" descr=""/>
          <p:cNvPicPr>
            <a:picLocks noChangeAspect="1"/>
          </p:cNvPicPr>
          <p:nvPr/>
        </p:nvPicPr>
        <p:blipFill>
          <a:blip r:embed="rId3"/>
          <a:stretch>
            <a:fillRect/>
          </a:stretch>
        </p:blipFill>
        <p:spPr>
          <a:xfrm>
            <a:off x="5356556" y="2017624"/>
            <a:ext cx="244145" cy="244145"/>
          </a:xfrm>
          <a:prstGeom prst="rect">
            <a:avLst/>
          </a:prstGeom>
        </p:spPr>
      </p:pic>
      <p:sp>
        <p:nvSpPr>
          <p:cNvPr id="113" name="단계 3 담당"/>
          <p:cNvSpPr txBox="1"/>
          <p:nvPr/>
        </p:nvSpPr>
        <p:spPr>
          <a:xfrm>
            <a:off x="5789524" y="1920240"/>
            <a:ext cx="1252728" cy="438912"/>
          </a:xfrm>
          <a:prstGeom prst="rect">
            <a:avLst/>
          </a:prstGeom>
          <a:noFill/>
          <a:ln/>
        </p:spPr>
        <p:txBody>
          <a:bodyPr wrap="square" lIns="0" tIns="0" rIns="0" bIns="0" rtlCol="0" anchor="ctr"/>
          <a:lstStyle/>
          <a:p>
            <a:pPr indent="0" marL="0">
              <a:buNone/>
            </a:pPr>
            <a:r>
              <a:rPr lang="en-US" sz="1100" b="1" dirty="0">
                <a:solidFill>
                  <a:schemeClr val="accent2"/>
                </a:solidFill>
              </a:rPr>
              <a:t>시설 담당자</a:t>
            </a:r>
            <a:endParaRPr lang="en-US" sz="1100" dirty="0"/>
          </a:p>
        </p:txBody>
      </p:sp>
      <p:sp>
        <p:nvSpPr>
          <p:cNvPr id="114" name="단계 3 이름"/>
          <p:cNvSpPr txBox="1"/>
          <p:nvPr/>
        </p:nvSpPr>
        <p:spPr>
          <a:xfrm>
            <a:off x="5259172" y="2487168"/>
            <a:ext cx="1673352" cy="603504"/>
          </a:xfrm>
          <a:prstGeom prst="rect">
            <a:avLst/>
          </a:prstGeom>
          <a:noFill/>
          <a:ln/>
        </p:spPr>
        <p:txBody>
          <a:bodyPr wrap="square" lIns="0" tIns="0" rIns="0" bIns="0" rtlCol="0" anchor="t"/>
          <a:lstStyle/>
          <a:p>
            <a:pPr indent="0" marL="0">
              <a:spcAft>
                <a:spcPts val="300"/>
              </a:spcAft>
              <a:buNone/>
            </a:pPr>
            <a:r>
              <a:rPr lang="en-US" sz="1000" b="1" dirty="0">
                <a:solidFill>
                  <a:schemeClr val="accent6"/>
                </a:solidFill>
              </a:rPr>
              <a:t>STEP 3</a:t>
            </a:r>
            <a:endParaRPr lang="en-US" sz="1400" dirty="0"/>
          </a:p>
          <a:p>
            <a:pPr indent="0" marL="0">
              <a:buNone/>
            </a:pPr>
            <a:r>
              <a:rPr lang="en-US" sz="2000" b="1" dirty="0">
                <a:solidFill>
                  <a:schemeClr val="tx1"/>
                </a:solidFill>
              </a:rPr>
              <a:t>판정·요청</a:t>
            </a:r>
            <a:endParaRPr lang="en-US" sz="2000" dirty="0"/>
          </a:p>
        </p:txBody>
      </p:sp>
      <p:sp>
        <p:nvSpPr>
          <p:cNvPr id="115" name="단계 4 카드"/>
          <p:cNvSpPr/>
          <p:nvPr/>
        </p:nvSpPr>
        <p:spPr>
          <a:xfrm>
            <a:off x="7340117" y="1737360"/>
            <a:ext cx="2039112" cy="1463040"/>
          </a:xfrm>
          <a:prstGeom prst="roundRect">
            <a:avLst>
              <a:gd name="adj" fmla="val 5000"/>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16" name="단계 4 원"/>
          <p:cNvSpPr/>
          <p:nvPr/>
        </p:nvSpPr>
        <p:spPr>
          <a:xfrm>
            <a:off x="7522997" y="1920240"/>
            <a:ext cx="438912" cy="438912"/>
          </a:xfrm>
          <a:prstGeom prst="ellipse">
            <a:avLst/>
          </a:prstGeom>
          <a:solidFill>
            <a:schemeClr val="tx2"/>
          </a:solidFill>
          <a:ln w="12700">
            <a:solidFill>
              <a:schemeClr val="tx2"/>
            </a:solidFill>
            <a:prstDash val="solid"/>
          </a:ln>
        </p:spPr>
      </p:sp>
      <p:pic>
        <p:nvPicPr>
          <p:cNvPr id="117" name="단계 4 아이콘" descr=""/>
          <p:cNvPicPr>
            <a:picLocks noChangeAspect="1"/>
          </p:cNvPicPr>
          <p:nvPr/>
        </p:nvPicPr>
        <p:blipFill>
          <a:blip r:embed="rId4"/>
          <a:stretch>
            <a:fillRect/>
          </a:stretch>
        </p:blipFill>
        <p:spPr>
          <a:xfrm>
            <a:off x="7620381" y="2017624"/>
            <a:ext cx="244145" cy="244145"/>
          </a:xfrm>
          <a:prstGeom prst="rect">
            <a:avLst/>
          </a:prstGeom>
        </p:spPr>
      </p:pic>
      <p:sp>
        <p:nvSpPr>
          <p:cNvPr id="118" name="단계 4 담당"/>
          <p:cNvSpPr txBox="1"/>
          <p:nvPr/>
        </p:nvSpPr>
        <p:spPr>
          <a:xfrm>
            <a:off x="8053349" y="1920240"/>
            <a:ext cx="1252728" cy="438912"/>
          </a:xfrm>
          <a:prstGeom prst="rect">
            <a:avLst/>
          </a:prstGeom>
          <a:noFill/>
          <a:ln/>
        </p:spPr>
        <p:txBody>
          <a:bodyPr wrap="square" lIns="0" tIns="0" rIns="0" bIns="0" rtlCol="0" anchor="ctr"/>
          <a:lstStyle/>
          <a:p>
            <a:pPr indent="0" marL="0">
              <a:buNone/>
            </a:pPr>
            <a:r>
              <a:rPr lang="en-US" sz="1100" b="1" dirty="0">
                <a:solidFill>
                  <a:schemeClr val="accent2"/>
                </a:solidFill>
              </a:rPr>
              <a:t>관리 부서 → 담당자</a:t>
            </a:r>
            <a:endParaRPr lang="en-US" sz="1100" dirty="0"/>
          </a:p>
        </p:txBody>
      </p:sp>
      <p:sp>
        <p:nvSpPr>
          <p:cNvPr id="119" name="단계 4 이름"/>
          <p:cNvSpPr txBox="1"/>
          <p:nvPr/>
        </p:nvSpPr>
        <p:spPr>
          <a:xfrm>
            <a:off x="7522997" y="2487168"/>
            <a:ext cx="1673352" cy="603504"/>
          </a:xfrm>
          <a:prstGeom prst="rect">
            <a:avLst/>
          </a:prstGeom>
          <a:noFill/>
          <a:ln/>
        </p:spPr>
        <p:txBody>
          <a:bodyPr wrap="square" lIns="0" tIns="0" rIns="0" bIns="0" rtlCol="0" anchor="t"/>
          <a:lstStyle/>
          <a:p>
            <a:pPr indent="0" marL="0">
              <a:spcAft>
                <a:spcPts val="300"/>
              </a:spcAft>
              <a:buNone/>
            </a:pPr>
            <a:r>
              <a:rPr lang="en-US" sz="1000" b="1" dirty="0">
                <a:solidFill>
                  <a:schemeClr val="accent6"/>
                </a:solidFill>
              </a:rPr>
              <a:t>STEP 4</a:t>
            </a:r>
            <a:endParaRPr lang="en-US" sz="1400" dirty="0"/>
          </a:p>
          <a:p>
            <a:pPr indent="0" marL="0">
              <a:buNone/>
            </a:pPr>
            <a:r>
              <a:rPr lang="en-US" sz="2000" b="1" dirty="0">
                <a:solidFill>
                  <a:schemeClr val="tx1"/>
                </a:solidFill>
              </a:rPr>
              <a:t>보수 기록</a:t>
            </a:r>
            <a:endParaRPr lang="en-US" sz="2000" dirty="0"/>
          </a:p>
        </p:txBody>
      </p:sp>
      <p:sp>
        <p:nvSpPr>
          <p:cNvPr id="120" name="단계 5 카드"/>
          <p:cNvSpPr/>
          <p:nvPr/>
        </p:nvSpPr>
        <p:spPr>
          <a:xfrm>
            <a:off x="9603943" y="1737360"/>
            <a:ext cx="2039112" cy="1463040"/>
          </a:xfrm>
          <a:prstGeom prst="roundRect">
            <a:avLst>
              <a:gd name="adj" fmla="val 5000"/>
            </a:avLst>
          </a:prstGeom>
          <a:solidFill>
            <a:schemeClr val="tx2"/>
          </a:solidFill>
          <a:ln w="12700">
            <a:solidFill>
              <a:schemeClr val="tx2"/>
            </a:solidFill>
            <a:prstDash val="solid"/>
          </a:ln>
          <a:effectLst>
            <a:outerShdw sx="100000" sy="100000" kx="0" ky="0" algn="bl" rotWithShape="0" blurRad="101600" dist="25400" dir="5400000">
              <a:srgbClr val="0E4C5A">
                <a:alpha val="10000"/>
              </a:srgbClr>
            </a:outerShdw>
          </a:effectLst>
        </p:spPr>
      </p:sp>
      <p:sp>
        <p:nvSpPr>
          <p:cNvPr id="121" name="단계 5 원"/>
          <p:cNvSpPr/>
          <p:nvPr/>
        </p:nvSpPr>
        <p:spPr>
          <a:xfrm>
            <a:off x="9786823" y="1920240"/>
            <a:ext cx="438912" cy="438912"/>
          </a:xfrm>
          <a:prstGeom prst="ellipse">
            <a:avLst/>
          </a:prstGeom>
          <a:solidFill>
            <a:schemeClr val="accent1"/>
          </a:solidFill>
          <a:ln w="12700">
            <a:solidFill>
              <a:schemeClr val="accent1"/>
            </a:solidFill>
            <a:prstDash val="solid"/>
          </a:ln>
        </p:spPr>
      </p:sp>
      <p:pic>
        <p:nvPicPr>
          <p:cNvPr id="122" name="단계 5 아이콘" descr=""/>
          <p:cNvPicPr>
            <a:picLocks noChangeAspect="1"/>
          </p:cNvPicPr>
          <p:nvPr/>
        </p:nvPicPr>
        <p:blipFill>
          <a:blip r:embed="rId5"/>
          <a:stretch>
            <a:fillRect/>
          </a:stretch>
        </p:blipFill>
        <p:spPr>
          <a:xfrm>
            <a:off x="9884207" y="2017624"/>
            <a:ext cx="244145" cy="244145"/>
          </a:xfrm>
          <a:prstGeom prst="rect">
            <a:avLst/>
          </a:prstGeom>
        </p:spPr>
      </p:pic>
      <p:sp>
        <p:nvSpPr>
          <p:cNvPr id="123" name="단계 5 담당"/>
          <p:cNvSpPr txBox="1"/>
          <p:nvPr/>
        </p:nvSpPr>
        <p:spPr>
          <a:xfrm>
            <a:off x="10317175" y="1920240"/>
            <a:ext cx="1252728" cy="438912"/>
          </a:xfrm>
          <a:prstGeom prst="rect">
            <a:avLst/>
          </a:prstGeom>
          <a:noFill/>
          <a:ln/>
        </p:spPr>
        <p:txBody>
          <a:bodyPr wrap="square" lIns="0" tIns="0" rIns="0" bIns="0" rtlCol="0" anchor="ctr"/>
          <a:lstStyle/>
          <a:p>
            <a:pPr indent="0" marL="0">
              <a:buNone/>
            </a:pPr>
            <a:r>
              <a:rPr lang="en-US" sz="1100" b="1" dirty="0">
                <a:solidFill>
                  <a:schemeClr val="accent1"/>
                </a:solidFill>
              </a:rPr>
              <a:t>어르신·AI·담당자</a:t>
            </a:r>
            <a:endParaRPr lang="en-US" sz="1100" dirty="0"/>
          </a:p>
        </p:txBody>
      </p:sp>
      <p:sp>
        <p:nvSpPr>
          <p:cNvPr id="124" name="단계 5 이름"/>
          <p:cNvSpPr txBox="1"/>
          <p:nvPr/>
        </p:nvSpPr>
        <p:spPr>
          <a:xfrm>
            <a:off x="9786823" y="2487168"/>
            <a:ext cx="1673352" cy="603504"/>
          </a:xfrm>
          <a:prstGeom prst="rect">
            <a:avLst/>
          </a:prstGeom>
          <a:noFill/>
          <a:ln/>
        </p:spPr>
        <p:txBody>
          <a:bodyPr wrap="square" lIns="0" tIns="0" rIns="0" bIns="0" rtlCol="0" anchor="t"/>
          <a:lstStyle/>
          <a:p>
            <a:pPr indent="0" marL="0">
              <a:spcAft>
                <a:spcPts val="300"/>
              </a:spcAft>
              <a:buNone/>
            </a:pPr>
            <a:r>
              <a:rPr lang="en-US" sz="1000" b="1" dirty="0">
                <a:solidFill>
                  <a:schemeClr val="accent5"/>
                </a:solidFill>
              </a:rPr>
              <a:t>STEP 5</a:t>
            </a:r>
            <a:endParaRPr lang="en-US" sz="1400" dirty="0"/>
          </a:p>
          <a:p>
            <a:pPr indent="0" marL="0">
              <a:buNone/>
            </a:pPr>
            <a:r>
              <a:rPr lang="en-US" sz="2000" b="1" dirty="0">
                <a:solidFill>
                  <a:schemeClr val="bg1"/>
                </a:solidFill>
              </a:rPr>
              <a:t>수리 확인</a:t>
            </a:r>
            <a:endParaRPr lang="en-US" sz="2000" dirty="0"/>
          </a:p>
        </p:txBody>
      </p:sp>
      <p:sp>
        <p:nvSpPr>
          <p:cNvPr id="125" name="단계 화살표 1"/>
          <p:cNvSpPr/>
          <p:nvPr/>
        </p:nvSpPr>
        <p:spPr>
          <a:xfrm>
            <a:off x="2606040" y="2468880"/>
            <a:ext cx="188138" cy="914"/>
          </a:xfrm>
          <a:prstGeom prst="line">
            <a:avLst/>
          </a:prstGeom>
          <a:noFill/>
          <a:ln w="19050">
            <a:solidFill>
              <a:schemeClr val="accent2"/>
            </a:solidFill>
            <a:prstDash val="solid"/>
            <a:tailEnd type="triangle"/>
          </a:ln>
        </p:spPr>
      </p:sp>
      <p:sp>
        <p:nvSpPr>
          <p:cNvPr id="126" name="단계 화살표 2"/>
          <p:cNvSpPr/>
          <p:nvPr/>
        </p:nvSpPr>
        <p:spPr>
          <a:xfrm>
            <a:off x="4869866" y="2468880"/>
            <a:ext cx="188138" cy="914"/>
          </a:xfrm>
          <a:prstGeom prst="line">
            <a:avLst/>
          </a:prstGeom>
          <a:noFill/>
          <a:ln w="19050">
            <a:solidFill>
              <a:schemeClr val="accent2"/>
            </a:solidFill>
            <a:prstDash val="solid"/>
            <a:tailEnd type="triangle"/>
          </a:ln>
        </p:spPr>
      </p:sp>
      <p:sp>
        <p:nvSpPr>
          <p:cNvPr id="127" name="단계 화살표 3"/>
          <p:cNvSpPr/>
          <p:nvPr/>
        </p:nvSpPr>
        <p:spPr>
          <a:xfrm>
            <a:off x="7133692" y="2468880"/>
            <a:ext cx="188138" cy="914"/>
          </a:xfrm>
          <a:prstGeom prst="line">
            <a:avLst/>
          </a:prstGeom>
          <a:noFill/>
          <a:ln w="19050">
            <a:solidFill>
              <a:schemeClr val="accent2"/>
            </a:solidFill>
            <a:prstDash val="solid"/>
            <a:tailEnd type="triangle"/>
          </a:ln>
        </p:spPr>
      </p:sp>
      <p:sp>
        <p:nvSpPr>
          <p:cNvPr id="128" name="단계 화살표 4"/>
          <p:cNvSpPr/>
          <p:nvPr/>
        </p:nvSpPr>
        <p:spPr>
          <a:xfrm>
            <a:off x="9397517" y="2468880"/>
            <a:ext cx="188138" cy="914"/>
          </a:xfrm>
          <a:prstGeom prst="line">
            <a:avLst/>
          </a:prstGeom>
          <a:noFill/>
          <a:ln w="19050">
            <a:solidFill>
              <a:schemeClr val="accent2"/>
            </a:solidFill>
            <a:prstDash val="solid"/>
            <a:tailEnd type="triangle"/>
          </a:ln>
        </p:spPr>
      </p:sp>
      <p:sp>
        <p:nvSpPr>
          <p:cNvPr id="130" name="1단계부터 다른 점"/>
          <p:cNvSpPr txBox="1"/>
          <p:nvPr/>
        </p:nvSpPr>
        <p:spPr>
          <a:xfrm>
            <a:off x="548640" y="3456432"/>
            <a:ext cx="11091672" cy="292608"/>
          </a:xfrm>
          <a:prstGeom prst="rect">
            <a:avLst/>
          </a:prstGeom>
          <a:noFill/>
          <a:ln/>
        </p:spPr>
        <p:txBody>
          <a:bodyPr wrap="square" lIns="0" tIns="0" rIns="0" bIns="0" rtlCol="0" anchor="t"/>
          <a:lstStyle/>
          <a:p>
            <a:pPr indent="0" marL="0">
              <a:buNone/>
            </a:pPr>
            <a:r>
              <a:rPr lang="en-US" sz="1500" b="1" dirty="0">
                <a:solidFill>
                  <a:schemeClr val="tx2"/>
                </a:solidFill>
              </a:rPr>
              <a:t>1단계부터 다른 점</a:t>
            </a:r>
            <a:r>
              <a:rPr lang="en-US" sz="1500" dirty="0">
                <a:solidFill>
                  <a:schemeClr val="accent6"/>
                </a:solidFill>
              </a:rPr>
              <a:t>: 신고 없이 정기 순회로 먼저 찾고, 위험 판단은 어르신 대신 AI와 담당자가 맡는다</a:t>
            </a:r>
            <a:endParaRPr lang="en-US" sz="1500" dirty="0"/>
          </a:p>
        </p:txBody>
      </p:sp>
      <p:sp>
        <p:nvSpPr>
          <p:cNvPr id="131" name="STEP 5 예시 카드"/>
          <p:cNvSpPr/>
          <p:nvPr/>
        </p:nvSpPr>
        <p:spPr>
          <a:xfrm>
            <a:off x="548640" y="3977640"/>
            <a:ext cx="11091672" cy="2194560"/>
          </a:xfrm>
          <a:prstGeom prst="roundRect">
            <a:avLst>
              <a:gd name="adj" fmla="val 3333"/>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32" name="수리 확인 표시 (예시)"/>
          <p:cNvSpPr/>
          <p:nvPr/>
        </p:nvSpPr>
        <p:spPr>
          <a:xfrm>
            <a:off x="868680" y="4279392"/>
            <a:ext cx="1005840" cy="256032"/>
          </a:xfrm>
          <a:prstGeom prst="roundRect">
            <a:avLst>
              <a:gd name="adj" fmla="val 50000"/>
            </a:avLst>
          </a:prstGeom>
          <a:solidFill>
            <a:schemeClr val="accent1"/>
          </a:solidFill>
          <a:ln w="12700">
            <a:solidFill>
              <a:schemeClr val="accent1"/>
            </a:solidFill>
            <a:prstDash val="solid"/>
          </a:ln>
        </p:spPr>
        <p:txBody>
          <a:bodyPr wrap="square" lIns="0" tIns="0" rIns="0" bIns="0" rtlCol="0" anchor="ctr"/>
          <a:lstStyle/>
          <a:p>
            <a:pPr algn="ctr" indent="0" marL="0">
              <a:buNone/>
            </a:pPr>
            <a:r>
              <a:rPr lang="en-US" sz="1100" b="1" dirty="0">
                <a:solidFill>
                  <a:schemeClr val="tx2"/>
                </a:solidFill>
              </a:rPr>
              <a:t>수리 확인</a:t>
            </a:r>
            <a:endParaRPr lang="en-US" sz="1100" dirty="0"/>
          </a:p>
        </p:txBody>
      </p:sp>
      <p:sp>
        <p:nvSpPr>
          <p:cNvPr id="133" name="STEP 5 예시 제목"/>
          <p:cNvSpPr txBox="1"/>
          <p:nvPr/>
        </p:nvSpPr>
        <p:spPr>
          <a:xfrm>
            <a:off x="868680" y="4663440"/>
            <a:ext cx="3611880" cy="713232"/>
          </a:xfrm>
          <a:prstGeom prst="rect">
            <a:avLst/>
          </a:prstGeom>
          <a:noFill/>
          <a:ln/>
        </p:spPr>
        <p:txBody>
          <a:bodyPr wrap="square" lIns="0" tIns="0" rIns="0" bIns="0" rtlCol="0" anchor="t"/>
          <a:lstStyle/>
          <a:p>
            <a:pPr indent="0" marL="0">
              <a:buNone/>
            </a:pPr>
            <a:r>
              <a:rPr lang="en-US" sz="1800" b="1" dirty="0">
                <a:solidFill>
                  <a:schemeClr val="tx1"/>
                </a:solidFill>
              </a:rPr>
              <a:t>보수 완료로 보고됐지만</a:t>
            </a:r>
            <a:endParaRPr lang="en-US" sz="1800" dirty="0"/>
          </a:p>
          <a:p>
            <a:pPr indent="0" marL="0">
              <a:buNone/>
            </a:pPr>
            <a:r>
              <a:rPr lang="en-US" sz="1800" b="1" dirty="0">
                <a:solidFill>
                  <a:schemeClr val="tx1"/>
                </a:solidFill>
              </a:rPr>
              <a:t>그대로인 현장을 잡아낸다</a:t>
            </a:r>
            <a:endParaRPr lang="en-US" sz="1800" dirty="0"/>
          </a:p>
        </p:txBody>
      </p:sp>
      <p:sp>
        <p:nvSpPr>
          <p:cNvPr id="134" name="STEP 5 예시 설명"/>
          <p:cNvSpPr txBox="1"/>
          <p:nvPr/>
        </p:nvSpPr>
        <p:spPr>
          <a:xfrm>
            <a:off x="868680" y="5586984"/>
            <a:ext cx="3611880" cy="256032"/>
          </a:xfrm>
          <a:prstGeom prst="rect">
            <a:avLst/>
          </a:prstGeom>
          <a:noFill/>
          <a:ln/>
        </p:spPr>
        <p:txBody>
          <a:bodyPr wrap="square" lIns="0" tIns="0" rIns="0" bIns="0" rtlCol="0" anchor="t"/>
          <a:lstStyle/>
          <a:p>
            <a:pPr indent="0" marL="0">
              <a:buNone/>
            </a:pPr>
            <a:r>
              <a:rPr lang="en-US" sz="1200" b="1" dirty="0">
                <a:solidFill>
                  <a:schemeClr val="accent6"/>
                </a:solidFill>
              </a:rPr>
              <a:t>운동기구 · 근린공원</a:t>
            </a:r>
            <a:r>
              <a:rPr lang="en-US" sz="1200" dirty="0">
                <a:solidFill>
                  <a:schemeClr val="accent6"/>
                </a:solidFill>
              </a:rPr>
              <a:t xml:space="preserve"> (예시)</a:t>
            </a:r>
            <a:endParaRPr lang="en-US" sz="1200" dirty="0"/>
          </a:p>
        </p:txBody>
      </p:sp>
      <p:sp>
        <p:nvSpPr>
          <p:cNvPr id="135" name="예시 사진 칸 1"/>
          <p:cNvSpPr/>
          <p:nvPr/>
        </p:nvSpPr>
        <p:spPr>
          <a:xfrm>
            <a:off x="4754880" y="4279392"/>
            <a:ext cx="1645920" cy="1234440"/>
          </a:xfrm>
          <a:prstGeom prst="roundRect">
            <a:avLst>
              <a:gd name="adj" fmla="val 4444"/>
            </a:avLst>
          </a:prstGeom>
          <a:solidFill>
            <a:schemeClr val="bg2"/>
          </a:solidFill>
          <a:ln w="12700">
            <a:solidFill>
              <a:schemeClr val="bg2"/>
            </a:solidFill>
            <a:prstDash val="solid"/>
          </a:ln>
        </p:spPr>
      </p:sp>
      <p:pic>
        <p:nvPicPr>
          <p:cNvPr id="136" name="예시 사진 1" descr="운동기구 가로대가 빠진 사진(예시)"/>
          <p:cNvPicPr>
            <a:picLocks noChangeAspect="1"/>
          </p:cNvPicPr>
          <p:nvPr/>
        </p:nvPicPr>
        <p:blipFill>
          <a:blip r:embed="rId8"/>
          <a:stretch>
            <a:fillRect/>
          </a:stretch>
        </p:blipFill>
        <p:spPr>
          <a:xfrm>
            <a:off x="4864608" y="4361688"/>
            <a:ext cx="1426464" cy="1069848"/>
          </a:xfrm>
          <a:prstGeom prst="rect">
            <a:avLst/>
          </a:prstGeom>
        </p:spPr>
      </p:pic>
      <p:sp>
        <p:nvSpPr>
          <p:cNvPr id="137" name="예시 사진 설명 1"/>
          <p:cNvSpPr txBox="1"/>
          <p:nvPr/>
        </p:nvSpPr>
        <p:spPr>
          <a:xfrm>
            <a:off x="4617720" y="5586984"/>
            <a:ext cx="1920240" cy="237744"/>
          </a:xfrm>
          <a:prstGeom prst="rect">
            <a:avLst/>
          </a:prstGeom>
          <a:noFill/>
          <a:ln/>
        </p:spPr>
        <p:txBody>
          <a:bodyPr wrap="square" lIns="0" tIns="0" rIns="0" bIns="0" rtlCol="0" anchor="t"/>
          <a:lstStyle/>
          <a:p>
            <a:pPr algn="ctr" indent="0" marL="0">
              <a:buNone/>
            </a:pPr>
            <a:r>
              <a:rPr lang="en-US" sz="1100" dirty="0">
                <a:solidFill>
                  <a:schemeClr val="accent6"/>
                </a:solidFill>
              </a:rPr>
              <a:t>09/26 가로대 이탈</a:t>
            </a:r>
            <a:endParaRPr lang="en-US" sz="1100" dirty="0"/>
          </a:p>
        </p:txBody>
      </p:sp>
      <p:sp>
        <p:nvSpPr>
          <p:cNvPr id="138" name="예시 사진 칸 2"/>
          <p:cNvSpPr/>
          <p:nvPr/>
        </p:nvSpPr>
        <p:spPr>
          <a:xfrm>
            <a:off x="6903720" y="4279392"/>
            <a:ext cx="1645920" cy="1234440"/>
          </a:xfrm>
          <a:prstGeom prst="roundRect">
            <a:avLst>
              <a:gd name="adj" fmla="val 4444"/>
            </a:avLst>
          </a:prstGeom>
          <a:solidFill>
            <a:schemeClr val="bg2"/>
          </a:solidFill>
          <a:ln w="12700">
            <a:solidFill>
              <a:schemeClr val="bg2"/>
            </a:solidFill>
            <a:prstDash val="solid"/>
          </a:ln>
        </p:spPr>
      </p:sp>
      <p:pic>
        <p:nvPicPr>
          <p:cNvPr id="139" name="예시 사진 2" descr="보수 후에도 가로대가 그대로인 사진(예시)"/>
          <p:cNvPicPr>
            <a:picLocks noChangeAspect="1"/>
          </p:cNvPicPr>
          <p:nvPr/>
        </p:nvPicPr>
        <p:blipFill>
          <a:blip r:embed="rId9"/>
          <a:stretch>
            <a:fillRect/>
          </a:stretch>
        </p:blipFill>
        <p:spPr>
          <a:xfrm>
            <a:off x="7013448" y="4361688"/>
            <a:ext cx="1426464" cy="1069848"/>
          </a:xfrm>
          <a:prstGeom prst="rect">
            <a:avLst/>
          </a:prstGeom>
        </p:spPr>
      </p:pic>
      <p:sp>
        <p:nvSpPr>
          <p:cNvPr id="140" name="예시 사진 설명 2"/>
          <p:cNvSpPr txBox="1"/>
          <p:nvPr/>
        </p:nvSpPr>
        <p:spPr>
          <a:xfrm>
            <a:off x="6766560" y="5586984"/>
            <a:ext cx="1920240" cy="237744"/>
          </a:xfrm>
          <a:prstGeom prst="rect">
            <a:avLst/>
          </a:prstGeom>
          <a:noFill/>
          <a:ln/>
        </p:spPr>
        <p:txBody>
          <a:bodyPr wrap="square" lIns="0" tIns="0" rIns="0" bIns="0" rtlCol="0" anchor="t"/>
          <a:lstStyle/>
          <a:p>
            <a:pPr algn="ctr" indent="0" marL="0">
              <a:buNone/>
            </a:pPr>
            <a:r>
              <a:rPr lang="en-US" sz="1100" dirty="0">
                <a:solidFill>
                  <a:schemeClr val="accent6"/>
                </a:solidFill>
              </a:rPr>
              <a:t>10/08 보수 후</a:t>
            </a:r>
            <a:endParaRPr lang="en-US" sz="1100" dirty="0"/>
          </a:p>
        </p:txBody>
      </p:sp>
      <p:sp>
        <p:nvSpPr>
          <p:cNvPr id="141" name="예시 화살표 1"/>
          <p:cNvSpPr/>
          <p:nvPr/>
        </p:nvSpPr>
        <p:spPr>
          <a:xfrm>
            <a:off x="6492240" y="4896612"/>
            <a:ext cx="292608" cy="914"/>
          </a:xfrm>
          <a:prstGeom prst="line">
            <a:avLst/>
          </a:prstGeom>
          <a:noFill/>
          <a:ln w="15875">
            <a:solidFill>
              <a:schemeClr val="accent6"/>
            </a:solidFill>
            <a:prstDash val="solid"/>
            <a:tailEnd type="triangle"/>
          </a:ln>
        </p:spPr>
      </p:sp>
      <p:sp>
        <p:nvSpPr>
          <p:cNvPr id="142" name="예시 화살표 2"/>
          <p:cNvSpPr/>
          <p:nvPr/>
        </p:nvSpPr>
        <p:spPr>
          <a:xfrm>
            <a:off x="8641080" y="4896612"/>
            <a:ext cx="292608" cy="914"/>
          </a:xfrm>
          <a:prstGeom prst="line">
            <a:avLst/>
          </a:prstGeom>
          <a:noFill/>
          <a:ln w="15875">
            <a:solidFill>
              <a:schemeClr val="accent6"/>
            </a:solidFill>
            <a:prstDash val="solid"/>
            <a:tailEnd type="triangle"/>
          </a:ln>
        </p:spPr>
      </p:sp>
      <p:sp>
        <p:nvSpPr>
          <p:cNvPr id="143" name="예시 AI 결과"/>
          <p:cNvSpPr/>
          <p:nvPr/>
        </p:nvSpPr>
        <p:spPr>
          <a:xfrm>
            <a:off x="9098280" y="4503420"/>
            <a:ext cx="2194560" cy="329184"/>
          </a:xfrm>
          <a:prstGeom prst="roundRect">
            <a:avLst>
              <a:gd name="adj" fmla="val 50000"/>
            </a:avLst>
          </a:prstGeom>
          <a:solidFill>
            <a:schemeClr val="accent5"/>
          </a:solidFill>
          <a:ln w="12700">
            <a:solidFill>
              <a:schemeClr val="accent5"/>
            </a:solidFill>
            <a:prstDash val="solid"/>
          </a:ln>
        </p:spPr>
        <p:txBody>
          <a:bodyPr wrap="square" lIns="0" tIns="0" rIns="0" bIns="0" rtlCol="0" anchor="ctr"/>
          <a:lstStyle/>
          <a:p>
            <a:pPr algn="ctr" indent="0" marL="0">
              <a:buNone/>
            </a:pPr>
            <a:r>
              <a:rPr lang="en-US" sz="1200" b="1" dirty="0">
                <a:solidFill>
                  <a:schemeClr val="tx2"/>
                </a:solidFill>
              </a:rPr>
              <a:t>AI 미수리 의심</a:t>
            </a:r>
            <a:endParaRPr lang="en-US" sz="1200" dirty="0"/>
          </a:p>
        </p:txBody>
      </p:sp>
      <p:sp>
        <p:nvSpPr>
          <p:cNvPr id="144" name="예시 담당자 결정"/>
          <p:cNvSpPr/>
          <p:nvPr/>
        </p:nvSpPr>
        <p:spPr>
          <a:xfrm>
            <a:off x="9098280" y="4960620"/>
            <a:ext cx="2194560" cy="329184"/>
          </a:xfrm>
          <a:prstGeom prst="roundRect">
            <a:avLst>
              <a:gd name="adj" fmla="val 50000"/>
            </a:avLst>
          </a:prstGeom>
          <a:solidFill>
            <a:schemeClr val="accent3"/>
          </a:solidFill>
          <a:ln w="12700">
            <a:solidFill>
              <a:schemeClr val="accent3"/>
            </a:solidFill>
            <a:prstDash val="solid"/>
          </a:ln>
        </p:spPr>
        <p:txBody>
          <a:bodyPr wrap="square" lIns="0" tIns="0" rIns="0" bIns="0" rtlCol="0" anchor="ctr"/>
          <a:lstStyle/>
          <a:p>
            <a:pPr algn="ctr" indent="0" marL="0">
              <a:buNone/>
            </a:pPr>
            <a:r>
              <a:rPr lang="en-US" sz="1200" b="1" dirty="0">
                <a:solidFill>
                  <a:schemeClr val="bg1"/>
                </a:solidFill>
              </a:rPr>
              <a:t>담당자 재보수 요청</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tx2"/>
                </a:solidFill>
              </a:rPr>
              <a:t>서비스 구성</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tx1"/>
                </a:solidFill>
              </a:rPr>
              <a:t>설치 없는 앱, 관리자 웹, 자체 AI 서버</a:t>
            </a:r>
            <a:endParaRPr lang="en-US" sz="3200" dirty="0"/>
          </a:p>
        </p:txBody>
      </p:sp>
      <p:pic>
        <p:nvPicPr>
          <p:cNvPr id="300" name="시스템 구성도" descr="시니어 동네 점검단 시스템 구성: 시니어 앱·관리자 웹 → 업무 백엔드 → AI 판독 모듈 → GPU 서버, 사진 한 장의 흐름 5단계"/>
          <p:cNvPicPr>
            <a:picLocks noChangeAspect="1"/>
          </p:cNvPicPr>
          <p:nvPr/>
        </p:nvPicPr>
        <p:blipFill>
          <a:blip r:embed="rIdArch"/>
          <a:stretch>
            <a:fillRect/>
          </a:stretch>
        </p:blipFill>
        <p:spPr>
          <a:xfrm>
            <a:off x="1031850" y="1572768"/>
            <a:ext cx="10127993" cy="4782312"/>
          </a:xfrm>
          <a:prstGeom prst="roundRect">
            <a:avLst>
              <a:gd name="adj" fmla="val 2500"/>
            </a:avLst>
          </a:prstGeom>
          <a:ln w="9525">
            <a:solidFill>
              <a:srgbClr val="D5E9EE"/>
            </a:solidFill>
          </a:ln>
        </p:spPr>
      </p:pic>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tx2"/>
                </a:solidFill>
              </a:rPr>
              <a:t>실행 화면 · 어르신 앱</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tx1"/>
                </a:solidFill>
              </a:rPr>
              <a:t>안내를 따라 누구나 쉽게 찍는다</a:t>
            </a:r>
            <a:endParaRPr lang="en-US" sz="3200" dirty="0"/>
          </a:p>
        </p:txBody>
      </p:sp>
      <p:sp>
        <p:nvSpPr>
          <p:cNvPr id="5" name="채우기 표시 - 완성 후 삭제"/>
          <p:cNvSpPr/>
          <p:nvPr/>
        </p:nvSpPr>
        <p:spPr>
          <a:xfrm>
            <a:off x="8988552" y="402336"/>
            <a:ext cx="2651760" cy="329184"/>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200" b="1" dirty="0">
                <a:solidFill>
                  <a:schemeClr val="bg1"/>
                </a:solidFill>
              </a:rPr>
              <a:t>✎ 앱 실행 화면 4장 넣기</a:t>
            </a:r>
            <a:endParaRPr lang="en-US" sz="1200" dirty="0"/>
          </a:p>
        </p:txBody>
      </p:sp>
      <p:sp>
        <p:nvSpPr>
          <p:cNvPr id="6" name="Shape 4"/>
          <p:cNvSpPr/>
          <p:nvPr/>
        </p:nvSpPr>
        <p:spPr>
          <a:xfrm>
            <a:off x="548640" y="1783080"/>
            <a:ext cx="457200" cy="45720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649224" y="1883664"/>
            <a:ext cx="256032" cy="256032"/>
          </a:xfrm>
          <a:prstGeom prst="rect">
            <a:avLst/>
          </a:prstGeom>
        </p:spPr>
      </p:pic>
      <p:sp>
        <p:nvSpPr>
          <p:cNvPr id="8" name="Text 5"/>
          <p:cNvSpPr txBox="1"/>
          <p:nvPr/>
        </p:nvSpPr>
        <p:spPr>
          <a:xfrm>
            <a:off x="1170432" y="1746504"/>
            <a:ext cx="2697480" cy="685800"/>
          </a:xfrm>
          <a:prstGeom prst="rect">
            <a:avLst/>
          </a:prstGeom>
          <a:noFill/>
          <a:ln/>
        </p:spPr>
        <p:txBody>
          <a:bodyPr wrap="square" lIns="0" tIns="0" rIns="0" bIns="0" rtlCol="0" anchor="ctr"/>
          <a:lstStyle/>
          <a:p>
            <a:pPr indent="0" marL="0">
              <a:buNone/>
            </a:pPr>
            <a:r>
              <a:rPr lang="en-US" sz="1400" dirty="0">
                <a:solidFill>
                  <a:schemeClr val="tx1"/>
                </a:solidFill>
              </a:rPr>
              <a:t>큰 글씨·참고 사진으로 장소 안내</a:t>
            </a:r>
            <a:endParaRPr lang="en-US" sz="1400" dirty="0"/>
          </a:p>
        </p:txBody>
      </p:sp>
      <p:sp>
        <p:nvSpPr>
          <p:cNvPr id="9" name="Shape 6"/>
          <p:cNvSpPr/>
          <p:nvPr/>
        </p:nvSpPr>
        <p:spPr>
          <a:xfrm>
            <a:off x="548640" y="2651760"/>
            <a:ext cx="457200" cy="45720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649224" y="2752344"/>
            <a:ext cx="256032" cy="256032"/>
          </a:xfrm>
          <a:prstGeom prst="rect">
            <a:avLst/>
          </a:prstGeom>
        </p:spPr>
      </p:pic>
      <p:sp>
        <p:nvSpPr>
          <p:cNvPr id="11" name="Text 7"/>
          <p:cNvSpPr txBox="1"/>
          <p:nvPr/>
        </p:nvSpPr>
        <p:spPr>
          <a:xfrm>
            <a:off x="1170432" y="2615184"/>
            <a:ext cx="2697480" cy="685800"/>
          </a:xfrm>
          <a:prstGeom prst="rect">
            <a:avLst/>
          </a:prstGeom>
          <a:noFill/>
          <a:ln/>
        </p:spPr>
        <p:txBody>
          <a:bodyPr wrap="square" lIns="0" tIns="0" rIns="0" bIns="0" rtlCol="0" anchor="ctr"/>
          <a:lstStyle/>
          <a:p>
            <a:pPr indent="0" marL="0">
              <a:buNone/>
            </a:pPr>
            <a:r>
              <a:rPr lang="en-US" sz="1400" dirty="0">
                <a:solidFill>
                  <a:schemeClr val="tx1"/>
                </a:solidFill>
              </a:rPr>
              <a:t>흐리면 다시 찍기 안내(2번까지)</a:t>
            </a:r>
            <a:endParaRPr lang="en-US" sz="1400" dirty="0"/>
          </a:p>
        </p:txBody>
      </p:sp>
      <p:sp>
        <p:nvSpPr>
          <p:cNvPr id="12" name="Shape 8"/>
          <p:cNvSpPr/>
          <p:nvPr/>
        </p:nvSpPr>
        <p:spPr>
          <a:xfrm>
            <a:off x="548640" y="3520440"/>
            <a:ext cx="457200" cy="457200"/>
          </a:xfrm>
          <a:prstGeom prst="ellipse">
            <a:avLst/>
          </a:prstGeom>
          <a:solidFill>
            <a:schemeClr val="accent1"/>
          </a:solidFill>
          <a:ln w="12700">
            <a:solidFill>
              <a:schemeClr val="accent1"/>
            </a:solidFill>
            <a:prstDash val="solid"/>
          </a:ln>
        </p:spPr>
      </p:sp>
      <p:pic>
        <p:nvPicPr>
          <p:cNvPr id="13" name="Image 2" descr="preencoded.png">    </p:cNvPr>
          <p:cNvPicPr>
            <a:picLocks noChangeAspect="1"/>
          </p:cNvPicPr>
          <p:nvPr/>
        </p:nvPicPr>
        <p:blipFill>
          <a:blip r:embed="rId3"/>
          <a:stretch>
            <a:fillRect/>
          </a:stretch>
        </p:blipFill>
        <p:spPr>
          <a:xfrm>
            <a:off x="649224" y="3621024"/>
            <a:ext cx="256032" cy="256032"/>
          </a:xfrm>
          <a:prstGeom prst="rect">
            <a:avLst/>
          </a:prstGeom>
        </p:spPr>
      </p:pic>
      <p:sp>
        <p:nvSpPr>
          <p:cNvPr id="14" name="Text 9"/>
          <p:cNvSpPr txBox="1"/>
          <p:nvPr/>
        </p:nvSpPr>
        <p:spPr>
          <a:xfrm>
            <a:off x="1170432" y="3483864"/>
            <a:ext cx="2697480" cy="685800"/>
          </a:xfrm>
          <a:prstGeom prst="rect">
            <a:avLst/>
          </a:prstGeom>
          <a:noFill/>
          <a:ln/>
        </p:spPr>
        <p:txBody>
          <a:bodyPr wrap="square" lIns="0" tIns="0" rIns="0" bIns="0" rtlCol="0" anchor="ctr"/>
          <a:lstStyle/>
          <a:p>
            <a:pPr indent="0" marL="0">
              <a:buNone/>
            </a:pPr>
            <a:r>
              <a:rPr lang="en-US" sz="1400" dirty="0">
                <a:solidFill>
                  <a:schemeClr val="tx1"/>
                </a:solidFill>
              </a:rPr>
              <a:t>판단 부담 없이 촬영에 집중</a:t>
            </a:r>
            <a:endParaRPr lang="en-US" sz="1400" dirty="0"/>
          </a:p>
        </p:txBody>
      </p:sp>
      <p:sp>
        <p:nvSpPr>
          <p:cNvPr id="15" name="Shape 10"/>
          <p:cNvSpPr/>
          <p:nvPr/>
        </p:nvSpPr>
        <p:spPr>
          <a:xfrm>
            <a:off x="548640" y="4389120"/>
            <a:ext cx="457200" cy="457200"/>
          </a:xfrm>
          <a:prstGeom prst="ellipse">
            <a:avLst/>
          </a:prstGeom>
          <a:solidFill>
            <a:schemeClr val="accent1"/>
          </a:solidFill>
          <a:ln w="12700">
            <a:solidFill>
              <a:schemeClr val="accent1"/>
            </a:solidFill>
            <a:prstDash val="solid"/>
          </a:ln>
        </p:spPr>
      </p:sp>
      <p:pic>
        <p:nvPicPr>
          <p:cNvPr id="16" name="Image 3" descr="preencoded.png">    </p:cNvPr>
          <p:cNvPicPr>
            <a:picLocks noChangeAspect="1"/>
          </p:cNvPicPr>
          <p:nvPr/>
        </p:nvPicPr>
        <p:blipFill>
          <a:blip r:embed="rId4"/>
          <a:stretch>
            <a:fillRect/>
          </a:stretch>
        </p:blipFill>
        <p:spPr>
          <a:xfrm>
            <a:off x="649224" y="4489704"/>
            <a:ext cx="256032" cy="256032"/>
          </a:xfrm>
          <a:prstGeom prst="rect">
            <a:avLst/>
          </a:prstGeom>
        </p:spPr>
      </p:pic>
      <p:sp>
        <p:nvSpPr>
          <p:cNvPr id="17" name="Text 11"/>
          <p:cNvSpPr txBox="1"/>
          <p:nvPr/>
        </p:nvSpPr>
        <p:spPr>
          <a:xfrm>
            <a:off x="1170432" y="4352544"/>
            <a:ext cx="2697480" cy="685800"/>
          </a:xfrm>
          <a:prstGeom prst="rect">
            <a:avLst/>
          </a:prstGeom>
          <a:noFill/>
          <a:ln/>
        </p:spPr>
        <p:txBody>
          <a:bodyPr wrap="square" lIns="0" tIns="0" rIns="0" bIns="0" rtlCol="0" anchor="ctr"/>
          <a:lstStyle/>
          <a:p>
            <a:pPr indent="0" marL="0">
              <a:buNone/>
            </a:pPr>
            <a:r>
              <a:rPr lang="en-US" sz="1400" dirty="0">
                <a:solidFill>
                  <a:schemeClr val="tx1"/>
                </a:solidFill>
              </a:rPr>
              <a:t>인터넷이 끊겨도 저장 후 자동 전송</a:t>
            </a:r>
            <a:endParaRPr lang="en-US" sz="1400" dirty="0"/>
          </a:p>
        </p:txBody>
      </p:sp>
      <p:sp>
        <p:nvSpPr>
          <p:cNvPr id="18" name="Shape 12"/>
          <p:cNvSpPr/>
          <p:nvPr/>
        </p:nvSpPr>
        <p:spPr>
          <a:xfrm>
            <a:off x="548640" y="5257800"/>
            <a:ext cx="457200" cy="457200"/>
          </a:xfrm>
          <a:prstGeom prst="ellipse">
            <a:avLst/>
          </a:prstGeom>
          <a:solidFill>
            <a:schemeClr val="accent1"/>
          </a:solidFill>
          <a:ln w="12700">
            <a:solidFill>
              <a:schemeClr val="accent1"/>
            </a:solidFill>
            <a:prstDash val="solid"/>
          </a:ln>
        </p:spPr>
      </p:sp>
      <p:pic>
        <p:nvPicPr>
          <p:cNvPr id="19" name="Image 4" descr="preencoded.png">    </p:cNvPr>
          <p:cNvPicPr>
            <a:picLocks noChangeAspect="1"/>
          </p:cNvPicPr>
          <p:nvPr/>
        </p:nvPicPr>
        <p:blipFill>
          <a:blip r:embed="rId5"/>
          <a:stretch>
            <a:fillRect/>
          </a:stretch>
        </p:blipFill>
        <p:spPr>
          <a:xfrm>
            <a:off x="649224" y="5358384"/>
            <a:ext cx="256032" cy="256032"/>
          </a:xfrm>
          <a:prstGeom prst="rect">
            <a:avLst/>
          </a:prstGeom>
        </p:spPr>
      </p:pic>
      <p:sp>
        <p:nvSpPr>
          <p:cNvPr id="20" name="Text 13"/>
          <p:cNvSpPr txBox="1"/>
          <p:nvPr/>
        </p:nvSpPr>
        <p:spPr>
          <a:xfrm>
            <a:off x="1170432" y="5221224"/>
            <a:ext cx="2697480" cy="685800"/>
          </a:xfrm>
          <a:prstGeom prst="rect">
            <a:avLst/>
          </a:prstGeom>
          <a:noFill/>
          <a:ln/>
        </p:spPr>
        <p:txBody>
          <a:bodyPr wrap="square" lIns="0" tIns="0" rIns="0" bIns="0" rtlCol="0" anchor="ctr"/>
          <a:lstStyle/>
          <a:p>
            <a:pPr indent="0" marL="0">
              <a:buNone/>
            </a:pPr>
            <a:r>
              <a:rPr lang="en-US" sz="1400" dirty="0">
                <a:solidFill>
                  <a:schemeClr val="tx1"/>
                </a:solidFill>
              </a:rPr>
              <a:t>전화·쉬기·그만하기 항상 표시</a:t>
            </a:r>
            <a:endParaRPr lang="en-US" sz="1400" dirty="0"/>
          </a:p>
        </p:txBody>
      </p:sp>
      <p:sp>
        <p:nvSpPr>
          <p:cNvPr id="21" name="휴대폰 틀"/>
          <p:cNvSpPr/>
          <p:nvPr/>
        </p:nvSpPr>
        <p:spPr>
          <a:xfrm>
            <a:off x="4114800" y="1691640"/>
            <a:ext cx="1691640" cy="3611880"/>
          </a:xfrm>
          <a:prstGeom prst="roundRect">
            <a:avLst>
              <a:gd name="adj" fmla="val 10811"/>
            </a:avLst>
          </a:prstGeom>
          <a:solidFill>
            <a:schemeClr val="bg1"/>
          </a:solidFill>
          <a:ln w="31750">
            <a:solidFill>
              <a:schemeClr val="tx2"/>
            </a:solidFill>
            <a:prstDash val="solid"/>
          </a:ln>
          <a:effectLst>
            <a:outerShdw sx="100000" sy="100000" kx="0" ky="0" algn="bl" rotWithShape="0" blurRad="101600" dist="25400" dir="5400000">
              <a:srgbClr val="0E4C5A">
                <a:alpha val="10000"/>
              </a:srgbClr>
            </a:outerShdw>
          </a:effectLst>
        </p:spPr>
      </p:sp>
      <p:sp>
        <p:nvSpPr>
          <p:cNvPr id="22" name="캡처 자리 - 실행 화면으로 교체"/>
          <p:cNvSpPr/>
          <p:nvPr/>
        </p:nvSpPr>
        <p:spPr>
          <a:xfrm>
            <a:off x="4206240" y="1801368"/>
            <a:ext cx="1508760" cy="3392424"/>
          </a:xfrm>
          <a:prstGeom prst="roundRect">
            <a:avLst>
              <a:gd name="adj" fmla="val 7273"/>
            </a:avLst>
          </a:prstGeom>
          <a:solidFill>
            <a:schemeClr val="bg2"/>
          </a:solidFill>
          <a:ln w="12700">
            <a:solidFill>
              <a:schemeClr val="accent2"/>
            </a:solidFill>
            <a:prstDash val="dash"/>
          </a:ln>
        </p:spPr>
      </p:sp>
      <p:pic>
        <p:nvPicPr>
          <p:cNvPr id="23" name="Image 5" descr="preencoded.png">    </p:cNvPr>
          <p:cNvPicPr>
            <a:picLocks noChangeAspect="1"/>
          </p:cNvPicPr>
          <p:nvPr/>
        </p:nvPicPr>
        <p:blipFill>
          <a:blip r:embed="rId6"/>
          <a:stretch>
            <a:fillRect/>
          </a:stretch>
        </p:blipFill>
        <p:spPr>
          <a:xfrm>
            <a:off x="4732020" y="2930652"/>
            <a:ext cx="457200" cy="457200"/>
          </a:xfrm>
          <a:prstGeom prst="rect">
            <a:avLst/>
          </a:prstGeom>
        </p:spPr>
      </p:pic>
      <p:sp>
        <p:nvSpPr>
          <p:cNvPr id="24" name="Text 16"/>
          <p:cNvSpPr txBox="1"/>
          <p:nvPr/>
        </p:nvSpPr>
        <p:spPr>
          <a:xfrm>
            <a:off x="4251960" y="3479292"/>
            <a:ext cx="1417320" cy="822960"/>
          </a:xfrm>
          <a:prstGeom prst="rect">
            <a:avLst/>
          </a:prstGeom>
          <a:noFill/>
          <a:ln/>
        </p:spPr>
        <p:txBody>
          <a:bodyPr wrap="square" lIns="0" tIns="0" rIns="0" bIns="0" rtlCol="0" anchor="t"/>
          <a:lstStyle/>
          <a:p>
            <a:pPr algn="ctr" indent="0" marL="0">
              <a:buNone/>
            </a:pPr>
            <a:r>
              <a:rPr lang="en-US" sz="1200" b="1" dirty="0">
                <a:solidFill>
                  <a:schemeClr val="tx2"/>
                </a:solidFill>
              </a:rPr>
              <a:t>실행 화면 캡처</a:t>
            </a:r>
            <a:endParaRPr lang="en-US" sz="1400" dirty="0"/>
          </a:p>
          <a:p>
            <a:pPr algn="ctr" indent="0" marL="0">
              <a:buNone/>
            </a:pPr>
            <a:r>
              <a:rPr lang="en-US" sz="1100" dirty="0">
                <a:solidFill>
                  <a:schemeClr val="accent6"/>
                </a:solidFill>
              </a:rPr>
              <a:t>장소 안내 화면</a:t>
            </a:r>
            <a:endParaRPr lang="en-US" sz="1400" dirty="0"/>
          </a:p>
        </p:txBody>
      </p:sp>
      <p:sp>
        <p:nvSpPr>
          <p:cNvPr id="25" name="Text 17"/>
          <p:cNvSpPr/>
          <p:nvPr/>
        </p:nvSpPr>
        <p:spPr>
          <a:xfrm>
            <a:off x="4114800" y="5458968"/>
            <a:ext cx="292608" cy="292608"/>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6" name="Text 18"/>
          <p:cNvSpPr txBox="1"/>
          <p:nvPr/>
        </p:nvSpPr>
        <p:spPr>
          <a:xfrm>
            <a:off x="4480560" y="5321808"/>
            <a:ext cx="1371600" cy="566928"/>
          </a:xfrm>
          <a:prstGeom prst="rect">
            <a:avLst/>
          </a:prstGeom>
          <a:noFill/>
          <a:ln/>
        </p:spPr>
        <p:txBody>
          <a:bodyPr wrap="square" lIns="0" tIns="0" rIns="0" bIns="0" rtlCol="0" anchor="ctr"/>
          <a:lstStyle/>
          <a:p>
            <a:pPr indent="0" marL="0">
              <a:buNone/>
            </a:pPr>
            <a:r>
              <a:rPr lang="en-US" sz="1200" dirty="0">
                <a:solidFill>
                  <a:schemeClr val="tx1"/>
                </a:solidFill>
              </a:rPr>
              <a:t>장소 안내</a:t>
            </a:r>
            <a:endParaRPr lang="en-US" sz="1200" dirty="0"/>
          </a:p>
        </p:txBody>
      </p:sp>
      <p:sp>
        <p:nvSpPr>
          <p:cNvPr id="27" name="휴대폰 틀"/>
          <p:cNvSpPr/>
          <p:nvPr/>
        </p:nvSpPr>
        <p:spPr>
          <a:xfrm>
            <a:off x="6060338" y="1691640"/>
            <a:ext cx="1691640" cy="3611880"/>
          </a:xfrm>
          <a:prstGeom prst="roundRect">
            <a:avLst>
              <a:gd name="adj" fmla="val 10811"/>
            </a:avLst>
          </a:prstGeom>
          <a:solidFill>
            <a:schemeClr val="bg1"/>
          </a:solidFill>
          <a:ln w="31750">
            <a:solidFill>
              <a:schemeClr val="tx2"/>
            </a:solidFill>
            <a:prstDash val="solid"/>
          </a:ln>
          <a:effectLst>
            <a:outerShdw sx="100000" sy="100000" kx="0" ky="0" algn="bl" rotWithShape="0" blurRad="101600" dist="25400" dir="5400000">
              <a:srgbClr val="0E4C5A">
                <a:alpha val="10000"/>
              </a:srgbClr>
            </a:outerShdw>
          </a:effectLst>
        </p:spPr>
      </p:sp>
      <p:sp>
        <p:nvSpPr>
          <p:cNvPr id="28" name="캡처 자리 - 실행 화면으로 교체"/>
          <p:cNvSpPr/>
          <p:nvPr/>
        </p:nvSpPr>
        <p:spPr>
          <a:xfrm>
            <a:off x="6151778" y="1801368"/>
            <a:ext cx="1508760" cy="3392424"/>
          </a:xfrm>
          <a:prstGeom prst="roundRect">
            <a:avLst>
              <a:gd name="adj" fmla="val 7273"/>
            </a:avLst>
          </a:prstGeom>
          <a:solidFill>
            <a:schemeClr val="bg2"/>
          </a:solidFill>
          <a:ln w="12700">
            <a:solidFill>
              <a:schemeClr val="accent2"/>
            </a:solidFill>
            <a:prstDash val="dash"/>
          </a:ln>
        </p:spPr>
      </p:sp>
      <p:pic>
        <p:nvPicPr>
          <p:cNvPr id="29" name="Image 6" descr="preencoded.png">    </p:cNvPr>
          <p:cNvPicPr>
            <a:picLocks noChangeAspect="1"/>
          </p:cNvPicPr>
          <p:nvPr/>
        </p:nvPicPr>
        <p:blipFill>
          <a:blip r:embed="rId7"/>
          <a:stretch>
            <a:fillRect/>
          </a:stretch>
        </p:blipFill>
        <p:spPr>
          <a:xfrm>
            <a:off x="6677558" y="2930652"/>
            <a:ext cx="457200" cy="457200"/>
          </a:xfrm>
          <a:prstGeom prst="rect">
            <a:avLst/>
          </a:prstGeom>
        </p:spPr>
      </p:pic>
      <p:sp>
        <p:nvSpPr>
          <p:cNvPr id="30" name="Text 21"/>
          <p:cNvSpPr txBox="1"/>
          <p:nvPr/>
        </p:nvSpPr>
        <p:spPr>
          <a:xfrm>
            <a:off x="6197498" y="3479292"/>
            <a:ext cx="1417320" cy="822960"/>
          </a:xfrm>
          <a:prstGeom prst="rect">
            <a:avLst/>
          </a:prstGeom>
          <a:noFill/>
          <a:ln/>
        </p:spPr>
        <p:txBody>
          <a:bodyPr wrap="square" lIns="0" tIns="0" rIns="0" bIns="0" rtlCol="0" anchor="t"/>
          <a:lstStyle/>
          <a:p>
            <a:pPr algn="ctr" indent="0" marL="0">
              <a:buNone/>
            </a:pPr>
            <a:r>
              <a:rPr lang="en-US" sz="1200" b="1" dirty="0">
                <a:solidFill>
                  <a:schemeClr val="tx2"/>
                </a:solidFill>
              </a:rPr>
              <a:t>실행 화면 캡처</a:t>
            </a:r>
            <a:endParaRPr lang="en-US" sz="1400" dirty="0"/>
          </a:p>
          <a:p>
            <a:pPr algn="ctr" indent="0" marL="0">
              <a:buNone/>
            </a:pPr>
            <a:r>
              <a:rPr lang="en-US" sz="1100" dirty="0">
                <a:solidFill>
                  <a:schemeClr val="accent6"/>
                </a:solidFill>
              </a:rPr>
              <a:t>지난번 찍은 곳 촬영 화면</a:t>
            </a:r>
            <a:endParaRPr lang="en-US" sz="1400" dirty="0"/>
          </a:p>
        </p:txBody>
      </p:sp>
      <p:sp>
        <p:nvSpPr>
          <p:cNvPr id="31" name="Text 22"/>
          <p:cNvSpPr/>
          <p:nvPr/>
        </p:nvSpPr>
        <p:spPr>
          <a:xfrm>
            <a:off x="6060338" y="5458968"/>
            <a:ext cx="292608" cy="292608"/>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32" name="Text 23"/>
          <p:cNvSpPr txBox="1"/>
          <p:nvPr/>
        </p:nvSpPr>
        <p:spPr>
          <a:xfrm>
            <a:off x="6426098" y="5321808"/>
            <a:ext cx="1371600" cy="566928"/>
          </a:xfrm>
          <a:prstGeom prst="rect">
            <a:avLst/>
          </a:prstGeom>
          <a:noFill/>
          <a:ln/>
        </p:spPr>
        <p:txBody>
          <a:bodyPr wrap="square" lIns="0" tIns="0" rIns="0" bIns="0" rtlCol="0" anchor="ctr"/>
          <a:lstStyle/>
          <a:p>
            <a:pPr indent="0" marL="0">
              <a:buNone/>
            </a:pPr>
            <a:r>
              <a:rPr lang="en-US" sz="1200" dirty="0">
                <a:solidFill>
                  <a:schemeClr val="tx1"/>
                </a:solidFill>
              </a:rPr>
              <a:t>지난 사진 겹쳐 찍기</a:t>
            </a:r>
            <a:endParaRPr lang="en-US" sz="1200" dirty="0"/>
          </a:p>
        </p:txBody>
      </p:sp>
      <p:sp>
        <p:nvSpPr>
          <p:cNvPr id="33" name="휴대폰 틀"/>
          <p:cNvSpPr/>
          <p:nvPr/>
        </p:nvSpPr>
        <p:spPr>
          <a:xfrm>
            <a:off x="8005877" y="1691640"/>
            <a:ext cx="1691640" cy="3611880"/>
          </a:xfrm>
          <a:prstGeom prst="roundRect">
            <a:avLst>
              <a:gd name="adj" fmla="val 10811"/>
            </a:avLst>
          </a:prstGeom>
          <a:solidFill>
            <a:schemeClr val="bg1"/>
          </a:solidFill>
          <a:ln w="31750">
            <a:solidFill>
              <a:schemeClr val="tx2"/>
            </a:solidFill>
            <a:prstDash val="solid"/>
          </a:ln>
          <a:effectLst>
            <a:outerShdw sx="100000" sy="100000" kx="0" ky="0" algn="bl" rotWithShape="0" blurRad="101600" dist="25400" dir="5400000">
              <a:srgbClr val="0E4C5A">
                <a:alpha val="10000"/>
              </a:srgbClr>
            </a:outerShdw>
          </a:effectLst>
        </p:spPr>
      </p:sp>
      <p:sp>
        <p:nvSpPr>
          <p:cNvPr id="34" name="캡처 자리 - 실행 화면으로 교체"/>
          <p:cNvSpPr/>
          <p:nvPr/>
        </p:nvSpPr>
        <p:spPr>
          <a:xfrm>
            <a:off x="8097317" y="1801368"/>
            <a:ext cx="1508760" cy="3392424"/>
          </a:xfrm>
          <a:prstGeom prst="roundRect">
            <a:avLst>
              <a:gd name="adj" fmla="val 7273"/>
            </a:avLst>
          </a:prstGeom>
          <a:solidFill>
            <a:schemeClr val="bg2"/>
          </a:solidFill>
          <a:ln w="12700">
            <a:solidFill>
              <a:schemeClr val="accent2"/>
            </a:solidFill>
            <a:prstDash val="dash"/>
          </a:ln>
        </p:spPr>
      </p:sp>
      <p:pic>
        <p:nvPicPr>
          <p:cNvPr id="35" name="Image 7" descr="preencoded.png">    </p:cNvPr>
          <p:cNvPicPr>
            <a:picLocks noChangeAspect="1"/>
          </p:cNvPicPr>
          <p:nvPr/>
        </p:nvPicPr>
        <p:blipFill>
          <a:blip r:embed="rId8"/>
          <a:stretch>
            <a:fillRect/>
          </a:stretch>
        </p:blipFill>
        <p:spPr>
          <a:xfrm>
            <a:off x="8623097" y="2930652"/>
            <a:ext cx="457200" cy="457200"/>
          </a:xfrm>
          <a:prstGeom prst="rect">
            <a:avLst/>
          </a:prstGeom>
        </p:spPr>
      </p:pic>
      <p:sp>
        <p:nvSpPr>
          <p:cNvPr id="36" name="Text 26"/>
          <p:cNvSpPr txBox="1"/>
          <p:nvPr/>
        </p:nvSpPr>
        <p:spPr>
          <a:xfrm>
            <a:off x="8143037" y="3479292"/>
            <a:ext cx="1417320" cy="822960"/>
          </a:xfrm>
          <a:prstGeom prst="rect">
            <a:avLst/>
          </a:prstGeom>
          <a:noFill/>
          <a:ln/>
        </p:spPr>
        <p:txBody>
          <a:bodyPr wrap="square" lIns="0" tIns="0" rIns="0" bIns="0" rtlCol="0" anchor="t"/>
          <a:lstStyle/>
          <a:p>
            <a:pPr algn="ctr" indent="0" marL="0">
              <a:buNone/>
            </a:pPr>
            <a:r>
              <a:rPr lang="en-US" sz="1200" b="1" dirty="0">
                <a:solidFill>
                  <a:schemeClr val="tx2"/>
                </a:solidFill>
              </a:rPr>
              <a:t>실행 화면 캡처</a:t>
            </a:r>
            <a:endParaRPr lang="en-US" sz="1400" dirty="0"/>
          </a:p>
          <a:p>
            <a:pPr algn="ctr" indent="0" marL="0">
              <a:buNone/>
            </a:pPr>
            <a:r>
              <a:rPr lang="en-US" sz="1100" dirty="0">
                <a:solidFill>
                  <a:schemeClr val="accent6"/>
                </a:solidFill>
              </a:rPr>
              <a:t>저장 완료·재촬영 안내</a:t>
            </a:r>
            <a:endParaRPr lang="en-US" sz="1400" dirty="0"/>
          </a:p>
        </p:txBody>
      </p:sp>
      <p:sp>
        <p:nvSpPr>
          <p:cNvPr id="37" name="Text 27"/>
          <p:cNvSpPr/>
          <p:nvPr/>
        </p:nvSpPr>
        <p:spPr>
          <a:xfrm>
            <a:off x="8005877" y="5458968"/>
            <a:ext cx="292608" cy="292608"/>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38" name="Text 28"/>
          <p:cNvSpPr txBox="1"/>
          <p:nvPr/>
        </p:nvSpPr>
        <p:spPr>
          <a:xfrm>
            <a:off x="8371637" y="5321808"/>
            <a:ext cx="1371600" cy="566928"/>
          </a:xfrm>
          <a:prstGeom prst="rect">
            <a:avLst/>
          </a:prstGeom>
          <a:noFill/>
          <a:ln/>
        </p:spPr>
        <p:txBody>
          <a:bodyPr wrap="square" lIns="0" tIns="0" rIns="0" bIns="0" rtlCol="0" anchor="ctr"/>
          <a:lstStyle/>
          <a:p>
            <a:pPr indent="0" marL="0">
              <a:buNone/>
            </a:pPr>
            <a:r>
              <a:rPr lang="en-US" sz="1200" dirty="0">
                <a:solidFill>
                  <a:schemeClr val="tx1"/>
                </a:solidFill>
              </a:rPr>
              <a:t>품질·진행 상황 안내</a:t>
            </a:r>
            <a:endParaRPr lang="en-US" sz="1200" dirty="0"/>
          </a:p>
        </p:txBody>
      </p:sp>
      <p:sp>
        <p:nvSpPr>
          <p:cNvPr id="39" name="휴대폰 틀"/>
          <p:cNvSpPr/>
          <p:nvPr/>
        </p:nvSpPr>
        <p:spPr>
          <a:xfrm>
            <a:off x="9951415" y="1691640"/>
            <a:ext cx="1691640" cy="3611880"/>
          </a:xfrm>
          <a:prstGeom prst="roundRect">
            <a:avLst>
              <a:gd name="adj" fmla="val 10811"/>
            </a:avLst>
          </a:prstGeom>
          <a:solidFill>
            <a:schemeClr val="bg1"/>
          </a:solidFill>
          <a:ln w="31750">
            <a:solidFill>
              <a:schemeClr val="tx2"/>
            </a:solidFill>
            <a:prstDash val="solid"/>
          </a:ln>
          <a:effectLst>
            <a:outerShdw sx="100000" sy="100000" kx="0" ky="0" algn="bl" rotWithShape="0" blurRad="101600" dist="25400" dir="5400000">
              <a:srgbClr val="0E4C5A">
                <a:alpha val="10000"/>
              </a:srgbClr>
            </a:outerShdw>
          </a:effectLst>
        </p:spPr>
      </p:sp>
      <p:sp>
        <p:nvSpPr>
          <p:cNvPr id="40" name="캡처 자리 - 실행 화면으로 교체"/>
          <p:cNvSpPr/>
          <p:nvPr/>
        </p:nvSpPr>
        <p:spPr>
          <a:xfrm>
            <a:off x="10042855" y="1801368"/>
            <a:ext cx="1508760" cy="3392424"/>
          </a:xfrm>
          <a:prstGeom prst="roundRect">
            <a:avLst>
              <a:gd name="adj" fmla="val 7273"/>
            </a:avLst>
          </a:prstGeom>
          <a:solidFill>
            <a:schemeClr val="bg2"/>
          </a:solidFill>
          <a:ln w="12700">
            <a:solidFill>
              <a:schemeClr val="accent2"/>
            </a:solidFill>
            <a:prstDash val="dash"/>
          </a:ln>
        </p:spPr>
      </p:sp>
      <p:pic>
        <p:nvPicPr>
          <p:cNvPr id="41" name="Image 8" descr="preencoded.png">    </p:cNvPr>
          <p:cNvPicPr>
            <a:picLocks noChangeAspect="1"/>
          </p:cNvPicPr>
          <p:nvPr/>
        </p:nvPicPr>
        <p:blipFill>
          <a:blip r:embed="rId9"/>
          <a:stretch>
            <a:fillRect/>
          </a:stretch>
        </p:blipFill>
        <p:spPr>
          <a:xfrm>
            <a:off x="10568635" y="2930652"/>
            <a:ext cx="457200" cy="457200"/>
          </a:xfrm>
          <a:prstGeom prst="rect">
            <a:avLst/>
          </a:prstGeom>
        </p:spPr>
      </p:pic>
      <p:sp>
        <p:nvSpPr>
          <p:cNvPr id="42" name="Text 31"/>
          <p:cNvSpPr txBox="1"/>
          <p:nvPr/>
        </p:nvSpPr>
        <p:spPr>
          <a:xfrm>
            <a:off x="10088575" y="3479292"/>
            <a:ext cx="1417320" cy="822960"/>
          </a:xfrm>
          <a:prstGeom prst="rect">
            <a:avLst/>
          </a:prstGeom>
          <a:noFill/>
          <a:ln/>
        </p:spPr>
        <p:txBody>
          <a:bodyPr wrap="square" lIns="0" tIns="0" rIns="0" bIns="0" rtlCol="0" anchor="t"/>
          <a:lstStyle/>
          <a:p>
            <a:pPr algn="ctr" indent="0" marL="0">
              <a:buNone/>
            </a:pPr>
            <a:r>
              <a:rPr lang="en-US" sz="1200" b="1" dirty="0">
                <a:solidFill>
                  <a:schemeClr val="tx2"/>
                </a:solidFill>
              </a:rPr>
              <a:t>실행 화면 캡처</a:t>
            </a:r>
            <a:endParaRPr lang="en-US" sz="1400" dirty="0"/>
          </a:p>
          <a:p>
            <a:pPr algn="ctr" indent="0" marL="0">
              <a:buNone/>
            </a:pPr>
            <a:r>
              <a:rPr lang="en-US" sz="1100" dirty="0">
                <a:solidFill>
                  <a:schemeClr val="accent6"/>
                </a:solidFill>
              </a:rPr>
              <a:t>'찍을 수 없어요' 화면</a:t>
            </a:r>
            <a:endParaRPr lang="en-US" sz="1400" dirty="0"/>
          </a:p>
        </p:txBody>
      </p:sp>
      <p:sp>
        <p:nvSpPr>
          <p:cNvPr id="43" name="Text 32"/>
          <p:cNvSpPr/>
          <p:nvPr/>
        </p:nvSpPr>
        <p:spPr>
          <a:xfrm>
            <a:off x="9951415" y="5458968"/>
            <a:ext cx="292608" cy="292608"/>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44" name="Text 33"/>
          <p:cNvSpPr txBox="1"/>
          <p:nvPr/>
        </p:nvSpPr>
        <p:spPr>
          <a:xfrm>
            <a:off x="10317175" y="5321808"/>
            <a:ext cx="1371600" cy="566928"/>
          </a:xfrm>
          <a:prstGeom prst="rect">
            <a:avLst/>
          </a:prstGeom>
          <a:noFill/>
          <a:ln/>
        </p:spPr>
        <p:txBody>
          <a:bodyPr wrap="square" lIns="0" tIns="0" rIns="0" bIns="0" rtlCol="0" anchor="ctr"/>
          <a:lstStyle/>
          <a:p>
            <a:pPr indent="0" marL="0">
              <a:buNone/>
            </a:pPr>
            <a:r>
              <a:rPr lang="en-US" sz="1200" dirty="0">
                <a:solidFill>
                  <a:schemeClr val="tx1"/>
                </a:solidFill>
              </a:rPr>
              <a:t>못 찍으면 이유 선택</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tx2"/>
                </a:solidFill>
              </a:rPr>
              <a:t>실행 화면 · 담당자 웹</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tx1"/>
                </a:solidFill>
              </a:rPr>
              <a:t>담당자는 AI가 추린 사진을 보고 확정한다</a:t>
            </a:r>
            <a:endParaRPr lang="en-US" sz="3200" dirty="0"/>
          </a:p>
        </p:txBody>
      </p:sp>
      <p:sp>
        <p:nvSpPr>
          <p:cNvPr id="5" name="채우기 표시 - 완성 후 삭제"/>
          <p:cNvSpPr/>
          <p:nvPr/>
        </p:nvSpPr>
        <p:spPr>
          <a:xfrm>
            <a:off x="8988552" y="402336"/>
            <a:ext cx="2651760" cy="329184"/>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200" b="1" dirty="0">
                <a:solidFill>
                  <a:schemeClr val="bg1"/>
                </a:solidFill>
              </a:rPr>
              <a:t>✎ 웹 실행 화면 2장 넣기</a:t>
            </a:r>
            <a:endParaRPr lang="en-US" sz="1200" dirty="0"/>
          </a:p>
        </p:txBody>
      </p:sp>
      <p:sp>
        <p:nvSpPr>
          <p:cNvPr id="6" name="브라우저 틀"/>
          <p:cNvSpPr/>
          <p:nvPr/>
        </p:nvSpPr>
        <p:spPr>
          <a:xfrm>
            <a:off x="548640" y="1737360"/>
            <a:ext cx="5410048" cy="2651760"/>
          </a:xfrm>
          <a:prstGeom prst="roundRect">
            <a:avLst>
              <a:gd name="adj" fmla="val 2070"/>
            </a:avLst>
          </a:prstGeom>
          <a:solidFill>
            <a:schemeClr val="bg1"/>
          </a:solidFill>
          <a:ln w="19050">
            <a:solidFill>
              <a:schemeClr val="tx2"/>
            </a:solidFill>
            <a:prstDash val="solid"/>
          </a:ln>
          <a:effectLst>
            <a:outerShdw sx="100000" sy="100000" kx="0" ky="0" algn="bl" rotWithShape="0" blurRad="101600" dist="25400" dir="5400000">
              <a:srgbClr val="0E4C5A">
                <a:alpha val="10000"/>
              </a:srgbClr>
            </a:outerShdw>
          </a:effectLst>
        </p:spPr>
      </p:sp>
      <p:sp>
        <p:nvSpPr>
          <p:cNvPr id="7" name="Shape 5"/>
          <p:cNvSpPr/>
          <p:nvPr/>
        </p:nvSpPr>
        <p:spPr>
          <a:xfrm>
            <a:off x="566928" y="1755648"/>
            <a:ext cx="5373472" cy="219456"/>
          </a:xfrm>
          <a:prstGeom prst="rect">
            <a:avLst/>
          </a:prstGeom>
          <a:solidFill>
            <a:schemeClr val="accent5"/>
          </a:solidFill>
          <a:ln w="12700">
            <a:solidFill>
              <a:schemeClr val="accent5"/>
            </a:solidFill>
            <a:prstDash val="solid"/>
          </a:ln>
        </p:spPr>
      </p:sp>
      <p:sp>
        <p:nvSpPr>
          <p:cNvPr id="8" name="Shape 6"/>
          <p:cNvSpPr/>
          <p:nvPr/>
        </p:nvSpPr>
        <p:spPr>
          <a:xfrm>
            <a:off x="658368" y="1810512"/>
            <a:ext cx="91440" cy="91440"/>
          </a:xfrm>
          <a:prstGeom prst="ellipse">
            <a:avLst/>
          </a:prstGeom>
          <a:solidFill>
            <a:schemeClr val="accent6"/>
          </a:solidFill>
          <a:ln w="12700">
            <a:solidFill>
              <a:schemeClr val="accent6"/>
            </a:solidFill>
            <a:prstDash val="solid"/>
          </a:ln>
        </p:spPr>
      </p:sp>
      <p:sp>
        <p:nvSpPr>
          <p:cNvPr id="9" name="Shape 7"/>
          <p:cNvSpPr/>
          <p:nvPr/>
        </p:nvSpPr>
        <p:spPr>
          <a:xfrm>
            <a:off x="804672" y="1810512"/>
            <a:ext cx="91440" cy="91440"/>
          </a:xfrm>
          <a:prstGeom prst="ellipse">
            <a:avLst/>
          </a:prstGeom>
          <a:solidFill>
            <a:schemeClr val="accent6"/>
          </a:solidFill>
          <a:ln w="12700">
            <a:solidFill>
              <a:schemeClr val="accent6"/>
            </a:solidFill>
            <a:prstDash val="solid"/>
          </a:ln>
        </p:spPr>
      </p:sp>
      <p:sp>
        <p:nvSpPr>
          <p:cNvPr id="10" name="Shape 8"/>
          <p:cNvSpPr/>
          <p:nvPr/>
        </p:nvSpPr>
        <p:spPr>
          <a:xfrm>
            <a:off x="950976" y="1810512"/>
            <a:ext cx="91440" cy="91440"/>
          </a:xfrm>
          <a:prstGeom prst="ellipse">
            <a:avLst/>
          </a:prstGeom>
          <a:solidFill>
            <a:schemeClr val="accent6"/>
          </a:solidFill>
          <a:ln w="12700">
            <a:solidFill>
              <a:schemeClr val="accent6"/>
            </a:solidFill>
            <a:prstDash val="solid"/>
          </a:ln>
        </p:spPr>
      </p:sp>
      <p:sp>
        <p:nvSpPr>
          <p:cNvPr id="11" name="캡처 자리 - 실행 화면으로 교체"/>
          <p:cNvSpPr/>
          <p:nvPr/>
        </p:nvSpPr>
        <p:spPr>
          <a:xfrm>
            <a:off x="640080" y="2048256"/>
            <a:ext cx="5227168" cy="2249424"/>
          </a:xfrm>
          <a:prstGeom prst="rect">
            <a:avLst/>
          </a:prstGeom>
          <a:solidFill>
            <a:schemeClr val="bg2"/>
          </a:solidFill>
          <a:ln w="12700">
            <a:solidFill>
              <a:schemeClr val="accent2"/>
            </a:solidFill>
            <a:prstDash val="dash"/>
          </a:ln>
        </p:spPr>
      </p:sp>
      <p:pic>
        <p:nvPicPr>
          <p:cNvPr id="12" name="Image 0" descr="preencoded.png">    </p:cNvPr>
          <p:cNvPicPr>
            <a:picLocks noChangeAspect="1"/>
          </p:cNvPicPr>
          <p:nvPr/>
        </p:nvPicPr>
        <p:blipFill>
          <a:blip r:embed="rId1"/>
          <a:stretch>
            <a:fillRect/>
          </a:stretch>
        </p:blipFill>
        <p:spPr>
          <a:xfrm>
            <a:off x="3052496" y="2715768"/>
            <a:ext cx="402336" cy="402336"/>
          </a:xfrm>
          <a:prstGeom prst="rect">
            <a:avLst/>
          </a:prstGeom>
        </p:spPr>
      </p:pic>
      <p:sp>
        <p:nvSpPr>
          <p:cNvPr id="13" name="Text 10"/>
          <p:cNvSpPr txBox="1"/>
          <p:nvPr/>
        </p:nvSpPr>
        <p:spPr>
          <a:xfrm>
            <a:off x="731520" y="3172968"/>
            <a:ext cx="5044288" cy="548640"/>
          </a:xfrm>
          <a:prstGeom prst="rect">
            <a:avLst/>
          </a:prstGeom>
          <a:noFill/>
          <a:ln/>
        </p:spPr>
        <p:txBody>
          <a:bodyPr wrap="square" lIns="0" tIns="0" rIns="0" bIns="0" rtlCol="0" anchor="t"/>
          <a:lstStyle/>
          <a:p>
            <a:pPr algn="ctr" indent="0" marL="0">
              <a:buNone/>
            </a:pPr>
            <a:r>
              <a:rPr lang="en-US" sz="1200" b="1" dirty="0">
                <a:solidFill>
                  <a:schemeClr val="tx2"/>
                </a:solidFill>
              </a:rPr>
              <a:t>실행 화면 캡처</a:t>
            </a:r>
            <a:endParaRPr lang="en-US" sz="1400" dirty="0"/>
          </a:p>
          <a:p>
            <a:pPr algn="ctr" indent="0" marL="0">
              <a:buNone/>
            </a:pPr>
            <a:r>
              <a:rPr lang="en-US" sz="1100" dirty="0">
                <a:solidFill>
                  <a:schemeClr val="accent6"/>
                </a:solidFill>
              </a:rPr>
              <a:t>검토 목록 + 판독 상세 화면</a:t>
            </a:r>
            <a:endParaRPr lang="en-US" sz="1400" dirty="0"/>
          </a:p>
        </p:txBody>
      </p:sp>
      <p:sp>
        <p:nvSpPr>
          <p:cNvPr id="14" name="Text 11"/>
          <p:cNvSpPr/>
          <p:nvPr/>
        </p:nvSpPr>
        <p:spPr>
          <a:xfrm>
            <a:off x="548640" y="4617720"/>
            <a:ext cx="329184" cy="329184"/>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5" name="Text 12"/>
          <p:cNvSpPr txBox="1"/>
          <p:nvPr/>
        </p:nvSpPr>
        <p:spPr>
          <a:xfrm>
            <a:off x="987552" y="4617720"/>
            <a:ext cx="4952848" cy="329184"/>
          </a:xfrm>
          <a:prstGeom prst="rect">
            <a:avLst/>
          </a:prstGeom>
          <a:noFill/>
          <a:ln/>
        </p:spPr>
        <p:txBody>
          <a:bodyPr wrap="square" lIns="0" tIns="0" rIns="0" bIns="0" rtlCol="0" anchor="ctr"/>
          <a:lstStyle/>
          <a:p>
            <a:pPr indent="0" marL="0">
              <a:buNone/>
            </a:pPr>
            <a:r>
              <a:rPr lang="en-US" sz="1600" b="1" dirty="0">
                <a:solidFill>
                  <a:schemeClr val="tx1"/>
                </a:solidFill>
              </a:rPr>
              <a:t>검토 목록과 AI 판독 근거</a:t>
            </a:r>
            <a:endParaRPr lang="en-US" sz="1600" dirty="0"/>
          </a:p>
        </p:txBody>
      </p:sp>
      <p:sp>
        <p:nvSpPr>
          <p:cNvPr id="16" name="Text 13"/>
          <p:cNvSpPr txBox="1"/>
          <p:nvPr/>
        </p:nvSpPr>
        <p:spPr>
          <a:xfrm>
            <a:off x="548640" y="5047488"/>
            <a:ext cx="5410048" cy="411480"/>
          </a:xfrm>
          <a:prstGeom prst="rect">
            <a:avLst/>
          </a:prstGeom>
          <a:noFill/>
          <a:ln/>
        </p:spPr>
        <p:txBody>
          <a:bodyPr wrap="square" lIns="0" tIns="0" rIns="0" bIns="0" rtlCol="0" anchor="t"/>
          <a:lstStyle/>
          <a:p>
            <a:pPr indent="0" marL="0">
              <a:buNone/>
            </a:pPr>
            <a:r>
              <a:rPr lang="en-US" sz="1400" dirty="0">
                <a:solidFill>
                  <a:schemeClr val="accent6"/>
                </a:solidFill>
              </a:rPr>
              <a:t>AI가 '확인 필요'로 올린 사진을 근거와 함께 보고 판정</a:t>
            </a:r>
            <a:endParaRPr lang="en-US" sz="1400" dirty="0"/>
          </a:p>
        </p:txBody>
      </p:sp>
      <p:sp>
        <p:nvSpPr>
          <p:cNvPr id="28" name="브라우저 틀"/>
          <p:cNvSpPr/>
          <p:nvPr/>
        </p:nvSpPr>
        <p:spPr>
          <a:xfrm>
            <a:off x="6233008" y="1737360"/>
            <a:ext cx="5410048" cy="2651760"/>
          </a:xfrm>
          <a:prstGeom prst="roundRect">
            <a:avLst>
              <a:gd name="adj" fmla="val 2070"/>
            </a:avLst>
          </a:prstGeom>
          <a:solidFill>
            <a:schemeClr val="bg1"/>
          </a:solidFill>
          <a:ln w="19050">
            <a:solidFill>
              <a:schemeClr val="tx2"/>
            </a:solidFill>
            <a:prstDash val="solid"/>
          </a:ln>
          <a:effectLst>
            <a:outerShdw sx="100000" sy="100000" kx="0" ky="0" algn="bl" rotWithShape="0" blurRad="101600" dist="25400" dir="5400000">
              <a:srgbClr val="0E4C5A">
                <a:alpha val="10000"/>
              </a:srgbClr>
            </a:outerShdw>
          </a:effectLst>
        </p:spPr>
      </p:sp>
      <p:sp>
        <p:nvSpPr>
          <p:cNvPr id="29" name="Shape 25"/>
          <p:cNvSpPr/>
          <p:nvPr/>
        </p:nvSpPr>
        <p:spPr>
          <a:xfrm>
            <a:off x="6251296" y="1755648"/>
            <a:ext cx="5373472" cy="219456"/>
          </a:xfrm>
          <a:prstGeom prst="rect">
            <a:avLst/>
          </a:prstGeom>
          <a:solidFill>
            <a:schemeClr val="accent5"/>
          </a:solidFill>
          <a:ln w="12700">
            <a:solidFill>
              <a:schemeClr val="accent5"/>
            </a:solidFill>
            <a:prstDash val="solid"/>
          </a:ln>
        </p:spPr>
      </p:sp>
      <p:sp>
        <p:nvSpPr>
          <p:cNvPr id="30" name="Shape 26"/>
          <p:cNvSpPr/>
          <p:nvPr/>
        </p:nvSpPr>
        <p:spPr>
          <a:xfrm>
            <a:off x="6342736" y="1810512"/>
            <a:ext cx="91440" cy="91440"/>
          </a:xfrm>
          <a:prstGeom prst="ellipse">
            <a:avLst/>
          </a:prstGeom>
          <a:solidFill>
            <a:schemeClr val="accent6"/>
          </a:solidFill>
          <a:ln w="12700">
            <a:solidFill>
              <a:schemeClr val="accent6"/>
            </a:solidFill>
            <a:prstDash val="solid"/>
          </a:ln>
        </p:spPr>
      </p:sp>
      <p:sp>
        <p:nvSpPr>
          <p:cNvPr id="31" name="Shape 27"/>
          <p:cNvSpPr/>
          <p:nvPr/>
        </p:nvSpPr>
        <p:spPr>
          <a:xfrm>
            <a:off x="6489040" y="1810512"/>
            <a:ext cx="91440" cy="91440"/>
          </a:xfrm>
          <a:prstGeom prst="ellipse">
            <a:avLst/>
          </a:prstGeom>
          <a:solidFill>
            <a:schemeClr val="accent6"/>
          </a:solidFill>
          <a:ln w="12700">
            <a:solidFill>
              <a:schemeClr val="accent6"/>
            </a:solidFill>
            <a:prstDash val="solid"/>
          </a:ln>
        </p:spPr>
      </p:sp>
      <p:sp>
        <p:nvSpPr>
          <p:cNvPr id="32" name="Shape 28"/>
          <p:cNvSpPr/>
          <p:nvPr/>
        </p:nvSpPr>
        <p:spPr>
          <a:xfrm>
            <a:off x="6635344" y="1810512"/>
            <a:ext cx="91440" cy="91440"/>
          </a:xfrm>
          <a:prstGeom prst="ellipse">
            <a:avLst/>
          </a:prstGeom>
          <a:solidFill>
            <a:schemeClr val="accent6"/>
          </a:solidFill>
          <a:ln w="12700">
            <a:solidFill>
              <a:schemeClr val="accent6"/>
            </a:solidFill>
            <a:prstDash val="solid"/>
          </a:ln>
        </p:spPr>
      </p:sp>
      <p:sp>
        <p:nvSpPr>
          <p:cNvPr id="33" name="캡처 자리 - 실행 화면으로 교체"/>
          <p:cNvSpPr/>
          <p:nvPr/>
        </p:nvSpPr>
        <p:spPr>
          <a:xfrm>
            <a:off x="6324448" y="2048256"/>
            <a:ext cx="5227168" cy="2249424"/>
          </a:xfrm>
          <a:prstGeom prst="rect">
            <a:avLst/>
          </a:prstGeom>
          <a:solidFill>
            <a:schemeClr val="bg2"/>
          </a:solidFill>
          <a:ln w="12700">
            <a:solidFill>
              <a:schemeClr val="accent2"/>
            </a:solidFill>
            <a:prstDash val="dash"/>
          </a:ln>
        </p:spPr>
      </p:sp>
      <p:pic>
        <p:nvPicPr>
          <p:cNvPr id="34" name="Image 2" descr="preencoded.png">    </p:cNvPr>
          <p:cNvPicPr>
            <a:picLocks noChangeAspect="1"/>
          </p:cNvPicPr>
          <p:nvPr/>
        </p:nvPicPr>
        <p:blipFill>
          <a:blip r:embed="rId3"/>
          <a:stretch>
            <a:fillRect/>
          </a:stretch>
        </p:blipFill>
        <p:spPr>
          <a:xfrm>
            <a:off x="8736863" y="2715768"/>
            <a:ext cx="402336" cy="402336"/>
          </a:xfrm>
          <a:prstGeom prst="rect">
            <a:avLst/>
          </a:prstGeom>
        </p:spPr>
      </p:pic>
      <p:sp>
        <p:nvSpPr>
          <p:cNvPr id="35" name="Text 30"/>
          <p:cNvSpPr txBox="1"/>
          <p:nvPr/>
        </p:nvSpPr>
        <p:spPr>
          <a:xfrm>
            <a:off x="6415888" y="3172968"/>
            <a:ext cx="5044288" cy="548640"/>
          </a:xfrm>
          <a:prstGeom prst="rect">
            <a:avLst/>
          </a:prstGeom>
          <a:noFill/>
          <a:ln/>
        </p:spPr>
        <p:txBody>
          <a:bodyPr wrap="square" lIns="0" tIns="0" rIns="0" bIns="0" rtlCol="0" anchor="t"/>
          <a:lstStyle/>
          <a:p>
            <a:pPr algn="ctr" indent="0" marL="0">
              <a:buNone/>
            </a:pPr>
            <a:r>
              <a:rPr lang="en-US" sz="1200" b="1" dirty="0">
                <a:solidFill>
                  <a:schemeClr val="tx2"/>
                </a:solidFill>
              </a:rPr>
              <a:t>실행 화면 캡처</a:t>
            </a:r>
            <a:endParaRPr lang="en-US" sz="1400" dirty="0"/>
          </a:p>
          <a:p>
            <a:pPr algn="ctr" indent="0" marL="0">
              <a:buNone/>
            </a:pPr>
            <a:r>
              <a:rPr lang="en-US" sz="1100" dirty="0">
                <a:solidFill>
                  <a:schemeClr val="accent6"/>
                </a:solidFill>
              </a:rPr>
              <a:t>주간 점검 보고 화면</a:t>
            </a:r>
            <a:endParaRPr lang="en-US" sz="1400" dirty="0"/>
          </a:p>
        </p:txBody>
      </p:sp>
      <p:sp>
        <p:nvSpPr>
          <p:cNvPr id="36" name="Text 31"/>
          <p:cNvSpPr/>
          <p:nvPr/>
        </p:nvSpPr>
        <p:spPr>
          <a:xfrm>
            <a:off x="6233008" y="4617720"/>
            <a:ext cx="329184" cy="329184"/>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7" name="Text 32"/>
          <p:cNvSpPr txBox="1"/>
          <p:nvPr/>
        </p:nvSpPr>
        <p:spPr>
          <a:xfrm>
            <a:off x="6671920" y="4617720"/>
            <a:ext cx="4952848" cy="329184"/>
          </a:xfrm>
          <a:prstGeom prst="rect">
            <a:avLst/>
          </a:prstGeom>
          <a:noFill/>
          <a:ln/>
        </p:spPr>
        <p:txBody>
          <a:bodyPr wrap="square" lIns="0" tIns="0" rIns="0" bIns="0" rtlCol="0" anchor="ctr"/>
          <a:lstStyle/>
          <a:p>
            <a:pPr indent="0" marL="0">
              <a:buNone/>
            </a:pPr>
            <a:r>
              <a:rPr lang="en-US" sz="1600" b="1" dirty="0">
                <a:solidFill>
                  <a:schemeClr val="tx1"/>
                </a:solidFill>
              </a:rPr>
              <a:t>주간 보고와 활동 기록</a:t>
            </a:r>
            <a:endParaRPr lang="en-US" sz="1600" dirty="0"/>
          </a:p>
        </p:txBody>
      </p:sp>
      <p:sp>
        <p:nvSpPr>
          <p:cNvPr id="38" name="Text 33"/>
          <p:cNvSpPr txBox="1"/>
          <p:nvPr/>
        </p:nvSpPr>
        <p:spPr>
          <a:xfrm>
            <a:off x="6233008" y="5047488"/>
            <a:ext cx="5410048" cy="411480"/>
          </a:xfrm>
          <a:prstGeom prst="rect">
            <a:avLst/>
          </a:prstGeom>
          <a:noFill/>
          <a:ln/>
        </p:spPr>
        <p:txBody>
          <a:bodyPr wrap="square" lIns="0" tIns="0" rIns="0" bIns="0" rtlCol="0" anchor="t"/>
          <a:lstStyle/>
          <a:p>
            <a:pPr indent="0" marL="0">
              <a:buNone/>
            </a:pPr>
            <a:r>
              <a:rPr lang="en-US" sz="1400" dirty="0">
                <a:solidFill>
                  <a:schemeClr val="accent6"/>
                </a:solidFill>
              </a:rPr>
              <a:t>출석·출발·복귀 기록과 주간 점검 현황을 시스템이 자동 집계</a:t>
            </a:r>
            <a:endParaRPr lang="en-US" sz="1400" dirty="0"/>
          </a:p>
        </p:txBody>
      </p:sp>
      <p:sp>
        <p:nvSpPr>
          <p:cNvPr id="39" name="안내 상자"/>
          <p:cNvSpPr/>
          <p:nvPr/>
        </p:nvSpPr>
        <p:spPr>
          <a:xfrm>
            <a:off x="548640" y="5669280"/>
            <a:ext cx="11094415" cy="530352"/>
          </a:xfrm>
          <a:prstGeom prst="roundRect">
            <a:avLst>
              <a:gd name="adj" fmla="val 13793"/>
            </a:avLst>
          </a:prstGeom>
          <a:solidFill>
            <a:schemeClr val="accent5"/>
          </a:solidFill>
          <a:ln w="12700">
            <a:solidFill>
              <a:schemeClr val="accent5"/>
            </a:solidFill>
            <a:prstDash val="solid"/>
          </a:ln>
        </p:spPr>
      </p:sp>
      <p:pic>
        <p:nvPicPr>
          <p:cNvPr id="40" name="Image 3" descr="preencoded.png">    </p:cNvPr>
          <p:cNvPicPr>
            <a:picLocks noChangeAspect="1"/>
          </p:cNvPicPr>
          <p:nvPr/>
        </p:nvPicPr>
        <p:blipFill>
          <a:blip r:embed="rId4"/>
          <a:stretch>
            <a:fillRect/>
          </a:stretch>
        </p:blipFill>
        <p:spPr>
          <a:xfrm>
            <a:off x="749808" y="5779008"/>
            <a:ext cx="310896" cy="310896"/>
          </a:xfrm>
          <a:prstGeom prst="rect">
            <a:avLst/>
          </a:prstGeom>
        </p:spPr>
      </p:pic>
      <p:sp>
        <p:nvSpPr>
          <p:cNvPr id="41" name="Text 35"/>
          <p:cNvSpPr txBox="1"/>
          <p:nvPr/>
        </p:nvSpPr>
        <p:spPr>
          <a:xfrm>
            <a:off x="1188720" y="5669280"/>
            <a:ext cx="10271455" cy="530352"/>
          </a:xfrm>
          <a:prstGeom prst="rect">
            <a:avLst/>
          </a:prstGeom>
          <a:noFill/>
          <a:ln/>
        </p:spPr>
        <p:txBody>
          <a:bodyPr wrap="square" lIns="0" tIns="0" rIns="0" bIns="0" rtlCol="0" anchor="ctr"/>
          <a:lstStyle/>
          <a:p>
            <a:pPr indent="0" marL="0">
              <a:buNone/>
            </a:pPr>
            <a:r>
              <a:rPr lang="en-US" sz="1400" b="1" dirty="0">
                <a:solidFill>
                  <a:schemeClr val="tx2"/>
                </a:solidFill>
              </a:rPr>
              <a:t>AI 결과는 담당자가 판정하기 전까지 '제안'으로만 저장된다</a:t>
            </a:r>
            <a:endParaRPr lang="en-US" sz="14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4C5A"/>
        </a:solidFill>
        <a:effectLst/>
      </p:bgPr>
    </p:bg>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accent1"/>
                </a:solidFill>
              </a:rPr>
              <a:t>시연</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bg1"/>
                </a:solidFill>
              </a:rPr>
              <a:t>실제 동작 시연</a:t>
            </a:r>
            <a:endParaRPr lang="en-US" sz="3200" dirty="0"/>
          </a:p>
        </p:txBody>
      </p:sp>
      <p:sp>
        <p:nvSpPr>
          <p:cNvPr id="5" name="채우기 표시 - 완성 후 삭제"/>
          <p:cNvSpPr/>
          <p:nvPr/>
        </p:nvSpPr>
        <p:spPr>
          <a:xfrm>
            <a:off x="8988552" y="402336"/>
            <a:ext cx="2651760" cy="329184"/>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200" b="1" dirty="0">
                <a:solidFill>
                  <a:schemeClr val="bg1"/>
                </a:solidFill>
              </a:rPr>
              <a:t>✎ 시연 영상·링크 넣기</a:t>
            </a:r>
            <a:endParaRPr lang="en-US" sz="1200" dirty="0"/>
          </a:p>
        </p:txBody>
      </p:sp>
      <p:sp>
        <p:nvSpPr>
          <p:cNvPr id="6" name="영상 자리 - 시연 영상으로 교체"/>
          <p:cNvSpPr/>
          <p:nvPr/>
        </p:nvSpPr>
        <p:spPr>
          <a:xfrm>
            <a:off x="548640" y="1691640"/>
            <a:ext cx="7589520" cy="4269105"/>
          </a:xfrm>
          <a:prstGeom prst="rect">
            <a:avLst/>
          </a:prstGeom>
          <a:solidFill>
            <a:schemeClr val="tx1"/>
          </a:solidFill>
          <a:ln w="19050">
            <a:solidFill>
              <a:schemeClr val="accent1"/>
            </a:solidFill>
            <a:prstDash val="dash"/>
          </a:ln>
        </p:spPr>
      </p:sp>
      <p:sp>
        <p:nvSpPr>
          <p:cNvPr id="7" name="재생 원"/>
          <p:cNvSpPr/>
          <p:nvPr/>
        </p:nvSpPr>
        <p:spPr>
          <a:xfrm>
            <a:off x="3931920" y="3048953"/>
            <a:ext cx="822960" cy="822960"/>
          </a:xfrm>
          <a:prstGeom prst="ellipse">
            <a:avLst/>
          </a:prstGeom>
          <a:solidFill>
            <a:schemeClr val="accent1"/>
          </a:solidFill>
          <a:ln w="12700">
            <a:solidFill>
              <a:schemeClr val="accent1"/>
            </a:solidFill>
            <a:prstDash val="solid"/>
          </a:ln>
        </p:spPr>
      </p:sp>
      <p:pic>
        <p:nvPicPr>
          <p:cNvPr id="8" name="재생 아이콘" descr="preencoded.png">    </p:cNvPr>
          <p:cNvPicPr>
            <a:picLocks noChangeAspect="1"/>
          </p:cNvPicPr>
          <p:nvPr/>
        </p:nvPicPr>
        <p:blipFill>
          <a:blip r:embed="rId1"/>
          <a:stretch>
            <a:fillRect/>
          </a:stretch>
        </p:blipFill>
        <p:spPr>
          <a:xfrm>
            <a:off x="4112971" y="3230004"/>
            <a:ext cx="460858" cy="460858"/>
          </a:xfrm>
          <a:prstGeom prst="rect">
            <a:avLst/>
          </a:prstGeom>
        </p:spPr>
      </p:pic>
      <p:sp>
        <p:nvSpPr>
          <p:cNvPr id="9" name="Text 6"/>
          <p:cNvSpPr txBox="1"/>
          <p:nvPr/>
        </p:nvSpPr>
        <p:spPr>
          <a:xfrm>
            <a:off x="1463040" y="4009073"/>
            <a:ext cx="5760720" cy="731520"/>
          </a:xfrm>
          <a:prstGeom prst="rect">
            <a:avLst/>
          </a:prstGeom>
          <a:noFill/>
          <a:ln/>
        </p:spPr>
        <p:txBody>
          <a:bodyPr wrap="square" lIns="0" tIns="0" rIns="0" bIns="0" rtlCol="0" anchor="t"/>
          <a:lstStyle/>
          <a:p>
            <a:pPr algn="ctr" indent="0" marL="0">
              <a:buNone/>
            </a:pPr>
            <a:r>
              <a:rPr lang="en-US" sz="1800" b="1" dirty="0">
                <a:solidFill>
                  <a:schemeClr val="bg1"/>
                </a:solidFill>
              </a:rPr>
              <a:t>시연 영상(2~3분)</a:t>
            </a:r>
            <a:endParaRPr lang="en-US" sz="1400" dirty="0"/>
          </a:p>
          <a:p>
            <a:pPr algn="ctr" indent="0" marL="0">
              <a:buNone/>
            </a:pPr>
            <a:r>
              <a:rPr lang="en-US" sz="1200" dirty="0">
                <a:solidFill>
                  <a:schemeClr val="accent5"/>
                </a:solidFill>
              </a:rPr>
              <a:t>삽입 → 비디오 → 이 디바이스, 재생은 '자동 실행'</a:t>
            </a:r>
            <a:endParaRPr lang="en-US" sz="1400" dirty="0"/>
          </a:p>
        </p:txBody>
      </p:sp>
      <p:sp>
        <p:nvSpPr>
          <p:cNvPr id="10" name="Text 7"/>
          <p:cNvSpPr txBox="1"/>
          <p:nvPr/>
        </p:nvSpPr>
        <p:spPr>
          <a:xfrm>
            <a:off x="548640" y="6097905"/>
            <a:ext cx="7589520" cy="292608"/>
          </a:xfrm>
          <a:prstGeom prst="rect">
            <a:avLst/>
          </a:prstGeom>
          <a:noFill/>
          <a:ln/>
        </p:spPr>
        <p:txBody>
          <a:bodyPr wrap="square" lIns="0" tIns="0" rIns="0" bIns="0" rtlCol="0" anchor="t"/>
          <a:lstStyle/>
          <a:p>
            <a:pPr indent="0" marL="0">
              <a:buNone/>
            </a:pPr>
            <a:r>
              <a:rPr lang="en-US" sz="1200" b="1" dirty="0">
                <a:solidFill>
                  <a:schemeClr val="accent1"/>
                </a:solidFill>
              </a:rPr>
              <a:t>영상 링크: </a:t>
            </a:r>
            <a:pPr indent="0" marL="0">
              <a:buNone/>
            </a:pPr>
            <a:r>
              <a:rPr lang="en-US" sz="1200" dirty="0">
                <a:solidFill>
                  <a:schemeClr val="accent5"/>
                </a:solidFill>
              </a:rPr>
              <a:t>https:// (PDF에서는 영상이 재생되지 않으니 링크를 함께 적기)</a:t>
            </a:r>
            <a:endParaRPr lang="en-US" sz="1200" dirty="0"/>
          </a:p>
        </p:txBody>
      </p:sp>
      <p:sp>
        <p:nvSpPr>
          <p:cNvPr id="11" name="Text 8"/>
          <p:cNvSpPr txBox="1"/>
          <p:nvPr/>
        </p:nvSpPr>
        <p:spPr>
          <a:xfrm>
            <a:off x="8549640" y="1691640"/>
            <a:ext cx="3093415" cy="365760"/>
          </a:xfrm>
          <a:prstGeom prst="rect">
            <a:avLst/>
          </a:prstGeom>
          <a:noFill/>
          <a:ln/>
        </p:spPr>
        <p:txBody>
          <a:bodyPr wrap="square" lIns="0" tIns="0" rIns="0" bIns="0" rtlCol="0" anchor="t"/>
          <a:lstStyle/>
          <a:p>
            <a:pPr indent="0" marL="0">
              <a:buNone/>
            </a:pPr>
            <a:r>
              <a:rPr lang="en-US" sz="1700" b="1" dirty="0">
                <a:solidFill>
                  <a:schemeClr val="accent1"/>
                </a:solidFill>
              </a:rPr>
              <a:t>시연 흐름</a:t>
            </a:r>
            <a:endParaRPr lang="en-US" sz="1700" dirty="0"/>
          </a:p>
        </p:txBody>
      </p:sp>
      <p:sp>
        <p:nvSpPr>
          <p:cNvPr id="12" name="Text 9"/>
          <p:cNvSpPr/>
          <p:nvPr/>
        </p:nvSpPr>
        <p:spPr>
          <a:xfrm>
            <a:off x="8549640" y="2212848"/>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13" name="Text 10"/>
          <p:cNvSpPr txBox="1"/>
          <p:nvPr/>
        </p:nvSpPr>
        <p:spPr>
          <a:xfrm>
            <a:off x="9006840" y="2157984"/>
            <a:ext cx="2636215" cy="438912"/>
          </a:xfrm>
          <a:prstGeom prst="rect">
            <a:avLst/>
          </a:prstGeom>
          <a:noFill/>
          <a:ln/>
        </p:spPr>
        <p:txBody>
          <a:bodyPr wrap="square" lIns="0" tIns="0" rIns="0" bIns="0" rtlCol="0" anchor="ctr"/>
          <a:lstStyle/>
          <a:p>
            <a:pPr indent="0" marL="0">
              <a:buNone/>
            </a:pPr>
            <a:r>
              <a:rPr lang="en-US" sz="1300" dirty="0">
                <a:solidFill>
                  <a:schemeClr val="bg1"/>
                </a:solidFill>
              </a:rPr>
              <a:t>출석 요청 → 활동 담당자 확인</a:t>
            </a:r>
            <a:endParaRPr lang="en-US" sz="1300" dirty="0"/>
          </a:p>
        </p:txBody>
      </p:sp>
      <p:sp>
        <p:nvSpPr>
          <p:cNvPr id="14" name="Shape 11"/>
          <p:cNvSpPr/>
          <p:nvPr/>
        </p:nvSpPr>
        <p:spPr>
          <a:xfrm>
            <a:off x="8714232" y="2560320"/>
            <a:ext cx="0" cy="457200"/>
          </a:xfrm>
          <a:prstGeom prst="line">
            <a:avLst/>
          </a:prstGeom>
          <a:noFill/>
          <a:ln w="12700">
            <a:solidFill>
              <a:schemeClr val="accent5">
                <a:alpha val="60000"/>
              </a:schemeClr>
            </a:solidFill>
            <a:prstDash val="solid"/>
          </a:ln>
        </p:spPr>
      </p:sp>
      <p:sp>
        <p:nvSpPr>
          <p:cNvPr id="15" name="Text 12"/>
          <p:cNvSpPr/>
          <p:nvPr/>
        </p:nvSpPr>
        <p:spPr>
          <a:xfrm>
            <a:off x="8549640" y="3035808"/>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6" name="Text 13"/>
          <p:cNvSpPr txBox="1"/>
          <p:nvPr/>
        </p:nvSpPr>
        <p:spPr>
          <a:xfrm>
            <a:off x="9006840" y="2980944"/>
            <a:ext cx="2636215" cy="438912"/>
          </a:xfrm>
          <a:prstGeom prst="rect">
            <a:avLst/>
          </a:prstGeom>
          <a:noFill/>
          <a:ln/>
        </p:spPr>
        <p:txBody>
          <a:bodyPr wrap="square" lIns="0" tIns="0" rIns="0" bIns="0" rtlCol="0" anchor="ctr"/>
          <a:lstStyle/>
          <a:p>
            <a:pPr indent="0" marL="0">
              <a:buNone/>
            </a:pPr>
            <a:r>
              <a:rPr lang="en-US" sz="1300" dirty="0">
                <a:solidFill>
                  <a:schemeClr val="bg1"/>
                </a:solidFill>
              </a:rPr>
              <a:t>장소 안내 → 참고 사진대로 촬영</a:t>
            </a:r>
            <a:endParaRPr lang="en-US" sz="1300" dirty="0"/>
          </a:p>
        </p:txBody>
      </p:sp>
      <p:sp>
        <p:nvSpPr>
          <p:cNvPr id="17" name="Shape 14"/>
          <p:cNvSpPr/>
          <p:nvPr/>
        </p:nvSpPr>
        <p:spPr>
          <a:xfrm>
            <a:off x="8714232" y="3383280"/>
            <a:ext cx="0" cy="457200"/>
          </a:xfrm>
          <a:prstGeom prst="line">
            <a:avLst/>
          </a:prstGeom>
          <a:noFill/>
          <a:ln w="12700">
            <a:solidFill>
              <a:schemeClr val="accent5">
                <a:alpha val="60000"/>
              </a:schemeClr>
            </a:solidFill>
            <a:prstDash val="solid"/>
          </a:ln>
        </p:spPr>
      </p:sp>
      <p:sp>
        <p:nvSpPr>
          <p:cNvPr id="18" name="Text 15"/>
          <p:cNvSpPr/>
          <p:nvPr/>
        </p:nvSpPr>
        <p:spPr>
          <a:xfrm>
            <a:off x="8549640" y="3858768"/>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9" name="Text 16"/>
          <p:cNvSpPr txBox="1"/>
          <p:nvPr/>
        </p:nvSpPr>
        <p:spPr>
          <a:xfrm>
            <a:off x="9006840" y="3803904"/>
            <a:ext cx="2636215" cy="438912"/>
          </a:xfrm>
          <a:prstGeom prst="rect">
            <a:avLst/>
          </a:prstGeom>
          <a:noFill/>
          <a:ln/>
        </p:spPr>
        <p:txBody>
          <a:bodyPr wrap="square" lIns="0" tIns="0" rIns="0" bIns="0" rtlCol="0" anchor="ctr"/>
          <a:lstStyle/>
          <a:p>
            <a:pPr indent="0" marL="0">
              <a:buNone/>
            </a:pPr>
            <a:r>
              <a:rPr lang="en-US" sz="1300" dirty="0">
                <a:solidFill>
                  <a:schemeClr val="bg1"/>
                </a:solidFill>
              </a:rPr>
              <a:t>얼굴·번호판 가림, 품질 확인</a:t>
            </a:r>
            <a:endParaRPr lang="en-US" sz="1300" dirty="0"/>
          </a:p>
        </p:txBody>
      </p:sp>
      <p:sp>
        <p:nvSpPr>
          <p:cNvPr id="20" name="Shape 17"/>
          <p:cNvSpPr/>
          <p:nvPr/>
        </p:nvSpPr>
        <p:spPr>
          <a:xfrm>
            <a:off x="8714232" y="4206240"/>
            <a:ext cx="0" cy="457200"/>
          </a:xfrm>
          <a:prstGeom prst="line">
            <a:avLst/>
          </a:prstGeom>
          <a:noFill/>
          <a:ln w="12700">
            <a:solidFill>
              <a:schemeClr val="accent5">
                <a:alpha val="60000"/>
              </a:schemeClr>
            </a:solidFill>
            <a:prstDash val="solid"/>
          </a:ln>
        </p:spPr>
      </p:sp>
      <p:sp>
        <p:nvSpPr>
          <p:cNvPr id="21" name="Text 18"/>
          <p:cNvSpPr/>
          <p:nvPr/>
        </p:nvSpPr>
        <p:spPr>
          <a:xfrm>
            <a:off x="8549640" y="4681728"/>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22" name="Text 19"/>
          <p:cNvSpPr txBox="1"/>
          <p:nvPr/>
        </p:nvSpPr>
        <p:spPr>
          <a:xfrm>
            <a:off x="9006840" y="4626864"/>
            <a:ext cx="2636215" cy="438912"/>
          </a:xfrm>
          <a:prstGeom prst="rect">
            <a:avLst/>
          </a:prstGeom>
          <a:noFill/>
          <a:ln/>
        </p:spPr>
        <p:txBody>
          <a:bodyPr wrap="square" lIns="0" tIns="0" rIns="0" bIns="0" rtlCol="0" anchor="ctr"/>
          <a:lstStyle/>
          <a:p>
            <a:pPr indent="0" marL="0">
              <a:buNone/>
            </a:pPr>
            <a:r>
              <a:rPr lang="en-US" sz="1300" dirty="0">
                <a:solidFill>
                  <a:schemeClr val="bg1"/>
                </a:solidFill>
              </a:rPr>
              <a:t>AI 판독 → 담당자 검토 목록</a:t>
            </a:r>
            <a:endParaRPr lang="en-US" sz="1300" dirty="0"/>
          </a:p>
        </p:txBody>
      </p:sp>
      <p:sp>
        <p:nvSpPr>
          <p:cNvPr id="23" name="Shape 20"/>
          <p:cNvSpPr/>
          <p:nvPr/>
        </p:nvSpPr>
        <p:spPr>
          <a:xfrm>
            <a:off x="8714232" y="5029200"/>
            <a:ext cx="0" cy="457200"/>
          </a:xfrm>
          <a:prstGeom prst="line">
            <a:avLst/>
          </a:prstGeom>
          <a:noFill/>
          <a:ln w="12700">
            <a:solidFill>
              <a:schemeClr val="accent5">
                <a:alpha val="60000"/>
              </a:schemeClr>
            </a:solidFill>
            <a:prstDash val="solid"/>
          </a:ln>
        </p:spPr>
      </p:sp>
      <p:sp>
        <p:nvSpPr>
          <p:cNvPr id="24" name="Text 21"/>
          <p:cNvSpPr/>
          <p:nvPr/>
        </p:nvSpPr>
        <p:spPr>
          <a:xfrm>
            <a:off x="8549640" y="5504688"/>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25" name="Text 22"/>
          <p:cNvSpPr txBox="1"/>
          <p:nvPr/>
        </p:nvSpPr>
        <p:spPr>
          <a:xfrm>
            <a:off x="9006840" y="5449824"/>
            <a:ext cx="2636215" cy="438912"/>
          </a:xfrm>
          <a:prstGeom prst="rect">
            <a:avLst/>
          </a:prstGeom>
          <a:noFill/>
          <a:ln/>
        </p:spPr>
        <p:txBody>
          <a:bodyPr wrap="square" lIns="0" tIns="0" rIns="0" bIns="0" rtlCol="0" anchor="ctr"/>
          <a:lstStyle/>
          <a:p>
            <a:pPr indent="0" marL="0">
              <a:buNone/>
            </a:pPr>
            <a:r>
              <a:rPr lang="en-US" sz="1300" dirty="0">
                <a:solidFill>
                  <a:schemeClr val="bg1"/>
                </a:solidFill>
              </a:rPr>
              <a:t>이상 확정 → 관리 부서 보수 요청</a:t>
            </a:r>
            <a:endParaRPr lang="en-US" sz="13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tx2"/>
                </a:solidFill>
              </a:rPr>
              <a:t>AI 활용</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tx1"/>
                </a:solidFill>
              </a:rPr>
              <a:t>AI는 판단이 필요한 곳에만 쓴다</a:t>
            </a:r>
            <a:endParaRPr lang="en-US" sz="3200" dirty="0"/>
          </a:p>
        </p:txBody>
      </p:sp>
      <p:sp>
        <p:nvSpPr>
          <p:cNvPr id="5" name="AI가 맡는 일 열"/>
          <p:cNvSpPr/>
          <p:nvPr/>
        </p:nvSpPr>
        <p:spPr>
          <a:xfrm>
            <a:off x="548640" y="1737360"/>
            <a:ext cx="3514344" cy="3931920"/>
          </a:xfrm>
          <a:prstGeom prst="roundRect">
            <a:avLst>
              <a:gd name="adj" fmla="val 1860"/>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6" name="AI가 맡는 일 원"/>
          <p:cNvSpPr/>
          <p:nvPr/>
        </p:nvSpPr>
        <p:spPr>
          <a:xfrm>
            <a:off x="777240" y="1965960"/>
            <a:ext cx="548640" cy="548640"/>
          </a:xfrm>
          <a:prstGeom prst="ellipse">
            <a:avLst/>
          </a:prstGeom>
          <a:solidFill>
            <a:schemeClr val="accent1"/>
          </a:solidFill>
          <a:ln w="12700">
            <a:solidFill>
              <a:schemeClr val="accent1"/>
            </a:solidFill>
            <a:prstDash val="solid"/>
          </a:ln>
        </p:spPr>
      </p:sp>
      <p:pic>
        <p:nvPicPr>
          <p:cNvPr id="7" name="AI가 맡는 일 아이콘" descr="preencoded.png">    </p:cNvPr>
          <p:cNvPicPr>
            <a:picLocks noChangeAspect="1"/>
          </p:cNvPicPr>
          <p:nvPr/>
        </p:nvPicPr>
        <p:blipFill>
          <a:blip r:embed="rId1"/>
          <a:stretch>
            <a:fillRect/>
          </a:stretch>
        </p:blipFill>
        <p:spPr>
          <a:xfrm>
            <a:off x="897941" y="2086661"/>
            <a:ext cx="307238" cy="307238"/>
          </a:xfrm>
          <a:prstGeom prst="rect">
            <a:avLst/>
          </a:prstGeom>
        </p:spPr>
      </p:pic>
      <p:sp>
        <p:nvSpPr>
          <p:cNvPr id="8" name="Text 5"/>
          <p:cNvSpPr txBox="1"/>
          <p:nvPr/>
        </p:nvSpPr>
        <p:spPr>
          <a:xfrm>
            <a:off x="1463040" y="1956816"/>
            <a:ext cx="2462784" cy="594360"/>
          </a:xfrm>
          <a:prstGeom prst="rect">
            <a:avLst/>
          </a:prstGeom>
          <a:noFill/>
          <a:ln/>
        </p:spPr>
        <p:txBody>
          <a:bodyPr wrap="square" lIns="0" tIns="0" rIns="0" bIns="0" rtlCol="0" anchor="t"/>
          <a:lstStyle/>
          <a:p>
            <a:pPr indent="0" marL="0">
              <a:buNone/>
            </a:pPr>
            <a:r>
              <a:rPr lang="en-US" sz="1800" b="1" dirty="0">
                <a:solidFill>
                  <a:schemeClr val="tx1"/>
                </a:solidFill>
              </a:rPr>
              <a:t>AI가 맡는 일</a:t>
            </a:r>
            <a:endParaRPr lang="en-US" sz="1400" dirty="0"/>
          </a:p>
          <a:p>
            <a:pPr indent="0" marL="0">
              <a:buNone/>
            </a:pPr>
            <a:r>
              <a:rPr lang="en-US" sz="1200" dirty="0">
                <a:solidFill>
                  <a:schemeClr val="accent6"/>
                </a:solidFill>
              </a:rPr>
              <a:t>읽고 판단해야 하는 일</a:t>
            </a:r>
            <a:endParaRPr lang="en-US" sz="1400" dirty="0"/>
          </a:p>
        </p:txBody>
      </p:sp>
      <p:sp>
        <p:nvSpPr>
          <p:cNvPr id="9" name="Text 6"/>
          <p:cNvSpPr txBox="1"/>
          <p:nvPr/>
        </p:nvSpPr>
        <p:spPr>
          <a:xfrm>
            <a:off x="804672" y="2743200"/>
            <a:ext cx="3057144" cy="2788920"/>
          </a:xfrm>
          <a:prstGeom prst="rect">
            <a:avLst/>
          </a:prstGeom>
          <a:noFill/>
          <a:ln/>
        </p:spPr>
        <p:txBody>
          <a:bodyPr wrap="square" lIns="0" tIns="0" rIns="0" bIns="0" rtlCol="0" anchor="t"/>
          <a:lstStyle/>
          <a:p>
            <a:pPr indent="0" marL="0">
              <a:spcAft>
                <a:spcPts val="3000"/>
              </a:spcAft>
              <a:buNone/>
            </a:pPr>
            <a:r>
              <a:rPr lang="en-US" sz="1600" b="1" dirty="0">
                <a:solidFill>
                  <a:schemeClr val="tx1"/>
                </a:solidFill>
              </a:rPr>
              <a:t>얼굴·번호판 가림</a:t>
            </a:r>
            <a:endParaRPr lang="en-US" sz="1400" dirty="0"/>
          </a:p>
          <a:p>
            <a:pPr indent="0" marL="0">
              <a:spcAft>
                <a:spcPts val="3000"/>
              </a:spcAft>
              <a:buNone/>
            </a:pPr>
            <a:r>
              <a:rPr lang="en-US" sz="1600" b="1" dirty="0">
                <a:solidFill>
                  <a:schemeClr val="tx1"/>
                </a:solidFill>
              </a:rPr>
              <a:t>시설·이상 판독</a:t>
            </a:r>
            <a:endParaRPr lang="en-US" sz="1400" dirty="0"/>
          </a:p>
          <a:p>
            <a:pPr indent="0" marL="0">
              <a:buNone/>
            </a:pPr>
            <a:r>
              <a:rPr lang="en-US" sz="1600" b="1" dirty="0">
                <a:solidFill>
                  <a:schemeClr val="tx1"/>
                </a:solidFill>
              </a:rPr>
              <a:t>전후 사진 비교</a:t>
            </a:r>
            <a:endParaRPr lang="en-US" sz="1400" dirty="0"/>
          </a:p>
        </p:txBody>
      </p:sp>
      <p:sp>
        <p:nvSpPr>
          <p:cNvPr id="10" name="규칙 코드 열"/>
          <p:cNvSpPr/>
          <p:nvPr/>
        </p:nvSpPr>
        <p:spPr>
          <a:xfrm>
            <a:off x="4337304" y="1737360"/>
            <a:ext cx="3514344" cy="3931920"/>
          </a:xfrm>
          <a:prstGeom prst="roundRect">
            <a:avLst>
              <a:gd name="adj" fmla="val 2319"/>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1" name="규칙 코드 원"/>
          <p:cNvSpPr/>
          <p:nvPr/>
        </p:nvSpPr>
        <p:spPr>
          <a:xfrm>
            <a:off x="4565904" y="1965960"/>
            <a:ext cx="548640" cy="548640"/>
          </a:xfrm>
          <a:prstGeom prst="ellipse">
            <a:avLst/>
          </a:prstGeom>
          <a:solidFill>
            <a:schemeClr val="accent2"/>
          </a:solidFill>
          <a:ln w="12700">
            <a:solidFill>
              <a:schemeClr val="accent2"/>
            </a:solidFill>
            <a:prstDash val="solid"/>
          </a:ln>
        </p:spPr>
      </p:sp>
      <p:pic>
        <p:nvPicPr>
          <p:cNvPr id="12" name="규칙 코드 아이콘" descr="preencoded.png">    </p:cNvPr>
          <p:cNvPicPr>
            <a:picLocks noChangeAspect="1"/>
          </p:cNvPicPr>
          <p:nvPr/>
        </p:nvPicPr>
        <p:blipFill>
          <a:blip r:embed="rId2"/>
          <a:stretch>
            <a:fillRect/>
          </a:stretch>
        </p:blipFill>
        <p:spPr>
          <a:xfrm>
            <a:off x="4686605" y="2086661"/>
            <a:ext cx="307238" cy="307238"/>
          </a:xfrm>
          <a:prstGeom prst="rect">
            <a:avLst/>
          </a:prstGeom>
        </p:spPr>
      </p:pic>
      <p:sp>
        <p:nvSpPr>
          <p:cNvPr id="13" name="Text 9"/>
          <p:cNvSpPr txBox="1"/>
          <p:nvPr/>
        </p:nvSpPr>
        <p:spPr>
          <a:xfrm>
            <a:off x="5251704" y="1956816"/>
            <a:ext cx="2462784" cy="594360"/>
          </a:xfrm>
          <a:prstGeom prst="rect">
            <a:avLst/>
          </a:prstGeom>
          <a:noFill/>
          <a:ln/>
        </p:spPr>
        <p:txBody>
          <a:bodyPr wrap="square" lIns="0" tIns="0" rIns="0" bIns="0" rtlCol="0" anchor="t"/>
          <a:lstStyle/>
          <a:p>
            <a:pPr indent="0" marL="0">
              <a:buNone/>
            </a:pPr>
            <a:r>
              <a:rPr lang="en-US" sz="1800" b="1" dirty="0">
                <a:solidFill>
                  <a:schemeClr val="tx1"/>
                </a:solidFill>
              </a:rPr>
              <a:t>규칙 코드</a:t>
            </a:r>
            <a:endParaRPr lang="en-US" sz="1400" dirty="0"/>
          </a:p>
          <a:p>
            <a:pPr indent="0" marL="0">
              <a:buNone/>
            </a:pPr>
            <a:r>
              <a:rPr lang="en-US" sz="1200" dirty="0">
                <a:solidFill>
                  <a:schemeClr val="accent6"/>
                </a:solidFill>
              </a:rPr>
              <a:t>결과가 늘 같아야 하는 일</a:t>
            </a:r>
            <a:endParaRPr lang="en-US" sz="1400" dirty="0"/>
          </a:p>
        </p:txBody>
      </p:sp>
      <p:sp>
        <p:nvSpPr>
          <p:cNvPr id="14" name="Text 10"/>
          <p:cNvSpPr txBox="1"/>
          <p:nvPr/>
        </p:nvSpPr>
        <p:spPr>
          <a:xfrm>
            <a:off x="4593336" y="2743200"/>
            <a:ext cx="3057144" cy="2788920"/>
          </a:xfrm>
          <a:prstGeom prst="rect">
            <a:avLst/>
          </a:prstGeom>
          <a:noFill/>
          <a:ln/>
        </p:spPr>
        <p:txBody>
          <a:bodyPr wrap="square" lIns="0" tIns="0" rIns="0" bIns="0" rtlCol="0" anchor="t"/>
          <a:lstStyle/>
          <a:p>
            <a:pPr indent="0" marL="0">
              <a:spcAft>
                <a:spcPts val="3000"/>
              </a:spcAft>
              <a:buNone/>
            </a:pPr>
            <a:r>
              <a:rPr lang="en-US" sz="1600" b="1" dirty="0">
                <a:solidFill>
                  <a:schemeClr val="tx1"/>
                </a:solidFill>
              </a:rPr>
              <a:t>사진 품질 검사</a:t>
            </a:r>
            <a:endParaRPr lang="en-US" sz="1400" dirty="0"/>
          </a:p>
          <a:p>
            <a:pPr indent="0" marL="0">
              <a:spcAft>
                <a:spcPts val="3000"/>
              </a:spcAft>
              <a:buNone/>
            </a:pPr>
            <a:r>
              <a:rPr lang="en-US" sz="1600" b="1" dirty="0">
                <a:solidFill>
                  <a:schemeClr val="tx1"/>
                </a:solidFill>
              </a:rPr>
              <a:t>시설 연결</a:t>
            </a:r>
            <a:endParaRPr lang="en-US" sz="1400" dirty="0"/>
          </a:p>
          <a:p>
            <a:pPr indent="0" marL="0">
              <a:spcAft>
                <a:spcPts val="3000"/>
              </a:spcAft>
              <a:buNone/>
            </a:pPr>
            <a:r>
              <a:rPr lang="en-US" sz="1600" b="1" dirty="0">
                <a:solidFill>
                  <a:schemeClr val="tx1"/>
                </a:solidFill>
              </a:rPr>
              <a:t>부서 배정</a:t>
            </a:r>
            <a:endParaRPr lang="en-US" sz="1400" dirty="0"/>
          </a:p>
          <a:p>
            <a:pPr indent="0" marL="0">
              <a:buNone/>
            </a:pPr>
            <a:r>
              <a:rPr lang="en-US" sz="1600" b="1" dirty="0">
                <a:solidFill>
                  <a:schemeClr val="tx1"/>
                </a:solidFill>
              </a:rPr>
              <a:t>등급·분류·일정·집계</a:t>
            </a:r>
            <a:endParaRPr lang="en-US" sz="1400" dirty="0"/>
          </a:p>
        </p:txBody>
      </p:sp>
      <p:sp>
        <p:nvSpPr>
          <p:cNvPr id="15" name="담당자 열"/>
          <p:cNvSpPr/>
          <p:nvPr/>
        </p:nvSpPr>
        <p:spPr>
          <a:xfrm>
            <a:off x="8125968" y="1737360"/>
            <a:ext cx="3514344" cy="3931920"/>
          </a:xfrm>
          <a:prstGeom prst="roundRect">
            <a:avLst>
              <a:gd name="adj" fmla="val 2595"/>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6" name="담당자 원"/>
          <p:cNvSpPr/>
          <p:nvPr/>
        </p:nvSpPr>
        <p:spPr>
          <a:xfrm>
            <a:off x="8354568" y="1965960"/>
            <a:ext cx="548640" cy="548640"/>
          </a:xfrm>
          <a:prstGeom prst="ellipse">
            <a:avLst/>
          </a:prstGeom>
          <a:solidFill>
            <a:schemeClr val="tx2"/>
          </a:solidFill>
          <a:ln w="12700">
            <a:solidFill>
              <a:schemeClr val="tx2"/>
            </a:solidFill>
            <a:prstDash val="solid"/>
          </a:ln>
        </p:spPr>
      </p:sp>
      <p:pic>
        <p:nvPicPr>
          <p:cNvPr id="17" name="담당자 아이콘" descr="preencoded.png">    </p:cNvPr>
          <p:cNvPicPr>
            <a:picLocks noChangeAspect="1"/>
          </p:cNvPicPr>
          <p:nvPr/>
        </p:nvPicPr>
        <p:blipFill>
          <a:blip r:embed="rId3"/>
          <a:stretch>
            <a:fillRect/>
          </a:stretch>
        </p:blipFill>
        <p:spPr>
          <a:xfrm>
            <a:off x="8475269" y="2086661"/>
            <a:ext cx="307238" cy="307238"/>
          </a:xfrm>
          <a:prstGeom prst="rect">
            <a:avLst/>
          </a:prstGeom>
        </p:spPr>
      </p:pic>
      <p:sp>
        <p:nvSpPr>
          <p:cNvPr id="18" name="Text 13"/>
          <p:cNvSpPr txBox="1"/>
          <p:nvPr/>
        </p:nvSpPr>
        <p:spPr>
          <a:xfrm>
            <a:off x="9040368" y="1956816"/>
            <a:ext cx="2462784" cy="594360"/>
          </a:xfrm>
          <a:prstGeom prst="rect">
            <a:avLst/>
          </a:prstGeom>
          <a:noFill/>
          <a:ln/>
        </p:spPr>
        <p:txBody>
          <a:bodyPr wrap="square" lIns="0" tIns="0" rIns="0" bIns="0" rtlCol="0" anchor="t"/>
          <a:lstStyle/>
          <a:p>
            <a:pPr indent="0" marL="0">
              <a:buNone/>
            </a:pPr>
            <a:r>
              <a:rPr lang="en-US" sz="1800" b="1" dirty="0">
                <a:solidFill>
                  <a:schemeClr val="tx1"/>
                </a:solidFill>
              </a:rPr>
              <a:t>담당자</a:t>
            </a:r>
            <a:endParaRPr lang="en-US" sz="1400" dirty="0"/>
          </a:p>
          <a:p>
            <a:pPr indent="0" marL="0">
              <a:buNone/>
            </a:pPr>
            <a:r>
              <a:rPr lang="en-US" sz="1200" dirty="0">
                <a:solidFill>
                  <a:schemeClr val="accent6"/>
                </a:solidFill>
              </a:rPr>
              <a:t>업무 상태를 바꾸는 결정</a:t>
            </a:r>
            <a:endParaRPr lang="en-US" sz="1400" dirty="0"/>
          </a:p>
        </p:txBody>
      </p:sp>
      <p:sp>
        <p:nvSpPr>
          <p:cNvPr id="19" name="Text 14"/>
          <p:cNvSpPr txBox="1"/>
          <p:nvPr/>
        </p:nvSpPr>
        <p:spPr>
          <a:xfrm>
            <a:off x="8382000" y="2743200"/>
            <a:ext cx="3057144" cy="2788920"/>
          </a:xfrm>
          <a:prstGeom prst="rect">
            <a:avLst/>
          </a:prstGeom>
          <a:noFill/>
          <a:ln/>
        </p:spPr>
        <p:txBody>
          <a:bodyPr wrap="square" lIns="0" tIns="0" rIns="0" bIns="0" rtlCol="0" anchor="t"/>
          <a:lstStyle/>
          <a:p>
            <a:pPr indent="0" marL="0">
              <a:spcAft>
                <a:spcPts val="3000"/>
              </a:spcAft>
              <a:buNone/>
            </a:pPr>
            <a:r>
              <a:rPr lang="en-US" sz="1600" b="1" dirty="0">
                <a:solidFill>
                  <a:schemeClr val="tx1"/>
                </a:solidFill>
              </a:rPr>
              <a:t>이상 확정</a:t>
            </a:r>
            <a:endParaRPr lang="en-US" sz="1400" dirty="0"/>
          </a:p>
          <a:p>
            <a:pPr indent="0" marL="0">
              <a:spcAft>
                <a:spcPts val="3000"/>
              </a:spcAft>
              <a:buNone/>
            </a:pPr>
            <a:r>
              <a:rPr lang="en-US" sz="1600" b="1" dirty="0">
                <a:solidFill>
                  <a:schemeClr val="tx1"/>
                </a:solidFill>
              </a:rPr>
              <a:t>종결·재보수 요청</a:t>
            </a:r>
            <a:endParaRPr lang="en-US" sz="1400" dirty="0"/>
          </a:p>
          <a:p>
            <a:pPr indent="0" marL="0">
              <a:buNone/>
            </a:pPr>
            <a:r>
              <a:rPr lang="en-US" sz="1600" b="1" dirty="0">
                <a:solidFill>
                  <a:schemeClr val="tx1"/>
                </a:solidFill>
              </a:rPr>
              <a:t>가림 표본 점검</a:t>
            </a:r>
            <a:endParaRPr lang="en-US" sz="1400" dirty="0"/>
          </a:p>
        </p:txBody>
      </p:sp>
      <p:sp>
        <p:nvSpPr>
          <p:cNvPr id="20" name="Text 15"/>
          <p:cNvSpPr txBox="1"/>
          <p:nvPr/>
        </p:nvSpPr>
        <p:spPr>
          <a:xfrm>
            <a:off x="548640" y="5833872"/>
            <a:ext cx="11094415" cy="365760"/>
          </a:xfrm>
          <a:prstGeom prst="rect">
            <a:avLst/>
          </a:prstGeom>
          <a:noFill/>
          <a:ln/>
        </p:spPr>
        <p:txBody>
          <a:bodyPr wrap="square" lIns="0" tIns="0" rIns="0" bIns="0" rtlCol="0" anchor="ctr"/>
          <a:lstStyle/>
          <a:p>
            <a:pPr indent="0" marL="0">
              <a:buNone/>
            </a:pPr>
            <a:r>
              <a:rPr lang="en-US" sz="1500" b="1" dirty="0">
                <a:solidFill>
                  <a:schemeClr val="accent3"/>
                </a:solidFill>
              </a:rPr>
              <a:t>효과: </a:t>
            </a:r>
            <a:pPr indent="0" marL="0">
              <a:buNone/>
            </a:pPr>
            <a:r>
              <a:rPr lang="en-US" sz="1500" b="1" dirty="0">
                <a:solidFill>
                  <a:schemeClr val="tx2"/>
                </a:solidFill>
              </a:rPr>
              <a:t>AI가 판단을 먼저 맡아, 어르신은 짧은 사전 교육만으로 참여할 수 있다</a:t>
            </a:r>
            <a:endParaRPr lang="en-US" sz="15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tx2"/>
                </a:solidFill>
              </a:rPr>
              <a:t>AI 결과 검증</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tx1"/>
                </a:solidFill>
              </a:rPr>
              <a:t>AI 결과를 그대로 믿지 않도록 설계했다</a:t>
            </a:r>
            <a:endParaRPr lang="en-US" sz="3200" dirty="0"/>
          </a:p>
        </p:txBody>
      </p:sp>
      <p:sp>
        <p:nvSpPr>
          <p:cNvPr id="5" name="AI가 하지 않는 일 카드"/>
          <p:cNvSpPr/>
          <p:nvPr/>
        </p:nvSpPr>
        <p:spPr>
          <a:xfrm>
            <a:off x="548640" y="2194560"/>
            <a:ext cx="5486400" cy="3621024"/>
          </a:xfrm>
          <a:prstGeom prst="roundRect">
            <a:avLst>
              <a:gd name="adj" fmla="val 1649"/>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6" name="금지 원"/>
          <p:cNvSpPr/>
          <p:nvPr/>
        </p:nvSpPr>
        <p:spPr>
          <a:xfrm>
            <a:off x="777240" y="2423160"/>
            <a:ext cx="502920" cy="502920"/>
          </a:xfrm>
          <a:prstGeom prst="ellipse">
            <a:avLst/>
          </a:prstGeom>
          <a:solidFill>
            <a:schemeClr val="accent3"/>
          </a:solidFill>
          <a:ln w="12700">
            <a:solidFill>
              <a:schemeClr val="accent3"/>
            </a:solidFill>
            <a:prstDash val="solid"/>
          </a:ln>
        </p:spPr>
      </p:sp>
      <p:pic>
        <p:nvPicPr>
          <p:cNvPr id="7" name="금지 아이콘" descr="preencoded.png">    </p:cNvPr>
          <p:cNvPicPr>
            <a:picLocks noChangeAspect="1"/>
          </p:cNvPicPr>
          <p:nvPr/>
        </p:nvPicPr>
        <p:blipFill>
          <a:blip r:embed="rId1"/>
          <a:stretch>
            <a:fillRect/>
          </a:stretch>
        </p:blipFill>
        <p:spPr>
          <a:xfrm>
            <a:off x="887882" y="2532888"/>
            <a:ext cx="281635" cy="281635"/>
          </a:xfrm>
          <a:prstGeom prst="rect">
            <a:avLst/>
          </a:prstGeom>
        </p:spPr>
      </p:pic>
      <p:sp>
        <p:nvSpPr>
          <p:cNvPr id="8" name="Text 5"/>
          <p:cNvSpPr txBox="1"/>
          <p:nvPr/>
        </p:nvSpPr>
        <p:spPr>
          <a:xfrm>
            <a:off x="1417320" y="2423160"/>
            <a:ext cx="3657600" cy="502920"/>
          </a:xfrm>
          <a:prstGeom prst="rect">
            <a:avLst/>
          </a:prstGeom>
          <a:noFill/>
          <a:ln/>
        </p:spPr>
        <p:txBody>
          <a:bodyPr wrap="square" lIns="0" tIns="0" rIns="0" bIns="0" rtlCol="0" anchor="ctr"/>
          <a:lstStyle/>
          <a:p>
            <a:pPr indent="0" marL="0">
              <a:buNone/>
            </a:pPr>
            <a:r>
              <a:rPr lang="en-US" sz="1800" b="1" dirty="0">
                <a:solidFill>
                  <a:schemeClr val="tx1"/>
                </a:solidFill>
              </a:rPr>
              <a:t>AI가 하지 않는 일</a:t>
            </a:r>
            <a:endParaRPr lang="en-US" sz="1800" dirty="0"/>
          </a:p>
        </p:txBody>
      </p:sp>
      <p:pic>
        <p:nvPicPr>
          <p:cNvPr id="9" name="Image 1" descr="preencoded.png">    </p:cNvPr>
          <p:cNvPicPr>
            <a:picLocks noChangeAspect="1"/>
          </p:cNvPicPr>
          <p:nvPr/>
        </p:nvPicPr>
        <p:blipFill>
          <a:blip r:embed="rId2"/>
          <a:stretch>
            <a:fillRect/>
          </a:stretch>
        </p:blipFill>
        <p:spPr>
          <a:xfrm>
            <a:off x="822960" y="3136391"/>
            <a:ext cx="274320" cy="274320"/>
          </a:xfrm>
          <a:prstGeom prst="rect">
            <a:avLst/>
          </a:prstGeom>
        </p:spPr>
      </p:pic>
      <p:sp>
        <p:nvSpPr>
          <p:cNvPr id="10" name="Text 6"/>
          <p:cNvSpPr txBox="1"/>
          <p:nvPr/>
        </p:nvSpPr>
        <p:spPr>
          <a:xfrm>
            <a:off x="1234440" y="3127248"/>
            <a:ext cx="4572000" cy="548640"/>
          </a:xfrm>
          <a:prstGeom prst="rect">
            <a:avLst/>
          </a:prstGeom>
          <a:noFill/>
          <a:ln/>
        </p:spPr>
        <p:txBody>
          <a:bodyPr wrap="square" lIns="0" tIns="0" rIns="0" bIns="0" rtlCol="0" anchor="t"/>
          <a:lstStyle/>
          <a:p>
            <a:pPr indent="0" marL="0">
              <a:buNone/>
            </a:pPr>
            <a:r>
              <a:rPr lang="en-US" sz="1500" b="1" dirty="0">
                <a:solidFill>
                  <a:schemeClr val="tx1"/>
                </a:solidFill>
              </a:rPr>
              <a:t>위험 등급을 직접 정하지 않는다</a:t>
            </a:r>
            <a:endParaRPr lang="en-US" sz="1400" dirty="0"/>
          </a:p>
        </p:txBody>
      </p:sp>
      <p:pic>
        <p:nvPicPr>
          <p:cNvPr id="13" name="Image 3" descr="preencoded.png">    </p:cNvPr>
          <p:cNvPicPr>
            <a:picLocks noChangeAspect="1"/>
          </p:cNvPicPr>
          <p:nvPr/>
        </p:nvPicPr>
        <p:blipFill>
          <a:blip r:embed="rId4"/>
          <a:stretch>
            <a:fillRect/>
          </a:stretch>
        </p:blipFill>
        <p:spPr>
          <a:xfrm>
            <a:off x="822960" y="3758183"/>
            <a:ext cx="274320" cy="274320"/>
          </a:xfrm>
          <a:prstGeom prst="rect">
            <a:avLst/>
          </a:prstGeom>
        </p:spPr>
      </p:pic>
      <p:sp>
        <p:nvSpPr>
          <p:cNvPr id="14" name="Text 8"/>
          <p:cNvSpPr txBox="1"/>
          <p:nvPr/>
        </p:nvSpPr>
        <p:spPr>
          <a:xfrm>
            <a:off x="1234440" y="3749039"/>
            <a:ext cx="4572000" cy="548640"/>
          </a:xfrm>
          <a:prstGeom prst="rect">
            <a:avLst/>
          </a:prstGeom>
          <a:noFill/>
          <a:ln/>
        </p:spPr>
        <p:txBody>
          <a:bodyPr wrap="square" lIns="0" tIns="0" rIns="0" bIns="0" rtlCol="0" anchor="t"/>
          <a:lstStyle/>
          <a:p>
            <a:pPr indent="0" marL="0">
              <a:buNone/>
            </a:pPr>
            <a:r>
              <a:rPr lang="en-US" sz="1500" b="1" dirty="0">
                <a:solidFill>
                  <a:schemeClr val="tx1"/>
                </a:solidFill>
              </a:rPr>
              <a:t>업무 상태를 스스로 바꾸지 않는다</a:t>
            </a:r>
            <a:endParaRPr lang="en-US" sz="1400" dirty="0"/>
          </a:p>
        </p:txBody>
      </p:sp>
      <p:pic>
        <p:nvPicPr>
          <p:cNvPr id="15" name="Image 4" descr="preencoded.png">    </p:cNvPr>
          <p:cNvPicPr>
            <a:picLocks noChangeAspect="1"/>
          </p:cNvPicPr>
          <p:nvPr/>
        </p:nvPicPr>
        <p:blipFill>
          <a:blip r:embed="rId5"/>
          <a:stretch>
            <a:fillRect/>
          </a:stretch>
        </p:blipFill>
        <p:spPr>
          <a:xfrm>
            <a:off x="822960" y="4379976"/>
            <a:ext cx="274320" cy="274320"/>
          </a:xfrm>
          <a:prstGeom prst="rect">
            <a:avLst/>
          </a:prstGeom>
        </p:spPr>
      </p:pic>
      <p:sp>
        <p:nvSpPr>
          <p:cNvPr id="16" name="Text 9"/>
          <p:cNvSpPr txBox="1"/>
          <p:nvPr/>
        </p:nvSpPr>
        <p:spPr>
          <a:xfrm>
            <a:off x="1234440" y="4370832"/>
            <a:ext cx="4572000" cy="548640"/>
          </a:xfrm>
          <a:prstGeom prst="rect">
            <a:avLst/>
          </a:prstGeom>
          <a:noFill/>
          <a:ln/>
        </p:spPr>
        <p:txBody>
          <a:bodyPr wrap="square" lIns="0" tIns="0" rIns="0" bIns="0" rtlCol="0" anchor="t"/>
          <a:lstStyle/>
          <a:p>
            <a:pPr indent="0" marL="0">
              <a:buNone/>
            </a:pPr>
            <a:r>
              <a:rPr lang="en-US" sz="1500" b="1" dirty="0">
                <a:solidFill>
                  <a:schemeClr val="tx1"/>
                </a:solidFill>
              </a:rPr>
              <a:t>담당 부서를 정하지 않는다</a:t>
            </a:r>
            <a:endParaRPr lang="en-US" sz="1400" dirty="0"/>
          </a:p>
        </p:txBody>
      </p:sp>
      <p:pic>
        <p:nvPicPr>
          <p:cNvPr id="17" name="Image 5" descr="preencoded.png">    </p:cNvPr>
          <p:cNvPicPr>
            <a:picLocks noChangeAspect="1"/>
          </p:cNvPicPr>
          <p:nvPr/>
        </p:nvPicPr>
        <p:blipFill>
          <a:blip r:embed="rId6"/>
          <a:stretch>
            <a:fillRect/>
          </a:stretch>
        </p:blipFill>
        <p:spPr>
          <a:xfrm>
            <a:off x="822960" y="5001768"/>
            <a:ext cx="274320" cy="274320"/>
          </a:xfrm>
          <a:prstGeom prst="rect">
            <a:avLst/>
          </a:prstGeom>
        </p:spPr>
      </p:pic>
      <p:sp>
        <p:nvSpPr>
          <p:cNvPr id="18" name="Text 10"/>
          <p:cNvSpPr txBox="1"/>
          <p:nvPr/>
        </p:nvSpPr>
        <p:spPr>
          <a:xfrm>
            <a:off x="1234440" y="4992624"/>
            <a:ext cx="4572000" cy="548640"/>
          </a:xfrm>
          <a:prstGeom prst="rect">
            <a:avLst/>
          </a:prstGeom>
          <a:noFill/>
          <a:ln/>
        </p:spPr>
        <p:txBody>
          <a:bodyPr wrap="square" lIns="0" tIns="0" rIns="0" bIns="0" rtlCol="0" anchor="t"/>
          <a:lstStyle/>
          <a:p>
            <a:pPr indent="0" marL="0">
              <a:buNone/>
            </a:pPr>
            <a:r>
              <a:rPr lang="en-US" sz="1500" b="1" dirty="0">
                <a:solidFill>
                  <a:schemeClr val="tx1"/>
                </a:solidFill>
              </a:rPr>
              <a:t>사진을 외부 AI로 보내지 않는다</a:t>
            </a:r>
            <a:endParaRPr lang="en-US" sz="1400" dirty="0"/>
          </a:p>
        </p:txBody>
      </p:sp>
      <p:sp>
        <p:nvSpPr>
          <p:cNvPr id="19" name="Text 11"/>
          <p:cNvSpPr txBox="1"/>
          <p:nvPr/>
        </p:nvSpPr>
        <p:spPr>
          <a:xfrm>
            <a:off x="6309360" y="1737360"/>
            <a:ext cx="5333695" cy="365760"/>
          </a:xfrm>
          <a:prstGeom prst="rect">
            <a:avLst/>
          </a:prstGeom>
          <a:noFill/>
          <a:ln/>
        </p:spPr>
        <p:txBody>
          <a:bodyPr wrap="square" lIns="0" tIns="0" rIns="0" bIns="0" rtlCol="0" anchor="t"/>
          <a:lstStyle/>
          <a:p>
            <a:pPr indent="0" marL="0">
              <a:buNone/>
            </a:pPr>
            <a:r>
              <a:rPr lang="en-US" sz="1500" b="1" dirty="0">
                <a:solidFill>
                  <a:schemeClr val="tx2"/>
                </a:solidFill>
              </a:rPr>
              <a:t>검증 방법 · 먼저 추가 학습 없이 우리 사진으로 평가</a:t>
            </a:r>
            <a:endParaRPr lang="en-US" sz="1500" dirty="0"/>
          </a:p>
        </p:txBody>
      </p:sp>
      <p:sp>
        <p:nvSpPr>
          <p:cNvPr id="20" name="검증 지표 1"/>
          <p:cNvSpPr/>
          <p:nvPr/>
        </p:nvSpPr>
        <p:spPr>
          <a:xfrm>
            <a:off x="6309360" y="2194560"/>
            <a:ext cx="5333695" cy="822960"/>
          </a:xfrm>
          <a:prstGeom prst="roundRect">
            <a:avLst>
              <a:gd name="adj" fmla="val 8889"/>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21" name="Text 13"/>
          <p:cNvSpPr txBox="1"/>
          <p:nvPr/>
        </p:nvSpPr>
        <p:spPr>
          <a:xfrm>
            <a:off x="6446520" y="2194560"/>
            <a:ext cx="1417320" cy="822960"/>
          </a:xfrm>
          <a:prstGeom prst="rect">
            <a:avLst/>
          </a:prstGeom>
          <a:noFill/>
          <a:ln/>
        </p:spPr>
        <p:txBody>
          <a:bodyPr wrap="square" lIns="0" tIns="0" rIns="0" bIns="0" rtlCol="0" anchor="ctr"/>
          <a:lstStyle/>
          <a:p>
            <a:pPr algn="ctr" indent="0" marL="0">
              <a:buNone/>
            </a:pPr>
            <a:r>
              <a:rPr lang="en-US" sz="3200" b="1" dirty="0">
                <a:solidFill>
                  <a:schemeClr val="tx2"/>
                </a:solidFill>
              </a:rPr>
              <a:t>98%</a:t>
            </a:r>
            <a:endParaRPr lang="en-US" sz="3200" dirty="0"/>
          </a:p>
        </p:txBody>
      </p:sp>
      <p:sp>
        <p:nvSpPr>
          <p:cNvPr id="22" name="Text 14"/>
          <p:cNvSpPr txBox="1"/>
          <p:nvPr/>
        </p:nvSpPr>
        <p:spPr>
          <a:xfrm>
            <a:off x="7955280" y="2194560"/>
            <a:ext cx="3504895" cy="822960"/>
          </a:xfrm>
          <a:prstGeom prst="rect">
            <a:avLst/>
          </a:prstGeom>
          <a:noFill/>
          <a:ln/>
        </p:spPr>
        <p:txBody>
          <a:bodyPr wrap="square" lIns="0" tIns="0" rIns="0" bIns="0" rtlCol="0" anchor="ctr"/>
          <a:lstStyle/>
          <a:p>
            <a:pPr indent="0" marL="0">
              <a:spcAft>
                <a:spcPts val="300"/>
              </a:spcAft>
              <a:buNone/>
            </a:pPr>
            <a:r>
              <a:rPr lang="en-US" sz="1400" b="1" dirty="0">
                <a:solidFill>
                  <a:schemeClr val="tx1"/>
                </a:solidFill>
              </a:rPr>
              <a:t>얼굴·번호판 가림 성공률 목표</a:t>
            </a:r>
            <a:endParaRPr lang="en-US" sz="1400" dirty="0"/>
          </a:p>
          <a:p>
            <a:pPr indent="0" marL="0">
              <a:buNone/>
            </a:pPr>
            <a:r>
              <a:rPr lang="en-US" sz="1200" dirty="0">
                <a:solidFill>
                  <a:schemeClr val="accent6"/>
                </a:solidFill>
              </a:rPr>
              <a:t>시범 전 시범 구역 실제 거리 사진으로 평가</a:t>
            </a:r>
            <a:endParaRPr lang="en-US" sz="1200" dirty="0"/>
          </a:p>
        </p:txBody>
      </p:sp>
      <p:sp>
        <p:nvSpPr>
          <p:cNvPr id="301" name="검증 지표 현재"/>
          <p:cNvSpPr/>
          <p:nvPr/>
        </p:nvSpPr>
        <p:spPr>
          <a:xfrm>
            <a:off x="6309360" y="3127248"/>
            <a:ext cx="5333695" cy="822960"/>
          </a:xfrm>
          <a:prstGeom prst="roundRect">
            <a:avLst>
              <a:gd name="adj" fmla="val 8889"/>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302" name="현재 수치"/>
          <p:cNvSpPr txBox="1"/>
          <p:nvPr/>
        </p:nvSpPr>
        <p:spPr>
          <a:xfrm>
            <a:off x="6446520" y="3127248"/>
            <a:ext cx="1417320" cy="822960"/>
          </a:xfrm>
          <a:prstGeom prst="rect">
            <a:avLst/>
          </a:prstGeom>
          <a:noFill/>
          <a:ln/>
        </p:spPr>
        <p:txBody>
          <a:bodyPr wrap="square" lIns="0" tIns="0" rIns="0" bIns="0" rtlCol="0" anchor="ctr"/>
          <a:lstStyle/>
          <a:p>
            <a:pPr algn="ctr" indent="0" marL="0">
              <a:buNone/>
            </a:pPr>
            <a:r>
              <a:rPr lang="en-US" sz="3200" b="1" dirty="0">
                <a:solidFill>
                  <a:schemeClr val="tx2"/>
                </a:solidFill>
              </a:rPr>
              <a:t>65%</a:t>
            </a:r>
            <a:endParaRPr lang="en-US" sz="3200" dirty="0"/>
          </a:p>
        </p:txBody>
      </p:sp>
      <p:sp>
        <p:nvSpPr>
          <p:cNvPr id="303" name="현재 설명"/>
          <p:cNvSpPr txBox="1"/>
          <p:nvPr/>
        </p:nvSpPr>
        <p:spPr>
          <a:xfrm>
            <a:off x="7955280" y="3127248"/>
            <a:ext cx="3504895" cy="822960"/>
          </a:xfrm>
          <a:prstGeom prst="rect">
            <a:avLst/>
          </a:prstGeom>
          <a:noFill/>
          <a:ln/>
        </p:spPr>
        <p:txBody>
          <a:bodyPr wrap="square" lIns="0" tIns="0" rIns="0" bIns="0" rtlCol="0" anchor="ctr"/>
          <a:lstStyle/>
          <a:p>
            <a:pPr indent="0" marL="0">
              <a:spcAft>
                <a:spcPts val="300"/>
              </a:spcAft>
              <a:buNone/>
            </a:pPr>
            <a:r>
              <a:rPr lang="en-US" sz="1400" b="1" dirty="0">
                <a:solidFill>
                  <a:schemeClr val="tx1"/>
                </a:solidFill>
              </a:rPr>
              <a:t>현재 번호판 가림률 (합성 사진 80장)</a:t>
            </a:r>
            <a:endParaRPr lang="en-US" sz="1400" dirty="0"/>
          </a:p>
          <a:p>
            <a:pPr indent="0" marL="0">
              <a:buNone/>
            </a:pPr>
            <a:r>
              <a:rPr lang="en-US" sz="1200" dirty="0">
                <a:solidFill>
                  <a:schemeClr val="accent6"/>
                </a:solidFill>
              </a:rPr>
              <a:t>모델 단독 39% → 규칙 기반 검출 더해 65%</a:t>
            </a:r>
            <a:endParaRPr lang="en-US" sz="1200" dirty="0"/>
          </a:p>
        </p:txBody>
      </p:sp>
      <p:sp>
        <p:nvSpPr>
          <p:cNvPr id="23" name="검증 지표 2"/>
          <p:cNvSpPr/>
          <p:nvPr/>
        </p:nvSpPr>
        <p:spPr>
          <a:xfrm>
            <a:off x="6309360" y="4059936"/>
            <a:ext cx="5333695" cy="822960"/>
          </a:xfrm>
          <a:prstGeom prst="roundRect">
            <a:avLst>
              <a:gd name="adj" fmla="val 8889"/>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24" name="Text 16"/>
          <p:cNvSpPr txBox="1"/>
          <p:nvPr/>
        </p:nvSpPr>
        <p:spPr>
          <a:xfrm>
            <a:off x="6446520" y="4059936"/>
            <a:ext cx="1417320" cy="822960"/>
          </a:xfrm>
          <a:prstGeom prst="rect">
            <a:avLst/>
          </a:prstGeom>
          <a:noFill/>
          <a:ln/>
        </p:spPr>
        <p:txBody>
          <a:bodyPr wrap="square" lIns="0" tIns="0" rIns="0" bIns="0" rtlCol="0" anchor="ctr"/>
          <a:lstStyle/>
          <a:p>
            <a:pPr algn="ctr" indent="0" marL="0">
              <a:buNone/>
            </a:pPr>
            <a:r>
              <a:rPr lang="en-US" sz="3200" b="1" dirty="0">
                <a:solidFill>
                  <a:schemeClr val="tx2"/>
                </a:solidFill>
              </a:rPr>
              <a:t>50장</a:t>
            </a:r>
            <a:endParaRPr lang="en-US" sz="3200" dirty="0"/>
          </a:p>
        </p:txBody>
      </p:sp>
      <p:sp>
        <p:nvSpPr>
          <p:cNvPr id="25" name="Text 17"/>
          <p:cNvSpPr txBox="1"/>
          <p:nvPr/>
        </p:nvSpPr>
        <p:spPr>
          <a:xfrm>
            <a:off x="7955280" y="4059936"/>
            <a:ext cx="3504895" cy="822960"/>
          </a:xfrm>
          <a:prstGeom prst="rect">
            <a:avLst/>
          </a:prstGeom>
          <a:noFill/>
          <a:ln/>
        </p:spPr>
        <p:txBody>
          <a:bodyPr wrap="square" lIns="0" tIns="0" rIns="0" bIns="0" rtlCol="0" anchor="ctr"/>
          <a:lstStyle/>
          <a:p>
            <a:pPr indent="0" marL="0">
              <a:spcAft>
                <a:spcPts val="300"/>
              </a:spcAft>
              <a:buNone/>
            </a:pPr>
            <a:r>
              <a:rPr lang="en-US" sz="1400" b="1" dirty="0">
                <a:solidFill>
                  <a:schemeClr val="tx1"/>
                </a:solidFill>
              </a:rPr>
              <a:t>시설별 정답 사진</a:t>
            </a:r>
            <a:endParaRPr lang="en-US" sz="1400" dirty="0"/>
          </a:p>
          <a:p>
            <a:pPr indent="0" marL="0">
              <a:buNone/>
            </a:pPr>
            <a:r>
              <a:rPr lang="en-US" sz="1200" dirty="0">
                <a:solidFill>
                  <a:schemeClr val="accent6"/>
                </a:solidFill>
              </a:rPr>
              <a:t>후보 모델 2~3개를 비교해 확정</a:t>
            </a:r>
            <a:endParaRPr lang="en-US" sz="1200" dirty="0"/>
          </a:p>
        </p:txBody>
      </p:sp>
      <p:sp>
        <p:nvSpPr>
          <p:cNvPr id="26" name="검증 지표 3"/>
          <p:cNvSpPr/>
          <p:nvPr/>
        </p:nvSpPr>
        <p:spPr>
          <a:xfrm>
            <a:off x="6309360" y="4992624"/>
            <a:ext cx="5333695" cy="822960"/>
          </a:xfrm>
          <a:prstGeom prst="roundRect">
            <a:avLst>
              <a:gd name="adj" fmla="val 8889"/>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27" name="Text 19"/>
          <p:cNvSpPr txBox="1"/>
          <p:nvPr/>
        </p:nvSpPr>
        <p:spPr>
          <a:xfrm>
            <a:off x="6446520" y="4992624"/>
            <a:ext cx="1417320" cy="822960"/>
          </a:xfrm>
          <a:prstGeom prst="rect">
            <a:avLst/>
          </a:prstGeom>
          <a:noFill/>
          <a:ln/>
        </p:spPr>
        <p:txBody>
          <a:bodyPr wrap="square" lIns="0" tIns="0" rIns="0" bIns="0" rtlCol="0" anchor="ctr"/>
          <a:lstStyle/>
          <a:p>
            <a:pPr algn="ctr" indent="0" marL="0">
              <a:buNone/>
            </a:pPr>
            <a:r>
              <a:rPr lang="en-US" sz="3200" b="1" dirty="0">
                <a:solidFill>
                  <a:schemeClr val="tx2"/>
                </a:solidFill>
              </a:rPr>
              <a:t>기록</a:t>
            </a:r>
            <a:endParaRPr lang="en-US" sz="3200" dirty="0"/>
          </a:p>
        </p:txBody>
      </p:sp>
      <p:sp>
        <p:nvSpPr>
          <p:cNvPr id="28" name="Text 20"/>
          <p:cNvSpPr txBox="1"/>
          <p:nvPr/>
        </p:nvSpPr>
        <p:spPr>
          <a:xfrm>
            <a:off x="7955280" y="4992624"/>
            <a:ext cx="3504895" cy="822960"/>
          </a:xfrm>
          <a:prstGeom prst="rect">
            <a:avLst/>
          </a:prstGeom>
          <a:noFill/>
          <a:ln/>
        </p:spPr>
        <p:txBody>
          <a:bodyPr wrap="square" lIns="0" tIns="0" rIns="0" bIns="0" rtlCol="0" anchor="ctr"/>
          <a:lstStyle/>
          <a:p>
            <a:pPr indent="0" marL="0">
              <a:spcAft>
                <a:spcPts val="300"/>
              </a:spcAft>
              <a:buNone/>
            </a:pPr>
            <a:r>
              <a:rPr lang="en-US" sz="1400" b="1" dirty="0">
                <a:solidFill>
                  <a:schemeClr val="tx1"/>
                </a:solidFill>
              </a:rPr>
              <a:t>담당자 판정 vs AI 결과</a:t>
            </a:r>
            <a:endParaRPr lang="en-US" sz="1400" dirty="0"/>
          </a:p>
          <a:p>
            <a:pPr indent="0" marL="0">
              <a:buNone/>
            </a:pPr>
            <a:r>
              <a:rPr lang="en-US" sz="1200" dirty="0">
                <a:solidFill>
                  <a:schemeClr val="accent6"/>
                </a:solidFill>
              </a:rPr>
              <a:t>비교 기록으로 정확도 개선</a:t>
            </a:r>
            <a:endParaRPr lang="en-US" sz="1200" dirty="0"/>
          </a:p>
        </p:txBody>
      </p:sp>
      <p:sp>
        <p:nvSpPr>
          <p:cNvPr id="29" name="Text 21"/>
          <p:cNvSpPr txBox="1"/>
          <p:nvPr/>
        </p:nvSpPr>
        <p:spPr>
          <a:xfrm>
            <a:off x="6309360" y="5961888"/>
            <a:ext cx="5333695" cy="228600"/>
          </a:xfrm>
          <a:prstGeom prst="rect">
            <a:avLst/>
          </a:prstGeom>
          <a:noFill/>
          <a:ln/>
        </p:spPr>
        <p:txBody>
          <a:bodyPr wrap="square" lIns="0" tIns="0" rIns="0" bIns="0" rtlCol="0" anchor="t"/>
          <a:lstStyle/>
          <a:p>
            <a:pPr indent="0" marL="0">
              <a:buNone/>
            </a:pPr>
            <a:r>
              <a:rPr lang="en-US" sz="1000" dirty="0">
                <a:solidFill>
                  <a:schemeClr val="accent6"/>
                </a:solidFill>
              </a:rPr>
              <a:t>※ 65%는 합성 사진 점검이라 참고용 · 차량 전체 가림은 차가 찍힌 실제 사진으로 따로 평가</a:t>
            </a:r>
            <a:endParaRPr lang="en-US" sz="10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tx2"/>
                </a:solidFill>
              </a:rPr>
              <a:t>제작 과정의 AI 활용</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tx1"/>
                </a:solidFill>
              </a:rPr>
              <a:t>만들 때도 초안은 AI가, 결정은 팀이 했다</a:t>
            </a:r>
            <a:endParaRPr lang="en-US" sz="3200" dirty="0"/>
          </a:p>
        </p:txBody>
      </p:sp>
      <p:sp>
        <p:nvSpPr>
          <p:cNvPr id="6" name="문제 분석 단계 카드"/>
          <p:cNvSpPr/>
          <p:nvPr/>
        </p:nvSpPr>
        <p:spPr>
          <a:xfrm>
            <a:off x="548640" y="1737360"/>
            <a:ext cx="2567864" cy="3794760"/>
          </a:xfrm>
          <a:prstGeom prst="roundRect">
            <a:avLst>
              <a:gd name="adj" fmla="val 2849"/>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7" name="문제 분석 원"/>
          <p:cNvSpPr/>
          <p:nvPr/>
        </p:nvSpPr>
        <p:spPr>
          <a:xfrm>
            <a:off x="777240" y="1965960"/>
            <a:ext cx="502920" cy="502920"/>
          </a:xfrm>
          <a:prstGeom prst="ellipse">
            <a:avLst/>
          </a:prstGeom>
          <a:solidFill>
            <a:schemeClr val="accent1"/>
          </a:solidFill>
          <a:ln w="12700">
            <a:solidFill>
              <a:schemeClr val="accent1"/>
            </a:solidFill>
            <a:prstDash val="solid"/>
          </a:ln>
        </p:spPr>
      </p:sp>
      <p:pic>
        <p:nvPicPr>
          <p:cNvPr id="8" name="문제 분석 아이콘" descr="preencoded.png">    </p:cNvPr>
          <p:cNvPicPr>
            <a:picLocks noChangeAspect="1"/>
          </p:cNvPicPr>
          <p:nvPr/>
        </p:nvPicPr>
        <p:blipFill>
          <a:blip r:embed="rId1"/>
          <a:stretch>
            <a:fillRect/>
          </a:stretch>
        </p:blipFill>
        <p:spPr>
          <a:xfrm>
            <a:off x="887882" y="2076602"/>
            <a:ext cx="281635" cy="281635"/>
          </a:xfrm>
          <a:prstGeom prst="rect">
            <a:avLst/>
          </a:prstGeom>
        </p:spPr>
      </p:pic>
      <p:sp>
        <p:nvSpPr>
          <p:cNvPr id="9" name="Text 6"/>
          <p:cNvSpPr txBox="1"/>
          <p:nvPr/>
        </p:nvSpPr>
        <p:spPr>
          <a:xfrm>
            <a:off x="1417320" y="1965960"/>
            <a:ext cx="1562024" cy="502920"/>
          </a:xfrm>
          <a:prstGeom prst="rect">
            <a:avLst/>
          </a:prstGeom>
          <a:noFill/>
          <a:ln/>
        </p:spPr>
        <p:txBody>
          <a:bodyPr wrap="square" lIns="0" tIns="0" rIns="0" bIns="0" rtlCol="0" anchor="ctr"/>
          <a:lstStyle/>
          <a:p>
            <a:pPr indent="0" marL="0">
              <a:buNone/>
            </a:pPr>
            <a:r>
              <a:rPr lang="en-US" sz="1800" b="1" dirty="0">
                <a:solidFill>
                  <a:schemeClr val="tx1"/>
                </a:solidFill>
              </a:rPr>
              <a:t>문제 분석</a:t>
            </a:r>
            <a:endParaRPr lang="en-US" sz="1800" dirty="0"/>
          </a:p>
        </p:txBody>
      </p:sp>
      <p:sp>
        <p:nvSpPr>
          <p:cNvPr id="10" name="Text 7"/>
          <p:cNvSpPr/>
          <p:nvPr/>
        </p:nvSpPr>
        <p:spPr>
          <a:xfrm>
            <a:off x="777240" y="2697480"/>
            <a:ext cx="1143000" cy="274320"/>
          </a:xfrm>
          <a:prstGeom prst="roundRect">
            <a:avLst>
              <a:gd name="adj" fmla="val 50000"/>
            </a:avLst>
          </a:prstGeom>
          <a:solidFill>
            <a:schemeClr val="accent5"/>
          </a:solidFill>
          <a:ln>
            <a:solidFill>
              <a:schemeClr val="accent5"/>
            </a:solidFill>
          </a:ln>
        </p:spPr>
        <p:txBody>
          <a:bodyPr wrap="square" lIns="0" tIns="0" rIns="0" bIns="0" rtlCol="0" anchor="ctr"/>
          <a:lstStyle/>
          <a:p>
            <a:pPr algn="ctr" indent="0" marL="0">
              <a:buNone/>
            </a:pPr>
            <a:r>
              <a:rPr lang="en-US" sz="1000" b="1" dirty="0">
                <a:solidFill>
                  <a:schemeClr val="tx2"/>
                </a:solidFill>
              </a:rPr>
              <a:t>AI에게 맡긴 것</a:t>
            </a:r>
            <a:endParaRPr lang="en-US" sz="1000" dirty="0"/>
          </a:p>
        </p:txBody>
      </p:sp>
      <p:sp>
        <p:nvSpPr>
          <p:cNvPr id="11" name="Text 8"/>
          <p:cNvSpPr txBox="1"/>
          <p:nvPr/>
        </p:nvSpPr>
        <p:spPr>
          <a:xfrm>
            <a:off x="777240" y="3063240"/>
            <a:ext cx="2110664" cy="868680"/>
          </a:xfrm>
          <a:prstGeom prst="rect">
            <a:avLst/>
          </a:prstGeom>
          <a:noFill/>
          <a:ln/>
        </p:spPr>
        <p:txBody>
          <a:bodyPr wrap="square" lIns="0" tIns="0" rIns="0" bIns="0" rtlCol="0" anchor="t"/>
          <a:lstStyle/>
          <a:p>
            <a:pPr indent="0" marL="0">
              <a:buNone/>
            </a:pPr>
            <a:r>
              <a:rPr lang="en-US" sz="1300" dirty="0">
                <a:solidFill>
                  <a:schemeClr val="tx1"/>
                </a:solidFill>
              </a:rPr>
              <a:t>유사 사업·통계 자료 조사 초안</a:t>
            </a:r>
            <a:endParaRPr lang="en-US" sz="1300" dirty="0"/>
          </a:p>
        </p:txBody>
      </p:sp>
      <p:sp>
        <p:nvSpPr>
          <p:cNvPr id="12" name="Text 9"/>
          <p:cNvSpPr/>
          <p:nvPr/>
        </p:nvSpPr>
        <p:spPr>
          <a:xfrm>
            <a:off x="777240" y="4023360"/>
            <a:ext cx="1325880" cy="274320"/>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000" b="1" dirty="0">
                <a:solidFill>
                  <a:schemeClr val="bg1"/>
                </a:solidFill>
              </a:rPr>
              <a:t>팀이 확인·수정한 것</a:t>
            </a:r>
            <a:endParaRPr lang="en-US" sz="1000" dirty="0"/>
          </a:p>
        </p:txBody>
      </p:sp>
      <p:sp>
        <p:nvSpPr>
          <p:cNvPr id="13" name="Text 10"/>
          <p:cNvSpPr txBox="1"/>
          <p:nvPr/>
        </p:nvSpPr>
        <p:spPr>
          <a:xfrm>
            <a:off x="777240" y="4389120"/>
            <a:ext cx="2110664" cy="1143000"/>
          </a:xfrm>
          <a:prstGeom prst="rect">
            <a:avLst/>
          </a:prstGeom>
          <a:noFill/>
          <a:ln/>
        </p:spPr>
        <p:txBody>
          <a:bodyPr wrap="square" lIns="0" tIns="0" rIns="0" bIns="0" rtlCol="0" anchor="t"/>
          <a:lstStyle/>
          <a:p>
            <a:pPr indent="0" marL="0">
              <a:buNone/>
            </a:pPr>
            <a:r>
              <a:rPr lang="en-US" sz="1300" dirty="0">
                <a:solidFill>
                  <a:schemeClr val="tx1"/>
                </a:solidFill>
              </a:rPr>
              <a:t>기사·공고 원문으로 수치를 확인하고, 확인된 출처만 각주로 인용</a:t>
            </a:r>
            <a:endParaRPr lang="en-US" sz="1300" dirty="0"/>
          </a:p>
        </p:txBody>
      </p:sp>
      <p:sp>
        <p:nvSpPr>
          <p:cNvPr id="14" name="기획 단계 카드"/>
          <p:cNvSpPr/>
          <p:nvPr/>
        </p:nvSpPr>
        <p:spPr>
          <a:xfrm>
            <a:off x="3390824" y="1737360"/>
            <a:ext cx="2567864" cy="3794760"/>
          </a:xfrm>
          <a:prstGeom prst="roundRect">
            <a:avLst>
              <a:gd name="adj" fmla="val 2849"/>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5" name="기획 원"/>
          <p:cNvSpPr/>
          <p:nvPr/>
        </p:nvSpPr>
        <p:spPr>
          <a:xfrm>
            <a:off x="3619424" y="1965960"/>
            <a:ext cx="502920" cy="502920"/>
          </a:xfrm>
          <a:prstGeom prst="ellipse">
            <a:avLst/>
          </a:prstGeom>
          <a:solidFill>
            <a:schemeClr val="accent1"/>
          </a:solidFill>
          <a:ln w="12700">
            <a:solidFill>
              <a:schemeClr val="accent1"/>
            </a:solidFill>
            <a:prstDash val="solid"/>
          </a:ln>
        </p:spPr>
      </p:sp>
      <p:pic>
        <p:nvPicPr>
          <p:cNvPr id="16" name="기획 아이콘" descr="preencoded.png">    </p:cNvPr>
          <p:cNvPicPr>
            <a:picLocks noChangeAspect="1"/>
          </p:cNvPicPr>
          <p:nvPr/>
        </p:nvPicPr>
        <p:blipFill>
          <a:blip r:embed="rId2"/>
          <a:stretch>
            <a:fillRect/>
          </a:stretch>
        </p:blipFill>
        <p:spPr>
          <a:xfrm>
            <a:off x="3730066" y="2076602"/>
            <a:ext cx="281635" cy="281635"/>
          </a:xfrm>
          <a:prstGeom prst="rect">
            <a:avLst/>
          </a:prstGeom>
        </p:spPr>
      </p:pic>
      <p:sp>
        <p:nvSpPr>
          <p:cNvPr id="17" name="Text 13"/>
          <p:cNvSpPr txBox="1"/>
          <p:nvPr/>
        </p:nvSpPr>
        <p:spPr>
          <a:xfrm>
            <a:off x="4259504" y="1965960"/>
            <a:ext cx="1562024" cy="502920"/>
          </a:xfrm>
          <a:prstGeom prst="rect">
            <a:avLst/>
          </a:prstGeom>
          <a:noFill/>
          <a:ln/>
        </p:spPr>
        <p:txBody>
          <a:bodyPr wrap="square" lIns="0" tIns="0" rIns="0" bIns="0" rtlCol="0" anchor="ctr"/>
          <a:lstStyle/>
          <a:p>
            <a:pPr indent="0" marL="0">
              <a:buNone/>
            </a:pPr>
            <a:r>
              <a:rPr lang="en-US" sz="1800" b="1" dirty="0">
                <a:solidFill>
                  <a:schemeClr val="tx1"/>
                </a:solidFill>
              </a:rPr>
              <a:t>기획</a:t>
            </a:r>
            <a:endParaRPr lang="en-US" sz="1800" dirty="0"/>
          </a:p>
        </p:txBody>
      </p:sp>
      <p:sp>
        <p:nvSpPr>
          <p:cNvPr id="18" name="Text 14"/>
          <p:cNvSpPr/>
          <p:nvPr/>
        </p:nvSpPr>
        <p:spPr>
          <a:xfrm>
            <a:off x="3619424" y="2697480"/>
            <a:ext cx="1143000" cy="274320"/>
          </a:xfrm>
          <a:prstGeom prst="roundRect">
            <a:avLst>
              <a:gd name="adj" fmla="val 50000"/>
            </a:avLst>
          </a:prstGeom>
          <a:solidFill>
            <a:schemeClr val="accent5"/>
          </a:solidFill>
          <a:ln>
            <a:solidFill>
              <a:schemeClr val="accent5"/>
            </a:solidFill>
          </a:ln>
        </p:spPr>
        <p:txBody>
          <a:bodyPr wrap="square" lIns="0" tIns="0" rIns="0" bIns="0" rtlCol="0" anchor="ctr"/>
          <a:lstStyle/>
          <a:p>
            <a:pPr algn="ctr" indent="0" marL="0">
              <a:buNone/>
            </a:pPr>
            <a:r>
              <a:rPr lang="en-US" sz="1000" b="1" dirty="0">
                <a:solidFill>
                  <a:schemeClr val="tx2"/>
                </a:solidFill>
              </a:rPr>
              <a:t>AI에게 맡긴 것</a:t>
            </a:r>
            <a:endParaRPr lang="en-US" sz="1000" dirty="0"/>
          </a:p>
        </p:txBody>
      </p:sp>
      <p:sp>
        <p:nvSpPr>
          <p:cNvPr id="19" name="Text 15"/>
          <p:cNvSpPr txBox="1"/>
          <p:nvPr/>
        </p:nvSpPr>
        <p:spPr>
          <a:xfrm>
            <a:off x="3619424" y="3063240"/>
            <a:ext cx="2110664" cy="868680"/>
          </a:xfrm>
          <a:prstGeom prst="rect">
            <a:avLst/>
          </a:prstGeom>
          <a:noFill/>
          <a:ln/>
        </p:spPr>
        <p:txBody>
          <a:bodyPr wrap="square" lIns="0" tIns="0" rIns="0" bIns="0" rtlCol="0" anchor="t"/>
          <a:lstStyle/>
          <a:p>
            <a:pPr indent="0" marL="0">
              <a:buNone/>
            </a:pPr>
            <a:r>
              <a:rPr lang="en-US" sz="1300" dirty="0">
                <a:solidFill>
                  <a:schemeClr val="tx1"/>
                </a:solidFill>
              </a:rPr>
              <a:t>AI 판독이 위험 등급·처리 제안까지 내는 설계</a:t>
            </a:r>
            <a:endParaRPr lang="en-US" sz="1300" dirty="0"/>
          </a:p>
        </p:txBody>
      </p:sp>
      <p:sp>
        <p:nvSpPr>
          <p:cNvPr id="20" name="Text 16"/>
          <p:cNvSpPr/>
          <p:nvPr/>
        </p:nvSpPr>
        <p:spPr>
          <a:xfrm>
            <a:off x="3619424" y="4023360"/>
            <a:ext cx="1325880" cy="274320"/>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000" b="1" dirty="0">
                <a:solidFill>
                  <a:schemeClr val="bg1"/>
                </a:solidFill>
              </a:rPr>
              <a:t>팀이 확인·수정한 것</a:t>
            </a:r>
            <a:endParaRPr lang="en-US" sz="1000" dirty="0"/>
          </a:p>
        </p:txBody>
      </p:sp>
      <p:sp>
        <p:nvSpPr>
          <p:cNvPr id="21" name="Text 17"/>
          <p:cNvSpPr txBox="1"/>
          <p:nvPr/>
        </p:nvSpPr>
        <p:spPr>
          <a:xfrm>
            <a:off x="3619424" y="4389120"/>
            <a:ext cx="2110664" cy="1143000"/>
          </a:xfrm>
          <a:prstGeom prst="rect">
            <a:avLst/>
          </a:prstGeom>
          <a:noFill/>
          <a:ln/>
        </p:spPr>
        <p:txBody>
          <a:bodyPr wrap="square" lIns="0" tIns="0" rIns="0" bIns="0" rtlCol="0" anchor="t"/>
          <a:lstStyle/>
          <a:p>
            <a:pPr indent="0" marL="0">
              <a:buNone/>
            </a:pPr>
            <a:r>
              <a:rPr lang="en-US" sz="1300" dirty="0">
                <a:solidFill>
                  <a:schemeClr val="tx1"/>
                </a:solidFill>
              </a:rPr>
              <a:t>업무 분류는 판독 상태로, 부서는 시설 대장 규칙으로. AI 등급은 업무에 쓰지 않기로</a:t>
            </a:r>
            <a:endParaRPr lang="en-US" sz="1300" dirty="0"/>
          </a:p>
        </p:txBody>
      </p:sp>
      <p:sp>
        <p:nvSpPr>
          <p:cNvPr id="22" name="개발 단계 카드"/>
          <p:cNvSpPr/>
          <p:nvPr/>
        </p:nvSpPr>
        <p:spPr>
          <a:xfrm>
            <a:off x="6233008" y="1737360"/>
            <a:ext cx="2567864" cy="3794760"/>
          </a:xfrm>
          <a:prstGeom prst="roundRect">
            <a:avLst>
              <a:gd name="adj" fmla="val 2849"/>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23" name="개발 원"/>
          <p:cNvSpPr/>
          <p:nvPr/>
        </p:nvSpPr>
        <p:spPr>
          <a:xfrm>
            <a:off x="6461608" y="1965960"/>
            <a:ext cx="502920" cy="502920"/>
          </a:xfrm>
          <a:prstGeom prst="ellipse">
            <a:avLst/>
          </a:prstGeom>
          <a:solidFill>
            <a:schemeClr val="accent1"/>
          </a:solidFill>
          <a:ln w="12700">
            <a:solidFill>
              <a:schemeClr val="accent1"/>
            </a:solidFill>
            <a:prstDash val="solid"/>
          </a:ln>
        </p:spPr>
      </p:sp>
      <p:pic>
        <p:nvPicPr>
          <p:cNvPr id="24" name="개발 아이콘" descr="preencoded.png">    </p:cNvPr>
          <p:cNvPicPr>
            <a:picLocks noChangeAspect="1"/>
          </p:cNvPicPr>
          <p:nvPr/>
        </p:nvPicPr>
        <p:blipFill>
          <a:blip r:embed="rId3"/>
          <a:stretch>
            <a:fillRect/>
          </a:stretch>
        </p:blipFill>
        <p:spPr>
          <a:xfrm>
            <a:off x="6572250" y="2076602"/>
            <a:ext cx="281635" cy="281635"/>
          </a:xfrm>
          <a:prstGeom prst="rect">
            <a:avLst/>
          </a:prstGeom>
        </p:spPr>
      </p:pic>
      <p:sp>
        <p:nvSpPr>
          <p:cNvPr id="25" name="Text 20"/>
          <p:cNvSpPr txBox="1"/>
          <p:nvPr/>
        </p:nvSpPr>
        <p:spPr>
          <a:xfrm>
            <a:off x="7101688" y="1965960"/>
            <a:ext cx="1562024" cy="502920"/>
          </a:xfrm>
          <a:prstGeom prst="rect">
            <a:avLst/>
          </a:prstGeom>
          <a:noFill/>
          <a:ln/>
        </p:spPr>
        <p:txBody>
          <a:bodyPr wrap="square" lIns="0" tIns="0" rIns="0" bIns="0" rtlCol="0" anchor="ctr"/>
          <a:lstStyle/>
          <a:p>
            <a:pPr indent="0" marL="0">
              <a:buNone/>
            </a:pPr>
            <a:r>
              <a:rPr lang="en-US" sz="1800" b="1" dirty="0">
                <a:solidFill>
                  <a:schemeClr val="tx1"/>
                </a:solidFill>
              </a:rPr>
              <a:t>개발</a:t>
            </a:r>
            <a:endParaRPr lang="en-US" sz="1800" dirty="0"/>
          </a:p>
        </p:txBody>
      </p:sp>
      <p:sp>
        <p:nvSpPr>
          <p:cNvPr id="26" name="Text 21"/>
          <p:cNvSpPr/>
          <p:nvPr/>
        </p:nvSpPr>
        <p:spPr>
          <a:xfrm>
            <a:off x="6461608" y="2697480"/>
            <a:ext cx="1143000" cy="274320"/>
          </a:xfrm>
          <a:prstGeom prst="roundRect">
            <a:avLst>
              <a:gd name="adj" fmla="val 50000"/>
            </a:avLst>
          </a:prstGeom>
          <a:solidFill>
            <a:schemeClr val="accent5"/>
          </a:solidFill>
          <a:ln>
            <a:solidFill>
              <a:schemeClr val="accent5"/>
            </a:solidFill>
          </a:ln>
        </p:spPr>
        <p:txBody>
          <a:bodyPr wrap="square" lIns="0" tIns="0" rIns="0" bIns="0" rtlCol="0" anchor="ctr"/>
          <a:lstStyle/>
          <a:p>
            <a:pPr algn="ctr" indent="0" marL="0">
              <a:buNone/>
            </a:pPr>
            <a:r>
              <a:rPr lang="en-US" sz="1000" b="1" dirty="0">
                <a:solidFill>
                  <a:schemeClr val="tx2"/>
                </a:solidFill>
              </a:rPr>
              <a:t>AI에게 맡긴 것</a:t>
            </a:r>
            <a:endParaRPr lang="en-US" sz="1000" dirty="0"/>
          </a:p>
        </p:txBody>
      </p:sp>
      <p:sp>
        <p:nvSpPr>
          <p:cNvPr id="27" name="Text 22"/>
          <p:cNvSpPr txBox="1"/>
          <p:nvPr/>
        </p:nvSpPr>
        <p:spPr>
          <a:xfrm>
            <a:off x="6461608" y="3063240"/>
            <a:ext cx="2110664" cy="868680"/>
          </a:xfrm>
          <a:prstGeom prst="rect">
            <a:avLst/>
          </a:prstGeom>
          <a:noFill/>
          <a:ln/>
        </p:spPr>
        <p:txBody>
          <a:bodyPr wrap="square" lIns="0" tIns="0" rIns="0" bIns="0" rtlCol="0" anchor="t"/>
          <a:lstStyle/>
          <a:p>
            <a:pPr indent="0" marL="0">
              <a:buNone/>
            </a:pPr>
            <a:r>
              <a:rPr lang="en-US" sz="1300" dirty="0">
                <a:solidFill>
                  <a:schemeClr val="tx1"/>
                </a:solidFill>
              </a:rPr>
              <a:t>AI 코딩 도구로 앱·서버·검증 도구 코드 작성 보조</a:t>
            </a:r>
            <a:endParaRPr lang="en-US" sz="1300" dirty="0"/>
          </a:p>
        </p:txBody>
      </p:sp>
      <p:sp>
        <p:nvSpPr>
          <p:cNvPr id="28" name="Text 23"/>
          <p:cNvSpPr/>
          <p:nvPr/>
        </p:nvSpPr>
        <p:spPr>
          <a:xfrm>
            <a:off x="6461608" y="4023360"/>
            <a:ext cx="1325880" cy="274320"/>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000" b="1" dirty="0">
                <a:solidFill>
                  <a:schemeClr val="bg1"/>
                </a:solidFill>
              </a:rPr>
              <a:t>팀이 확인·수정한 것</a:t>
            </a:r>
            <a:endParaRPr lang="en-US" sz="1000" dirty="0"/>
          </a:p>
        </p:txBody>
      </p:sp>
      <p:sp>
        <p:nvSpPr>
          <p:cNvPr id="29" name="Text 24"/>
          <p:cNvSpPr txBox="1"/>
          <p:nvPr/>
        </p:nvSpPr>
        <p:spPr>
          <a:xfrm>
            <a:off x="6461608" y="4389120"/>
            <a:ext cx="2110664" cy="1143000"/>
          </a:xfrm>
          <a:prstGeom prst="rect">
            <a:avLst/>
          </a:prstGeom>
          <a:noFill/>
          <a:ln/>
        </p:spPr>
        <p:txBody>
          <a:bodyPr wrap="square" lIns="0" tIns="0" rIns="0" bIns="0" rtlCol="0" anchor="t"/>
          <a:lstStyle/>
          <a:p>
            <a:pPr indent="0" marL="0">
              <a:buNone/>
            </a:pPr>
            <a:r>
              <a:rPr lang="en-US" sz="1300" dirty="0">
                <a:solidFill>
                  <a:schemeClr val="tx1"/>
                </a:solidFill>
              </a:rPr>
              <a:t>자동 테스트 196개로 확인, 외부 AI 연동은 사진 보안 때문에 빼고 자체 서버로</a:t>
            </a:r>
            <a:endParaRPr lang="en-US" sz="1300" dirty="0"/>
          </a:p>
        </p:txBody>
      </p:sp>
      <p:sp>
        <p:nvSpPr>
          <p:cNvPr id="30" name="검증 단계 카드"/>
          <p:cNvSpPr/>
          <p:nvPr/>
        </p:nvSpPr>
        <p:spPr>
          <a:xfrm>
            <a:off x="9075191" y="1737360"/>
            <a:ext cx="2567864" cy="3794760"/>
          </a:xfrm>
          <a:prstGeom prst="roundRect">
            <a:avLst>
              <a:gd name="adj" fmla="val 2849"/>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31" name="검증 원"/>
          <p:cNvSpPr/>
          <p:nvPr/>
        </p:nvSpPr>
        <p:spPr>
          <a:xfrm>
            <a:off x="9303791" y="1965960"/>
            <a:ext cx="502920" cy="502920"/>
          </a:xfrm>
          <a:prstGeom prst="ellipse">
            <a:avLst/>
          </a:prstGeom>
          <a:solidFill>
            <a:schemeClr val="accent1"/>
          </a:solidFill>
          <a:ln w="12700">
            <a:solidFill>
              <a:schemeClr val="accent1"/>
            </a:solidFill>
            <a:prstDash val="solid"/>
          </a:ln>
        </p:spPr>
      </p:sp>
      <p:pic>
        <p:nvPicPr>
          <p:cNvPr id="32" name="검증 아이콘" descr="preencoded.png">    </p:cNvPr>
          <p:cNvPicPr>
            <a:picLocks noChangeAspect="1"/>
          </p:cNvPicPr>
          <p:nvPr/>
        </p:nvPicPr>
        <p:blipFill>
          <a:blip r:embed="rId4"/>
          <a:stretch>
            <a:fillRect/>
          </a:stretch>
        </p:blipFill>
        <p:spPr>
          <a:xfrm>
            <a:off x="9414434" y="2076602"/>
            <a:ext cx="281635" cy="281635"/>
          </a:xfrm>
          <a:prstGeom prst="rect">
            <a:avLst/>
          </a:prstGeom>
        </p:spPr>
      </p:pic>
      <p:sp>
        <p:nvSpPr>
          <p:cNvPr id="33" name="Text 27"/>
          <p:cNvSpPr txBox="1"/>
          <p:nvPr/>
        </p:nvSpPr>
        <p:spPr>
          <a:xfrm>
            <a:off x="9943871" y="1965960"/>
            <a:ext cx="1562024" cy="502920"/>
          </a:xfrm>
          <a:prstGeom prst="rect">
            <a:avLst/>
          </a:prstGeom>
          <a:noFill/>
          <a:ln/>
        </p:spPr>
        <p:txBody>
          <a:bodyPr wrap="square" lIns="0" tIns="0" rIns="0" bIns="0" rtlCol="0" anchor="ctr"/>
          <a:lstStyle/>
          <a:p>
            <a:pPr indent="0" marL="0">
              <a:buNone/>
            </a:pPr>
            <a:r>
              <a:rPr lang="en-US" sz="1800" b="1" dirty="0">
                <a:solidFill>
                  <a:schemeClr val="tx1"/>
                </a:solidFill>
              </a:rPr>
              <a:t>검증</a:t>
            </a:r>
            <a:endParaRPr lang="en-US" sz="1800" dirty="0"/>
          </a:p>
        </p:txBody>
      </p:sp>
      <p:sp>
        <p:nvSpPr>
          <p:cNvPr id="34" name="Text 28"/>
          <p:cNvSpPr/>
          <p:nvPr/>
        </p:nvSpPr>
        <p:spPr>
          <a:xfrm>
            <a:off x="9303791" y="2697480"/>
            <a:ext cx="1143000" cy="274320"/>
          </a:xfrm>
          <a:prstGeom prst="roundRect">
            <a:avLst>
              <a:gd name="adj" fmla="val 50000"/>
            </a:avLst>
          </a:prstGeom>
          <a:solidFill>
            <a:schemeClr val="accent5"/>
          </a:solidFill>
          <a:ln>
            <a:solidFill>
              <a:schemeClr val="accent5"/>
            </a:solidFill>
          </a:ln>
        </p:spPr>
        <p:txBody>
          <a:bodyPr wrap="square" lIns="0" tIns="0" rIns="0" bIns="0" rtlCol="0" anchor="ctr"/>
          <a:lstStyle/>
          <a:p>
            <a:pPr algn="ctr" indent="0" marL="0">
              <a:buNone/>
            </a:pPr>
            <a:r>
              <a:rPr lang="en-US" sz="1000" b="1" dirty="0">
                <a:solidFill>
                  <a:schemeClr val="tx2"/>
                </a:solidFill>
              </a:rPr>
              <a:t>AI에게 맡긴 것</a:t>
            </a:r>
            <a:endParaRPr lang="en-US" sz="1000" dirty="0"/>
          </a:p>
        </p:txBody>
      </p:sp>
      <p:sp>
        <p:nvSpPr>
          <p:cNvPr id="35" name="Text 29"/>
          <p:cNvSpPr txBox="1"/>
          <p:nvPr/>
        </p:nvSpPr>
        <p:spPr>
          <a:xfrm>
            <a:off x="9303791" y="3063240"/>
            <a:ext cx="2110664" cy="868680"/>
          </a:xfrm>
          <a:prstGeom prst="rect">
            <a:avLst/>
          </a:prstGeom>
          <a:noFill/>
          <a:ln/>
        </p:spPr>
        <p:txBody>
          <a:bodyPr wrap="square" lIns="0" tIns="0" rIns="0" bIns="0" rtlCol="0" anchor="t"/>
          <a:lstStyle/>
          <a:p>
            <a:pPr indent="0" marL="0">
              <a:buNone/>
            </a:pPr>
            <a:r>
              <a:rPr lang="en-US" sz="1300" dirty="0">
                <a:solidFill>
                  <a:schemeClr val="tx1"/>
                </a:solidFill>
              </a:rPr>
              <a:t>번호판 가림 모델 시험 → 키보드를 번호판으로 봐 사진 54%를 가림</a:t>
            </a:r>
            <a:endParaRPr lang="en-US" sz="1300" dirty="0"/>
          </a:p>
        </p:txBody>
      </p:sp>
      <p:sp>
        <p:nvSpPr>
          <p:cNvPr id="36" name="Text 30"/>
          <p:cNvSpPr/>
          <p:nvPr/>
        </p:nvSpPr>
        <p:spPr>
          <a:xfrm>
            <a:off x="9303791" y="4023360"/>
            <a:ext cx="1325880" cy="274320"/>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000" b="1" dirty="0">
                <a:solidFill>
                  <a:schemeClr val="bg1"/>
                </a:solidFill>
              </a:rPr>
              <a:t>팀이 확인·수정한 것</a:t>
            </a:r>
            <a:endParaRPr lang="en-US" sz="1000" dirty="0"/>
          </a:p>
        </p:txBody>
      </p:sp>
      <p:sp>
        <p:nvSpPr>
          <p:cNvPr id="37" name="Text 31"/>
          <p:cNvSpPr txBox="1"/>
          <p:nvPr/>
        </p:nvSpPr>
        <p:spPr>
          <a:xfrm>
            <a:off x="9303791" y="4389120"/>
            <a:ext cx="2110664" cy="1143000"/>
          </a:xfrm>
          <a:prstGeom prst="rect">
            <a:avLst/>
          </a:prstGeom>
          <a:noFill/>
          <a:ln/>
        </p:spPr>
        <p:txBody>
          <a:bodyPr wrap="square" lIns="0" tIns="0" rIns="0" bIns="0" rtlCol="0" anchor="t"/>
          <a:lstStyle/>
          <a:p>
            <a:pPr indent="0" marL="0">
              <a:buNone/>
            </a:pPr>
            <a:r>
              <a:rPr lang="en-US" sz="1300" dirty="0">
                <a:solidFill>
                  <a:schemeClr val="tx1"/>
                </a:solidFill>
              </a:rPr>
              <a:t>번호판 크기·가로세로 비율 기준을 넣어 오검출을 버리고 시험 추가</a:t>
            </a:r>
            <a:endParaRPr lang="en-US" sz="1300" dirty="0"/>
          </a:p>
        </p:txBody>
      </p:sp>
      <p:sp>
        <p:nvSpPr>
          <p:cNvPr id="38" name="원칙 상자"/>
          <p:cNvSpPr/>
          <p:nvPr/>
        </p:nvSpPr>
        <p:spPr>
          <a:xfrm>
            <a:off x="548640" y="5742432"/>
            <a:ext cx="11094415" cy="457200"/>
          </a:xfrm>
          <a:prstGeom prst="roundRect">
            <a:avLst>
              <a:gd name="adj" fmla="val 16000"/>
            </a:avLst>
          </a:prstGeom>
          <a:solidFill>
            <a:schemeClr val="tx2"/>
          </a:solidFill>
          <a:ln>
            <a:solidFill>
              <a:schemeClr val="tx2"/>
            </a:solidFill>
          </a:ln>
        </p:spPr>
        <p:txBody>
          <a:bodyPr wrap="square" lIns="254000" tIns="0" rIns="254000" bIns="0" rtlCol="0" anchor="ctr"/>
          <a:lstStyle/>
          <a:p>
            <a:pPr indent="0" marL="0">
              <a:buNone/>
            </a:pPr>
            <a:r>
              <a:rPr lang="en-US" sz="1400" b="1" dirty="0">
                <a:solidFill>
                  <a:schemeClr val="bg1"/>
                </a:solidFill>
              </a:rPr>
              <a:t>원칙: AI 결과는 원문·테스트로 확인한 뒤에만 반영</a:t>
            </a:r>
            <a:endParaRPr lang="en-US" sz="14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tx2"/>
                </a:solidFill>
              </a:rPr>
              <a:t>실현 가능성</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tx1"/>
                </a:solidFill>
              </a:rPr>
              <a:t>양주시의 기존 사업과 조직으로 운영한다</a:t>
            </a:r>
            <a:endParaRPr lang="en-US" sz="3200" dirty="0"/>
          </a:p>
        </p:txBody>
      </p:sp>
      <p:sp>
        <p:nvSpPr>
          <p:cNvPr id="5" name="운영 주체 카드"/>
          <p:cNvSpPr/>
          <p:nvPr/>
        </p:nvSpPr>
        <p:spPr>
          <a:xfrm>
            <a:off x="548640" y="1737360"/>
            <a:ext cx="3515258" cy="3767328"/>
          </a:xfrm>
          <a:prstGeom prst="roundRect">
            <a:avLst>
              <a:gd name="adj" fmla="val 2081"/>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6" name="운영 주체 원"/>
          <p:cNvSpPr/>
          <p:nvPr/>
        </p:nvSpPr>
        <p:spPr>
          <a:xfrm>
            <a:off x="777240" y="1965960"/>
            <a:ext cx="530352" cy="530352"/>
          </a:xfrm>
          <a:prstGeom prst="ellipse">
            <a:avLst/>
          </a:prstGeom>
          <a:solidFill>
            <a:schemeClr val="tx2"/>
          </a:solidFill>
          <a:ln w="12700">
            <a:solidFill>
              <a:schemeClr val="tx2"/>
            </a:solidFill>
            <a:prstDash val="solid"/>
          </a:ln>
        </p:spPr>
      </p:sp>
      <p:pic>
        <p:nvPicPr>
          <p:cNvPr id="7" name="운영 주체 아이콘" descr="preencoded.png">    </p:cNvPr>
          <p:cNvPicPr>
            <a:picLocks noChangeAspect="1"/>
          </p:cNvPicPr>
          <p:nvPr/>
        </p:nvPicPr>
        <p:blipFill>
          <a:blip r:embed="rId1"/>
          <a:stretch>
            <a:fillRect/>
          </a:stretch>
        </p:blipFill>
        <p:spPr>
          <a:xfrm>
            <a:off x="893917" y="2082637"/>
            <a:ext cx="296997" cy="296997"/>
          </a:xfrm>
          <a:prstGeom prst="rect">
            <a:avLst/>
          </a:prstGeom>
        </p:spPr>
      </p:pic>
      <p:sp>
        <p:nvSpPr>
          <p:cNvPr id="8" name="Text 5"/>
          <p:cNvSpPr txBox="1"/>
          <p:nvPr/>
        </p:nvSpPr>
        <p:spPr>
          <a:xfrm>
            <a:off x="1444752" y="1965960"/>
            <a:ext cx="2509418" cy="530352"/>
          </a:xfrm>
          <a:prstGeom prst="rect">
            <a:avLst/>
          </a:prstGeom>
          <a:noFill/>
          <a:ln/>
        </p:spPr>
        <p:txBody>
          <a:bodyPr wrap="square" lIns="0" tIns="0" rIns="0" bIns="0" rtlCol="0" anchor="ctr"/>
          <a:lstStyle/>
          <a:p>
            <a:pPr indent="0" marL="0">
              <a:buNone/>
            </a:pPr>
            <a:r>
              <a:rPr lang="en-US" sz="1800" b="1" dirty="0">
                <a:solidFill>
                  <a:schemeClr val="tx1"/>
                </a:solidFill>
              </a:rPr>
              <a:t>운영 주체</a:t>
            </a:r>
            <a:endParaRPr lang="en-US" sz="1800" dirty="0"/>
          </a:p>
        </p:txBody>
      </p:sp>
      <p:sp>
        <p:nvSpPr>
          <p:cNvPr id="9" name="Text 6"/>
          <p:cNvSpPr txBox="1"/>
          <p:nvPr/>
        </p:nvSpPr>
        <p:spPr>
          <a:xfrm>
            <a:off x="804672" y="2724912"/>
            <a:ext cx="1097280" cy="566928"/>
          </a:xfrm>
          <a:prstGeom prst="rect">
            <a:avLst/>
          </a:prstGeom>
          <a:noFill/>
          <a:ln/>
        </p:spPr>
        <p:txBody>
          <a:bodyPr wrap="square" lIns="0" tIns="0" rIns="0" bIns="0" rtlCol="0" anchor="t"/>
          <a:lstStyle/>
          <a:p>
            <a:pPr indent="0" marL="0">
              <a:buNone/>
            </a:pPr>
            <a:r>
              <a:rPr lang="en-US" sz="1400" b="1" dirty="0">
                <a:solidFill>
                  <a:schemeClr val="tx2"/>
                </a:solidFill>
              </a:rPr>
              <a:t>사회복지과</a:t>
            </a:r>
            <a:endParaRPr lang="en-US" sz="1400" dirty="0"/>
          </a:p>
        </p:txBody>
      </p:sp>
      <p:sp>
        <p:nvSpPr>
          <p:cNvPr id="10" name="Text 7"/>
          <p:cNvSpPr txBox="1"/>
          <p:nvPr/>
        </p:nvSpPr>
        <p:spPr>
          <a:xfrm>
            <a:off x="1965960" y="2724912"/>
            <a:ext cx="1869338" cy="603504"/>
          </a:xfrm>
          <a:prstGeom prst="rect">
            <a:avLst/>
          </a:prstGeom>
          <a:noFill/>
          <a:ln/>
        </p:spPr>
        <p:txBody>
          <a:bodyPr wrap="square" lIns="0" tIns="0" rIns="0" bIns="0" rtlCol="0" anchor="t"/>
          <a:lstStyle/>
          <a:p>
            <a:pPr indent="0" marL="0">
              <a:buNone/>
            </a:pPr>
            <a:r>
              <a:rPr lang="en-US" sz="1400" dirty="0">
                <a:solidFill>
                  <a:schemeClr val="tx1"/>
                </a:solidFill>
              </a:rPr>
              <a:t>사업 총괄·예산 관리</a:t>
            </a:r>
            <a:endParaRPr lang="en-US" sz="1400" dirty="0"/>
          </a:p>
        </p:txBody>
      </p:sp>
      <p:sp>
        <p:nvSpPr>
          <p:cNvPr id="11" name="Text 8"/>
          <p:cNvSpPr txBox="1"/>
          <p:nvPr/>
        </p:nvSpPr>
        <p:spPr>
          <a:xfrm>
            <a:off x="804672" y="3639312"/>
            <a:ext cx="1097280" cy="566928"/>
          </a:xfrm>
          <a:prstGeom prst="rect">
            <a:avLst/>
          </a:prstGeom>
          <a:noFill/>
          <a:ln/>
        </p:spPr>
        <p:txBody>
          <a:bodyPr wrap="square" lIns="0" tIns="0" rIns="0" bIns="0" rtlCol="0" anchor="t"/>
          <a:lstStyle/>
          <a:p>
            <a:pPr indent="0" marL="0">
              <a:buNone/>
            </a:pPr>
            <a:r>
              <a:rPr lang="en-US" sz="1400" b="1" dirty="0">
                <a:solidFill>
                  <a:schemeClr val="tx2"/>
                </a:solidFill>
              </a:rPr>
              <a:t>수행기관</a:t>
            </a:r>
            <a:endParaRPr lang="en-US" sz="1400" dirty="0"/>
          </a:p>
        </p:txBody>
      </p:sp>
      <p:sp>
        <p:nvSpPr>
          <p:cNvPr id="12" name="Text 9"/>
          <p:cNvSpPr txBox="1"/>
          <p:nvPr/>
        </p:nvSpPr>
        <p:spPr>
          <a:xfrm>
            <a:off x="1965960" y="3639312"/>
            <a:ext cx="1869338" cy="603504"/>
          </a:xfrm>
          <a:prstGeom prst="rect">
            <a:avLst/>
          </a:prstGeom>
          <a:noFill/>
          <a:ln/>
        </p:spPr>
        <p:txBody>
          <a:bodyPr wrap="square" lIns="0" tIns="0" rIns="0" bIns="0" rtlCol="0" anchor="t"/>
          <a:lstStyle/>
          <a:p>
            <a:pPr indent="0" marL="0">
              <a:buNone/>
            </a:pPr>
            <a:r>
              <a:rPr lang="en-US" sz="1400" dirty="0">
                <a:solidFill>
                  <a:schemeClr val="tx1"/>
                </a:solidFill>
              </a:rPr>
              <a:t>양주시니어클럽 등</a:t>
            </a:r>
            <a:endParaRPr lang="en-US" sz="1400" dirty="0"/>
          </a:p>
        </p:txBody>
      </p:sp>
      <p:sp>
        <p:nvSpPr>
          <p:cNvPr id="13" name="Text 10"/>
          <p:cNvSpPr txBox="1"/>
          <p:nvPr/>
        </p:nvSpPr>
        <p:spPr>
          <a:xfrm>
            <a:off x="804672" y="4553712"/>
            <a:ext cx="1097280" cy="566928"/>
          </a:xfrm>
          <a:prstGeom prst="rect">
            <a:avLst/>
          </a:prstGeom>
          <a:noFill/>
          <a:ln/>
        </p:spPr>
        <p:txBody>
          <a:bodyPr wrap="square" lIns="0" tIns="0" rIns="0" bIns="0" rtlCol="0" anchor="t"/>
          <a:lstStyle/>
          <a:p>
            <a:pPr indent="0" marL="0">
              <a:buNone/>
            </a:pPr>
            <a:r>
              <a:rPr lang="en-US" sz="1400" b="1" dirty="0">
                <a:solidFill>
                  <a:schemeClr val="tx2"/>
                </a:solidFill>
              </a:rPr>
              <a:t>시설 담당자</a:t>
            </a:r>
            <a:endParaRPr lang="en-US" sz="1400" dirty="0"/>
          </a:p>
        </p:txBody>
      </p:sp>
      <p:sp>
        <p:nvSpPr>
          <p:cNvPr id="14" name="Text 11"/>
          <p:cNvSpPr txBox="1"/>
          <p:nvPr/>
        </p:nvSpPr>
        <p:spPr>
          <a:xfrm>
            <a:off x="1965960" y="4553712"/>
            <a:ext cx="1869338" cy="603504"/>
          </a:xfrm>
          <a:prstGeom prst="rect">
            <a:avLst/>
          </a:prstGeom>
          <a:noFill/>
          <a:ln/>
        </p:spPr>
        <p:txBody>
          <a:bodyPr wrap="square" lIns="0" tIns="0" rIns="0" bIns="0" rtlCol="0" anchor="t"/>
          <a:lstStyle/>
          <a:p>
            <a:pPr indent="0" marL="0">
              <a:buNone/>
            </a:pPr>
            <a:r>
              <a:rPr lang="en-US" sz="1400" dirty="0">
                <a:solidFill>
                  <a:schemeClr val="tx1"/>
                </a:solidFill>
              </a:rPr>
              <a:t>검토·보수 요청</a:t>
            </a:r>
            <a:endParaRPr lang="en-US" sz="1400" dirty="0"/>
          </a:p>
        </p:txBody>
      </p:sp>
      <p:sp>
        <p:nvSpPr>
          <p:cNvPr id="17" name="비용 카드"/>
          <p:cNvSpPr/>
          <p:nvPr/>
        </p:nvSpPr>
        <p:spPr>
          <a:xfrm>
            <a:off x="4338218" y="1737360"/>
            <a:ext cx="3515258" cy="3767328"/>
          </a:xfrm>
          <a:prstGeom prst="roundRect">
            <a:avLst>
              <a:gd name="adj" fmla="val 2081"/>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8" name="비용 원"/>
          <p:cNvSpPr/>
          <p:nvPr/>
        </p:nvSpPr>
        <p:spPr>
          <a:xfrm>
            <a:off x="4566818" y="1965960"/>
            <a:ext cx="530352" cy="530352"/>
          </a:xfrm>
          <a:prstGeom prst="ellipse">
            <a:avLst/>
          </a:prstGeom>
          <a:solidFill>
            <a:schemeClr val="accent2"/>
          </a:solidFill>
          <a:ln w="12700">
            <a:solidFill>
              <a:schemeClr val="accent2"/>
            </a:solidFill>
            <a:prstDash val="solid"/>
          </a:ln>
        </p:spPr>
      </p:sp>
      <p:pic>
        <p:nvPicPr>
          <p:cNvPr id="19" name="비용 아이콘" descr="preencoded.png">    </p:cNvPr>
          <p:cNvPicPr>
            <a:picLocks noChangeAspect="1"/>
          </p:cNvPicPr>
          <p:nvPr/>
        </p:nvPicPr>
        <p:blipFill>
          <a:blip r:embed="rId2"/>
          <a:stretch>
            <a:fillRect/>
          </a:stretch>
        </p:blipFill>
        <p:spPr>
          <a:xfrm>
            <a:off x="4683496" y="2082637"/>
            <a:ext cx="296997" cy="296997"/>
          </a:xfrm>
          <a:prstGeom prst="rect">
            <a:avLst/>
          </a:prstGeom>
        </p:spPr>
      </p:pic>
      <p:sp>
        <p:nvSpPr>
          <p:cNvPr id="20" name="Text 16"/>
          <p:cNvSpPr txBox="1"/>
          <p:nvPr/>
        </p:nvSpPr>
        <p:spPr>
          <a:xfrm>
            <a:off x="5234330" y="1965960"/>
            <a:ext cx="2509418" cy="530352"/>
          </a:xfrm>
          <a:prstGeom prst="rect">
            <a:avLst/>
          </a:prstGeom>
          <a:noFill/>
          <a:ln/>
        </p:spPr>
        <p:txBody>
          <a:bodyPr wrap="square" lIns="0" tIns="0" rIns="0" bIns="0" rtlCol="0" anchor="ctr"/>
          <a:lstStyle/>
          <a:p>
            <a:pPr indent="0" marL="0">
              <a:buNone/>
            </a:pPr>
            <a:r>
              <a:rPr lang="en-US" sz="1800" b="1" dirty="0">
                <a:solidFill>
                  <a:schemeClr val="tx1"/>
                </a:solidFill>
              </a:rPr>
              <a:t>재원·비용</a:t>
            </a:r>
            <a:endParaRPr lang="en-US" sz="1800" dirty="0"/>
          </a:p>
        </p:txBody>
      </p:sp>
      <p:sp>
        <p:nvSpPr>
          <p:cNvPr id="21" name="Text 17"/>
          <p:cNvSpPr txBox="1"/>
          <p:nvPr/>
        </p:nvSpPr>
        <p:spPr>
          <a:xfrm>
            <a:off x="4593946" y="2724912"/>
            <a:ext cx="685800" cy="566928"/>
          </a:xfrm>
          <a:prstGeom prst="rect">
            <a:avLst/>
          </a:prstGeom>
          <a:noFill/>
          <a:ln/>
        </p:spPr>
        <p:txBody>
          <a:bodyPr wrap="square" lIns="0" tIns="0" rIns="0" bIns="0" rtlCol="0" anchor="t"/>
          <a:lstStyle/>
          <a:p>
            <a:pPr indent="0" marL="0">
              <a:buNone/>
            </a:pPr>
            <a:r>
              <a:rPr lang="en-US" sz="1400" b="1" dirty="0">
                <a:solidFill>
                  <a:schemeClr val="tx2"/>
                </a:solidFill>
              </a:rPr>
              <a:t>활동</a:t>
            </a:r>
            <a:endParaRPr lang="en-US" sz="1400" dirty="0"/>
          </a:p>
        </p:txBody>
      </p:sp>
      <p:sp>
        <p:nvSpPr>
          <p:cNvPr id="22" name="Text 18"/>
          <p:cNvSpPr txBox="1"/>
          <p:nvPr/>
        </p:nvSpPr>
        <p:spPr>
          <a:xfrm>
            <a:off x="5325466" y="2724912"/>
            <a:ext cx="2298802" cy="603504"/>
          </a:xfrm>
          <a:prstGeom prst="rect">
            <a:avLst/>
          </a:prstGeom>
          <a:noFill/>
          <a:ln/>
        </p:spPr>
        <p:txBody>
          <a:bodyPr wrap="square" lIns="0" tIns="0" rIns="0" bIns="0" rtlCol="0" anchor="t"/>
          <a:lstStyle/>
          <a:p>
            <a:pPr indent="0" marL="0">
              <a:buNone/>
            </a:pPr>
            <a:r>
              <a:rPr lang="en-US" sz="1400" dirty="0">
                <a:solidFill>
                  <a:schemeClr val="tx1"/>
                </a:solidFill>
              </a:rPr>
              <a:t>공익활동사업 월 30시간</a:t>
            </a:r>
            <a:endParaRPr lang="en-US" sz="1400" dirty="0"/>
          </a:p>
        </p:txBody>
      </p:sp>
      <p:sp>
        <p:nvSpPr>
          <p:cNvPr id="23" name="Text 19"/>
          <p:cNvSpPr txBox="1"/>
          <p:nvPr/>
        </p:nvSpPr>
        <p:spPr>
          <a:xfrm>
            <a:off x="4593946" y="3639312"/>
            <a:ext cx="685800" cy="566928"/>
          </a:xfrm>
          <a:prstGeom prst="rect">
            <a:avLst/>
          </a:prstGeom>
          <a:noFill/>
          <a:ln/>
        </p:spPr>
        <p:txBody>
          <a:bodyPr wrap="square" lIns="0" tIns="0" rIns="0" bIns="0" rtlCol="0" anchor="t"/>
          <a:lstStyle/>
          <a:p>
            <a:pPr indent="0" marL="0">
              <a:buNone/>
            </a:pPr>
            <a:r>
              <a:rPr lang="en-US" sz="1400" b="1" dirty="0">
                <a:solidFill>
                  <a:schemeClr val="tx2"/>
                </a:solidFill>
              </a:rPr>
              <a:t>활동비</a:t>
            </a:r>
            <a:endParaRPr lang="en-US" sz="1400" dirty="0"/>
          </a:p>
        </p:txBody>
      </p:sp>
      <p:sp>
        <p:nvSpPr>
          <p:cNvPr id="24" name="Text 20"/>
          <p:cNvSpPr txBox="1"/>
          <p:nvPr/>
        </p:nvSpPr>
        <p:spPr>
          <a:xfrm>
            <a:off x="5325466" y="3639312"/>
            <a:ext cx="2298802" cy="603504"/>
          </a:xfrm>
          <a:prstGeom prst="rect">
            <a:avLst/>
          </a:prstGeom>
          <a:noFill/>
          <a:ln/>
        </p:spPr>
        <p:txBody>
          <a:bodyPr wrap="square" lIns="0" tIns="0" rIns="0" bIns="0" rtlCol="0" anchor="t"/>
          <a:lstStyle/>
          <a:p>
            <a:pPr indent="0" marL="0">
              <a:buNone/>
            </a:pPr>
            <a:r>
              <a:rPr lang="en-US" sz="1400" dirty="0">
                <a:solidFill>
                  <a:schemeClr val="tx1"/>
                </a:solidFill>
              </a:rPr>
              <a:t>기존 노인일자리 예산,</a:t>
            </a:r>
            <a:br>
              <a:rPr lang="en-US" sz="1400" dirty="0">
                <a:solidFill>
                  <a:schemeClr val="tx1"/>
                </a:solidFill>
              </a:rPr>
            </a:br>
            <a:r>
              <a:rPr lang="en-US" sz="1400" dirty="0">
                <a:solidFill>
                  <a:schemeClr val="tx1"/>
                </a:solidFill>
              </a:rPr>
              <a:t>1인 월 29만 원</a:t>
            </a:r>
            <a:endParaRPr lang="en-US" sz="1400" dirty="0"/>
          </a:p>
        </p:txBody>
      </p:sp>
      <p:sp>
        <p:nvSpPr>
          <p:cNvPr id="27" name="Text 23"/>
          <p:cNvSpPr txBox="1"/>
          <p:nvPr/>
        </p:nvSpPr>
        <p:spPr>
          <a:xfrm>
            <a:off x="4593946" y="4553712"/>
            <a:ext cx="685800" cy="566928"/>
          </a:xfrm>
          <a:prstGeom prst="rect">
            <a:avLst/>
          </a:prstGeom>
          <a:noFill/>
          <a:ln/>
        </p:spPr>
        <p:txBody>
          <a:bodyPr wrap="square" lIns="0" tIns="0" rIns="0" bIns="0" rtlCol="0" anchor="t"/>
          <a:lstStyle/>
          <a:p>
            <a:pPr indent="0" marL="0">
              <a:buNone/>
            </a:pPr>
            <a:r>
              <a:rPr lang="en-US" sz="1400" b="1" dirty="0">
                <a:solidFill>
                  <a:schemeClr val="tx2"/>
                </a:solidFill>
              </a:rPr>
              <a:t>보수</a:t>
            </a:r>
            <a:endParaRPr lang="en-US" sz="1400" dirty="0"/>
          </a:p>
        </p:txBody>
      </p:sp>
      <p:sp>
        <p:nvSpPr>
          <p:cNvPr id="28" name="Text 24"/>
          <p:cNvSpPr txBox="1"/>
          <p:nvPr/>
        </p:nvSpPr>
        <p:spPr>
          <a:xfrm>
            <a:off x="5325466" y="4553712"/>
            <a:ext cx="2298802" cy="603504"/>
          </a:xfrm>
          <a:prstGeom prst="rect">
            <a:avLst/>
          </a:prstGeom>
          <a:noFill/>
          <a:ln/>
        </p:spPr>
        <p:txBody>
          <a:bodyPr wrap="square" lIns="0" tIns="0" rIns="0" bIns="0" rtlCol="0" anchor="t"/>
          <a:lstStyle/>
          <a:p>
            <a:pPr indent="0" marL="0">
              <a:buNone/>
            </a:pPr>
            <a:r>
              <a:rPr lang="en-US" sz="1400" dirty="0">
                <a:solidFill>
                  <a:schemeClr val="tx1"/>
                </a:solidFill>
              </a:rPr>
              <a:t>기존 관리 부서가 처리</a:t>
            </a:r>
            <a:endParaRPr lang="en-US" sz="1400" dirty="0"/>
          </a:p>
        </p:txBody>
      </p:sp>
      <p:sp>
        <p:nvSpPr>
          <p:cNvPr id="29" name="개인정보·보안 카드"/>
          <p:cNvSpPr/>
          <p:nvPr/>
        </p:nvSpPr>
        <p:spPr>
          <a:xfrm>
            <a:off x="8127797" y="1737360"/>
            <a:ext cx="3515258" cy="3767328"/>
          </a:xfrm>
          <a:prstGeom prst="roundRect">
            <a:avLst>
              <a:gd name="adj" fmla="val 2081"/>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30" name="개인정보·보안 원"/>
          <p:cNvSpPr/>
          <p:nvPr/>
        </p:nvSpPr>
        <p:spPr>
          <a:xfrm>
            <a:off x="8356397" y="1965960"/>
            <a:ext cx="530352" cy="530352"/>
          </a:xfrm>
          <a:prstGeom prst="ellipse">
            <a:avLst/>
          </a:prstGeom>
          <a:solidFill>
            <a:schemeClr val="accent4"/>
          </a:solidFill>
          <a:ln w="12700">
            <a:solidFill>
              <a:schemeClr val="accent4"/>
            </a:solidFill>
            <a:prstDash val="solid"/>
          </a:ln>
        </p:spPr>
      </p:sp>
      <p:pic>
        <p:nvPicPr>
          <p:cNvPr id="31" name="개인정보·보안 아이콘" descr="preencoded.png">    </p:cNvPr>
          <p:cNvPicPr>
            <a:picLocks noChangeAspect="1"/>
          </p:cNvPicPr>
          <p:nvPr/>
        </p:nvPicPr>
        <p:blipFill>
          <a:blip r:embed="rId3"/>
          <a:stretch>
            <a:fillRect/>
          </a:stretch>
        </p:blipFill>
        <p:spPr>
          <a:xfrm>
            <a:off x="8473074" y="2082637"/>
            <a:ext cx="296997" cy="296997"/>
          </a:xfrm>
          <a:prstGeom prst="rect">
            <a:avLst/>
          </a:prstGeom>
        </p:spPr>
      </p:pic>
      <p:sp>
        <p:nvSpPr>
          <p:cNvPr id="32" name="Text 27"/>
          <p:cNvSpPr txBox="1"/>
          <p:nvPr/>
        </p:nvSpPr>
        <p:spPr>
          <a:xfrm>
            <a:off x="9023909" y="1965960"/>
            <a:ext cx="2509418" cy="530352"/>
          </a:xfrm>
          <a:prstGeom prst="rect">
            <a:avLst/>
          </a:prstGeom>
          <a:noFill/>
          <a:ln/>
        </p:spPr>
        <p:txBody>
          <a:bodyPr wrap="square" lIns="0" tIns="0" rIns="0" bIns="0" rtlCol="0" anchor="ctr"/>
          <a:lstStyle/>
          <a:p>
            <a:pPr indent="0" marL="0">
              <a:buNone/>
            </a:pPr>
            <a:r>
              <a:rPr lang="en-US" sz="1800" b="1" dirty="0">
                <a:solidFill>
                  <a:schemeClr val="tx1"/>
                </a:solidFill>
              </a:rPr>
              <a:t>개인정보·보안</a:t>
            </a:r>
            <a:endParaRPr lang="en-US" sz="1800" dirty="0"/>
          </a:p>
        </p:txBody>
      </p:sp>
      <p:sp>
        <p:nvSpPr>
          <p:cNvPr id="33" name="Text 28"/>
          <p:cNvSpPr txBox="1"/>
          <p:nvPr/>
        </p:nvSpPr>
        <p:spPr>
          <a:xfrm>
            <a:off x="8383829" y="2724912"/>
            <a:ext cx="594360" cy="566928"/>
          </a:xfrm>
          <a:prstGeom prst="rect">
            <a:avLst/>
          </a:prstGeom>
          <a:noFill/>
          <a:ln/>
        </p:spPr>
        <p:txBody>
          <a:bodyPr wrap="square" lIns="0" tIns="0" rIns="0" bIns="0" rtlCol="0" anchor="t"/>
          <a:lstStyle/>
          <a:p>
            <a:pPr indent="0" marL="0">
              <a:buNone/>
            </a:pPr>
            <a:r>
              <a:rPr lang="en-US" sz="1400" b="1" dirty="0">
                <a:solidFill>
                  <a:schemeClr val="tx2"/>
                </a:solidFill>
              </a:rPr>
              <a:t>가림</a:t>
            </a:r>
            <a:endParaRPr lang="en-US" sz="1400" dirty="0"/>
          </a:p>
        </p:txBody>
      </p:sp>
      <p:sp>
        <p:nvSpPr>
          <p:cNvPr id="34" name="Text 29"/>
          <p:cNvSpPr txBox="1"/>
          <p:nvPr/>
        </p:nvSpPr>
        <p:spPr>
          <a:xfrm>
            <a:off x="9042197" y="2724912"/>
            <a:ext cx="2372258" cy="603504"/>
          </a:xfrm>
          <a:prstGeom prst="rect">
            <a:avLst/>
          </a:prstGeom>
          <a:noFill/>
          <a:ln/>
        </p:spPr>
        <p:txBody>
          <a:bodyPr wrap="square" lIns="0" tIns="0" rIns="0" bIns="0" rtlCol="0" anchor="t"/>
          <a:lstStyle/>
          <a:p>
            <a:pPr indent="0" marL="0">
              <a:buNone/>
            </a:pPr>
            <a:r>
              <a:rPr lang="en-US" sz="1400" dirty="0">
                <a:solidFill>
                  <a:schemeClr val="tx1"/>
                </a:solidFill>
              </a:rPr>
              <a:t>휴대폰·서버 이중 가림</a:t>
            </a:r>
            <a:endParaRPr lang="en-US" sz="1400" dirty="0"/>
          </a:p>
        </p:txBody>
      </p:sp>
      <p:sp>
        <p:nvSpPr>
          <p:cNvPr id="35" name="Text 30"/>
          <p:cNvSpPr txBox="1"/>
          <p:nvPr/>
        </p:nvSpPr>
        <p:spPr>
          <a:xfrm>
            <a:off x="8383829" y="3639312"/>
            <a:ext cx="594360" cy="566928"/>
          </a:xfrm>
          <a:prstGeom prst="rect">
            <a:avLst/>
          </a:prstGeom>
          <a:noFill/>
          <a:ln/>
        </p:spPr>
        <p:txBody>
          <a:bodyPr wrap="square" lIns="0" tIns="0" rIns="0" bIns="0" rtlCol="0" anchor="t"/>
          <a:lstStyle/>
          <a:p>
            <a:pPr indent="0" marL="0">
              <a:buNone/>
            </a:pPr>
            <a:r>
              <a:rPr lang="en-US" sz="1400" b="1" dirty="0">
                <a:solidFill>
                  <a:schemeClr val="tx2"/>
                </a:solidFill>
              </a:rPr>
              <a:t>AI</a:t>
            </a:r>
            <a:endParaRPr lang="en-US" sz="1400" dirty="0"/>
          </a:p>
        </p:txBody>
      </p:sp>
      <p:sp>
        <p:nvSpPr>
          <p:cNvPr id="36" name="Text 31"/>
          <p:cNvSpPr txBox="1"/>
          <p:nvPr/>
        </p:nvSpPr>
        <p:spPr>
          <a:xfrm>
            <a:off x="9042197" y="3639312"/>
            <a:ext cx="2372258" cy="603504"/>
          </a:xfrm>
          <a:prstGeom prst="rect">
            <a:avLst/>
          </a:prstGeom>
          <a:noFill/>
          <a:ln/>
        </p:spPr>
        <p:txBody>
          <a:bodyPr wrap="square" lIns="0" tIns="0" rIns="0" bIns="0" rtlCol="0" anchor="t"/>
          <a:lstStyle/>
          <a:p>
            <a:pPr indent="0" marL="0">
              <a:buNone/>
            </a:pPr>
            <a:r>
              <a:rPr lang="en-US" sz="1400" dirty="0">
                <a:solidFill>
                  <a:schemeClr val="tx1"/>
                </a:solidFill>
              </a:rPr>
              <a:t>판독은 자체 서버에서만</a:t>
            </a:r>
            <a:endParaRPr lang="en-US" sz="1400" dirty="0"/>
          </a:p>
        </p:txBody>
      </p:sp>
      <p:sp>
        <p:nvSpPr>
          <p:cNvPr id="37" name="Text 32"/>
          <p:cNvSpPr txBox="1"/>
          <p:nvPr/>
        </p:nvSpPr>
        <p:spPr>
          <a:xfrm>
            <a:off x="8383829" y="4553712"/>
            <a:ext cx="594360" cy="566928"/>
          </a:xfrm>
          <a:prstGeom prst="rect">
            <a:avLst/>
          </a:prstGeom>
          <a:noFill/>
          <a:ln/>
        </p:spPr>
        <p:txBody>
          <a:bodyPr wrap="square" lIns="0" tIns="0" rIns="0" bIns="0" rtlCol="0" anchor="t"/>
          <a:lstStyle/>
          <a:p>
            <a:pPr indent="0" marL="0">
              <a:buNone/>
            </a:pPr>
            <a:r>
              <a:rPr lang="en-US" sz="1400" b="1" dirty="0">
                <a:solidFill>
                  <a:schemeClr val="tx2"/>
                </a:solidFill>
              </a:rPr>
              <a:t>저장</a:t>
            </a:r>
            <a:endParaRPr lang="en-US" sz="1400" dirty="0"/>
          </a:p>
        </p:txBody>
      </p:sp>
      <p:sp>
        <p:nvSpPr>
          <p:cNvPr id="38" name="Text 33"/>
          <p:cNvSpPr txBox="1"/>
          <p:nvPr/>
        </p:nvSpPr>
        <p:spPr>
          <a:xfrm>
            <a:off x="9042197" y="4553712"/>
            <a:ext cx="2372258" cy="603504"/>
          </a:xfrm>
          <a:prstGeom prst="rect">
            <a:avLst/>
          </a:prstGeom>
          <a:noFill/>
          <a:ln/>
        </p:spPr>
        <p:txBody>
          <a:bodyPr wrap="square" lIns="0" tIns="0" rIns="0" bIns="0" rtlCol="0" anchor="t"/>
          <a:lstStyle/>
          <a:p>
            <a:pPr indent="0" marL="0">
              <a:buNone/>
            </a:pPr>
            <a:r>
              <a:rPr lang="en-US" sz="1400" dirty="0">
                <a:solidFill>
                  <a:schemeClr val="tx1"/>
                </a:solidFill>
              </a:rPr>
              <a:t>원본은 저장 안 함</a:t>
            </a:r>
            <a:endParaRPr lang="en-US" sz="1400" dirty="0"/>
          </a:p>
        </p:txBody>
      </p:sp>
      <p:sp>
        <p:nvSpPr>
          <p:cNvPr id="41" name="어르신 안전 원칙"/>
          <p:cNvSpPr/>
          <p:nvPr/>
        </p:nvSpPr>
        <p:spPr>
          <a:xfrm>
            <a:off x="548640" y="5669280"/>
            <a:ext cx="11094415" cy="548640"/>
          </a:xfrm>
          <a:prstGeom prst="roundRect">
            <a:avLst>
              <a:gd name="adj" fmla="val 13333"/>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pic>
        <p:nvPicPr>
          <p:cNvPr id="42" name="Image 3" descr="preencoded.png">    </p:cNvPr>
          <p:cNvPicPr>
            <a:picLocks noChangeAspect="1"/>
          </p:cNvPicPr>
          <p:nvPr/>
        </p:nvPicPr>
        <p:blipFill>
          <a:blip r:embed="rId4"/>
          <a:stretch>
            <a:fillRect/>
          </a:stretch>
        </p:blipFill>
        <p:spPr>
          <a:xfrm>
            <a:off x="749808" y="5760720"/>
            <a:ext cx="365760" cy="365760"/>
          </a:xfrm>
          <a:prstGeom prst="rect">
            <a:avLst/>
          </a:prstGeom>
        </p:spPr>
      </p:pic>
      <p:sp>
        <p:nvSpPr>
          <p:cNvPr id="43" name="Text 37"/>
          <p:cNvSpPr txBox="1"/>
          <p:nvPr/>
        </p:nvSpPr>
        <p:spPr>
          <a:xfrm>
            <a:off x="1234440" y="5669280"/>
            <a:ext cx="10225735" cy="548640"/>
          </a:xfrm>
          <a:prstGeom prst="rect">
            <a:avLst/>
          </a:prstGeom>
          <a:noFill/>
          <a:ln/>
        </p:spPr>
        <p:txBody>
          <a:bodyPr wrap="square" lIns="0" tIns="0" rIns="0" bIns="0" rtlCol="0" anchor="ctr"/>
          <a:lstStyle/>
          <a:p>
            <a:pPr indent="0" marL="0">
              <a:buNone/>
            </a:pPr>
            <a:r>
              <a:rPr lang="en-US" sz="1300" b="1" dirty="0">
                <a:solidFill>
                  <a:schemeClr val="tx2"/>
                </a:solidFill>
              </a:rPr>
              <a:t>어르신 안전 원칙: </a:t>
            </a:r>
            <a:pPr indent="0" marL="0">
              <a:buNone/>
            </a:pPr>
            <a:r>
              <a:rPr lang="en-US" sz="1300" dirty="0">
                <a:solidFill>
                  <a:schemeClr val="tx1"/>
                </a:solidFill>
              </a:rPr>
              <a:t>만지지 않고 찍기만 · 2인 1조 · 위험하면 건너뛰기</a:t>
            </a:r>
            <a:endParaRPr lang="en-US" sz="13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8</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tx2"/>
                </a:solidFill>
              </a:rPr>
              <a:t>추진 계획 · 기대 효과</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tx1"/>
                </a:solidFill>
              </a:rPr>
              <a:t>2~3개 동 시범에서 시작해 시 전역으로</a:t>
            </a:r>
            <a:endParaRPr lang="en-US" sz="3200" dirty="0"/>
          </a:p>
        </p:txBody>
      </p:sp>
      <p:sp>
        <p:nvSpPr>
          <p:cNvPr id="5" name="1단계 시범"/>
          <p:cNvSpPr/>
          <p:nvPr/>
        </p:nvSpPr>
        <p:spPr>
          <a:xfrm>
            <a:off x="548640" y="1737360"/>
            <a:ext cx="3454298" cy="2103120"/>
          </a:xfrm>
          <a:prstGeom prst="roundRect">
            <a:avLst>
              <a:gd name="adj" fmla="val 3902"/>
            </a:avLst>
          </a:prstGeom>
          <a:solidFill>
            <a:schemeClr val="tx2"/>
          </a:solidFill>
          <a:ln w="12700">
            <a:solidFill>
              <a:schemeClr val="tx2"/>
            </a:solidFill>
            <a:prstDash val="solid"/>
          </a:ln>
          <a:effectLst>
            <a:outerShdw sx="100000" sy="100000" kx="0" ky="0" algn="bl" rotWithShape="0" blurRad="101600" dist="25400" dir="5400000">
              <a:srgbClr val="0E4C5A">
                <a:alpha val="10000"/>
              </a:srgbClr>
            </a:outerShdw>
          </a:effectLst>
        </p:spPr>
      </p:sp>
      <p:sp>
        <p:nvSpPr>
          <p:cNvPr id="6" name="Text 4"/>
          <p:cNvSpPr txBox="1"/>
          <p:nvPr/>
        </p:nvSpPr>
        <p:spPr>
          <a:xfrm>
            <a:off x="777240" y="1920240"/>
            <a:ext cx="2997098" cy="640080"/>
          </a:xfrm>
          <a:prstGeom prst="rect">
            <a:avLst/>
          </a:prstGeom>
          <a:noFill/>
          <a:ln/>
        </p:spPr>
        <p:txBody>
          <a:bodyPr wrap="square" lIns="0" tIns="0" rIns="0" bIns="0" rtlCol="0" anchor="t"/>
          <a:lstStyle/>
          <a:p>
            <a:pPr indent="0" marL="0">
              <a:buNone/>
            </a:pPr>
            <a:r>
              <a:rPr lang="en-US" sz="1700" b="1" dirty="0">
                <a:solidFill>
                  <a:schemeClr val="accent1"/>
                </a:solidFill>
              </a:rPr>
              <a:t>1단계 시범 · 2027년 (1년)</a:t>
            </a:r>
            <a:endParaRPr lang="en-US" sz="1400" dirty="0"/>
          </a:p>
          <a:p>
            <a:pPr indent="0" marL="0">
              <a:buNone/>
            </a:pPr>
            <a:r>
              <a:rPr lang="en-US" sz="1200" dirty="0">
                <a:solidFill>
                  <a:schemeClr val="accent5"/>
                </a:solidFill>
              </a:rPr>
              <a:t>2~3개 동 · 시설 5종</a:t>
            </a:r>
            <a:endParaRPr lang="en-US" sz="1400" dirty="0"/>
          </a:p>
        </p:txBody>
      </p:sp>
      <p:sp>
        <p:nvSpPr>
          <p:cNvPr id="7" name="Text 5"/>
          <p:cNvSpPr txBox="1"/>
          <p:nvPr/>
        </p:nvSpPr>
        <p:spPr>
          <a:xfrm>
            <a:off x="777240" y="2651760"/>
            <a:ext cx="3042818" cy="10515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bg1"/>
                </a:solidFill>
              </a:rPr>
              <a:t>가림 성공률 목표 확인 후 시작</a:t>
            </a:r>
            <a:endParaRPr lang="en-US" sz="1300" dirty="0"/>
          </a:p>
          <a:p>
            <a:pPr marL="177800" indent="-177800">
              <a:spcAft>
                <a:spcPts val="400"/>
              </a:spcAft>
              <a:buSzPct val="100000"/>
              <a:buChar char="•"/>
            </a:pPr>
            <a:r>
              <a:rPr lang="en-US" sz="1300" dirty="0">
                <a:solidFill>
                  <a:schemeClr val="bg1"/>
                </a:solidFill>
              </a:rPr>
              <a:t>판정·수리 확인 일치율 평가</a:t>
            </a:r>
            <a:endParaRPr lang="en-US" sz="1300" dirty="0"/>
          </a:p>
        </p:txBody>
      </p:sp>
      <p:sp>
        <p:nvSpPr>
          <p:cNvPr id="8" name="Shape 6"/>
          <p:cNvSpPr/>
          <p:nvPr/>
        </p:nvSpPr>
        <p:spPr>
          <a:xfrm>
            <a:off x="4057802" y="2788920"/>
            <a:ext cx="256032" cy="914"/>
          </a:xfrm>
          <a:prstGeom prst="line">
            <a:avLst/>
          </a:prstGeom>
          <a:noFill/>
          <a:ln w="25400">
            <a:solidFill>
              <a:schemeClr val="accent2"/>
            </a:solidFill>
            <a:prstDash val="solid"/>
            <a:tailEnd type="triangle"/>
          </a:ln>
        </p:spPr>
      </p:sp>
      <p:sp>
        <p:nvSpPr>
          <p:cNvPr id="9" name="2단계 확대"/>
          <p:cNvSpPr/>
          <p:nvPr/>
        </p:nvSpPr>
        <p:spPr>
          <a:xfrm>
            <a:off x="4368698" y="1737360"/>
            <a:ext cx="3454298" cy="2103120"/>
          </a:xfrm>
          <a:prstGeom prst="roundRect">
            <a:avLst>
              <a:gd name="adj" fmla="val 3902"/>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0" name="Text 8"/>
          <p:cNvSpPr txBox="1"/>
          <p:nvPr/>
        </p:nvSpPr>
        <p:spPr>
          <a:xfrm>
            <a:off x="4597298" y="1920240"/>
            <a:ext cx="2997098" cy="640080"/>
          </a:xfrm>
          <a:prstGeom prst="rect">
            <a:avLst/>
          </a:prstGeom>
          <a:noFill/>
          <a:ln/>
        </p:spPr>
        <p:txBody>
          <a:bodyPr wrap="square" lIns="0" tIns="0" rIns="0" bIns="0" rtlCol="0" anchor="t"/>
          <a:lstStyle/>
          <a:p>
            <a:pPr indent="0" marL="0">
              <a:buNone/>
            </a:pPr>
            <a:r>
              <a:rPr lang="en-US" sz="1700" b="1" dirty="0">
                <a:solidFill>
                  <a:schemeClr val="tx2"/>
                </a:solidFill>
              </a:rPr>
              <a:t>2단계 시 전역 확대 · 2028년</a:t>
            </a:r>
            <a:endParaRPr lang="en-US" sz="1400" dirty="0"/>
          </a:p>
          <a:p>
            <a:pPr indent="0" marL="0">
              <a:buNone/>
            </a:pPr>
            <a:r>
              <a:rPr lang="en-US" sz="1200" dirty="0">
                <a:solidFill>
                  <a:schemeClr val="accent6"/>
                </a:solidFill>
              </a:rPr>
              <a:t>시설 종류 확대·기존 사업 연계</a:t>
            </a:r>
            <a:endParaRPr lang="en-US" sz="1400" dirty="0"/>
          </a:p>
        </p:txBody>
      </p:sp>
      <p:sp>
        <p:nvSpPr>
          <p:cNvPr id="11" name="Text 9"/>
          <p:cNvSpPr txBox="1"/>
          <p:nvPr/>
        </p:nvSpPr>
        <p:spPr>
          <a:xfrm>
            <a:off x="4597298" y="2651760"/>
            <a:ext cx="3042818" cy="11430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기존 노인일자리 사진도 함께 판독</a:t>
            </a:r>
            <a:endParaRPr lang="en-US" sz="1300" dirty="0"/>
          </a:p>
          <a:p>
            <a:pPr marL="177800" indent="-177800">
              <a:spcAft>
                <a:spcPts val="400"/>
              </a:spcAft>
              <a:buSzPct val="100000"/>
              <a:buChar char="•"/>
            </a:pPr>
            <a:r>
              <a:rPr lang="en-US" sz="1300" dirty="0">
                <a:solidFill>
                  <a:schemeClr val="tx1"/>
                </a:solidFill>
              </a:rPr>
              <a:t>맨홀·보안등·놀이터 추가, 계절 점검</a:t>
            </a:r>
            <a:endParaRPr lang="en-US" sz="1300" dirty="0"/>
          </a:p>
        </p:txBody>
      </p:sp>
      <p:sp>
        <p:nvSpPr>
          <p:cNvPr id="12" name="Shape 10"/>
          <p:cNvSpPr/>
          <p:nvPr/>
        </p:nvSpPr>
        <p:spPr>
          <a:xfrm>
            <a:off x="7877861" y="2788920"/>
            <a:ext cx="256032" cy="914"/>
          </a:xfrm>
          <a:prstGeom prst="line">
            <a:avLst/>
          </a:prstGeom>
          <a:noFill/>
          <a:ln w="25400">
            <a:solidFill>
              <a:schemeClr val="accent2"/>
            </a:solidFill>
            <a:prstDash val="solid"/>
            <a:tailEnd type="triangle"/>
          </a:ln>
        </p:spPr>
      </p:sp>
      <p:sp>
        <p:nvSpPr>
          <p:cNvPr id="13" name="3단계 고도화"/>
          <p:cNvSpPr/>
          <p:nvPr/>
        </p:nvSpPr>
        <p:spPr>
          <a:xfrm>
            <a:off x="8188757" y="1737360"/>
            <a:ext cx="3454298" cy="2103120"/>
          </a:xfrm>
          <a:prstGeom prst="roundRect">
            <a:avLst>
              <a:gd name="adj" fmla="val 3902"/>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4" name="Text 12"/>
          <p:cNvSpPr txBox="1"/>
          <p:nvPr/>
        </p:nvSpPr>
        <p:spPr>
          <a:xfrm>
            <a:off x="8417357" y="1920240"/>
            <a:ext cx="2997098" cy="640080"/>
          </a:xfrm>
          <a:prstGeom prst="rect">
            <a:avLst/>
          </a:prstGeom>
          <a:noFill/>
          <a:ln/>
        </p:spPr>
        <p:txBody>
          <a:bodyPr wrap="square" lIns="0" tIns="0" rIns="0" bIns="0" rtlCol="0" anchor="t"/>
          <a:lstStyle/>
          <a:p>
            <a:pPr indent="0" marL="0">
              <a:buNone/>
            </a:pPr>
            <a:r>
              <a:rPr lang="en-US" sz="1700" b="1" dirty="0">
                <a:solidFill>
                  <a:schemeClr val="tx2"/>
                </a:solidFill>
              </a:rPr>
              <a:t>3단계 고도화 · 2029년 이후</a:t>
            </a:r>
            <a:endParaRPr lang="en-US" sz="1400" dirty="0"/>
          </a:p>
          <a:p>
            <a:pPr indent="0" marL="0">
              <a:buNone/>
            </a:pPr>
            <a:r>
              <a:rPr lang="en-US" sz="1200" dirty="0">
                <a:solidFill>
                  <a:schemeClr val="accent6"/>
                </a:solidFill>
              </a:rPr>
              <a:t>이력 기반 사전 관리</a:t>
            </a:r>
            <a:endParaRPr lang="en-US" sz="1400" dirty="0"/>
          </a:p>
        </p:txBody>
      </p:sp>
      <p:sp>
        <p:nvSpPr>
          <p:cNvPr id="15" name="Text 13"/>
          <p:cNvSpPr txBox="1"/>
          <p:nvPr/>
        </p:nvSpPr>
        <p:spPr>
          <a:xfrm>
            <a:off x="8417357" y="2651760"/>
            <a:ext cx="3042818" cy="10515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판정 기록으로 자체 판독 모델 검토</a:t>
            </a:r>
            <a:endParaRPr lang="en-US" sz="1300" dirty="0"/>
          </a:p>
          <a:p>
            <a:pPr marL="177800" indent="-177800">
              <a:spcAft>
                <a:spcPts val="400"/>
              </a:spcAft>
              <a:buSzPct val="100000"/>
              <a:buChar char="•"/>
            </a:pPr>
            <a:r>
              <a:rPr lang="en-US" sz="1300" dirty="0">
                <a:solidFill>
                  <a:schemeClr val="tx1"/>
                </a:solidFill>
              </a:rPr>
              <a:t>반복 고장 구간 미리 지정</a:t>
            </a:r>
            <a:endParaRPr lang="en-US" sz="1300" dirty="0"/>
          </a:p>
        </p:txBody>
      </p:sp>
      <p:sp>
        <p:nvSpPr>
          <p:cNvPr id="16" name="기대 효과 시민 · 생활 안전"/>
          <p:cNvSpPr/>
          <p:nvPr/>
        </p:nvSpPr>
        <p:spPr>
          <a:xfrm>
            <a:off x="548640" y="4160520"/>
            <a:ext cx="2567864" cy="1965960"/>
          </a:xfrm>
          <a:prstGeom prst="roundRect">
            <a:avLst>
              <a:gd name="adj" fmla="val 3721"/>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7" name="시민 · 생활 안전 원"/>
          <p:cNvSpPr/>
          <p:nvPr/>
        </p:nvSpPr>
        <p:spPr>
          <a:xfrm>
            <a:off x="777240" y="4389120"/>
            <a:ext cx="502920" cy="502920"/>
          </a:xfrm>
          <a:prstGeom prst="ellipse">
            <a:avLst/>
          </a:prstGeom>
          <a:solidFill>
            <a:schemeClr val="accent2"/>
          </a:solidFill>
          <a:ln w="12700">
            <a:solidFill>
              <a:schemeClr val="accent2"/>
            </a:solidFill>
            <a:prstDash val="solid"/>
          </a:ln>
        </p:spPr>
      </p:sp>
      <p:pic>
        <p:nvPicPr>
          <p:cNvPr id="18" name="시민 · 생활 안전 아이콘" descr="preencoded.png">    </p:cNvPr>
          <p:cNvPicPr>
            <a:picLocks noChangeAspect="1"/>
          </p:cNvPicPr>
          <p:nvPr/>
        </p:nvPicPr>
        <p:blipFill>
          <a:blip r:embed="rId1"/>
          <a:stretch>
            <a:fillRect/>
          </a:stretch>
        </p:blipFill>
        <p:spPr>
          <a:xfrm>
            <a:off x="887882" y="4499762"/>
            <a:ext cx="281635" cy="281635"/>
          </a:xfrm>
          <a:prstGeom prst="rect">
            <a:avLst/>
          </a:prstGeom>
        </p:spPr>
      </p:pic>
      <p:sp>
        <p:nvSpPr>
          <p:cNvPr id="19" name="Text 16"/>
          <p:cNvSpPr txBox="1"/>
          <p:nvPr/>
        </p:nvSpPr>
        <p:spPr>
          <a:xfrm>
            <a:off x="1417320" y="4389120"/>
            <a:ext cx="1607744" cy="502920"/>
          </a:xfrm>
          <a:prstGeom prst="rect">
            <a:avLst/>
          </a:prstGeom>
          <a:noFill/>
          <a:ln/>
        </p:spPr>
        <p:txBody>
          <a:bodyPr wrap="square" lIns="0" tIns="0" rIns="0" bIns="0" rtlCol="0" anchor="ctr"/>
          <a:lstStyle/>
          <a:p>
            <a:pPr indent="0" marL="0">
              <a:buNone/>
            </a:pPr>
            <a:r>
              <a:rPr lang="en-US" sz="1500" b="1" dirty="0">
                <a:solidFill>
                  <a:schemeClr val="tx1"/>
                </a:solidFill>
              </a:rPr>
              <a:t>시민 · 생활 안전</a:t>
            </a:r>
            <a:endParaRPr lang="en-US" sz="1500" dirty="0"/>
          </a:p>
        </p:txBody>
      </p:sp>
      <p:sp>
        <p:nvSpPr>
          <p:cNvPr id="20" name="Text 17"/>
          <p:cNvSpPr txBox="1"/>
          <p:nvPr/>
        </p:nvSpPr>
        <p:spPr>
          <a:xfrm>
            <a:off x="777240" y="5056632"/>
            <a:ext cx="2156384" cy="960120"/>
          </a:xfrm>
          <a:prstGeom prst="rect">
            <a:avLst/>
          </a:prstGeom>
          <a:noFill/>
          <a:ln/>
        </p:spPr>
        <p:txBody>
          <a:bodyPr wrap="square" lIns="0" tIns="0" rIns="0" bIns="0" rtlCol="0" anchor="t"/>
          <a:lstStyle/>
          <a:p>
            <a:pPr indent="0" marL="0">
              <a:buNone/>
            </a:pPr>
            <a:r>
              <a:rPr lang="en-US" sz="1500" dirty="0">
                <a:solidFill>
                  <a:schemeClr val="accent6"/>
                </a:solidFill>
              </a:rPr>
              <a:t>민원 전에 먼저 발견</a:t>
            </a:r>
            <a:endParaRPr lang="en-US" sz="1500" dirty="0"/>
          </a:p>
          <a:p>
            <a:pPr indent="0" marL="0">
              <a:buNone/>
            </a:pPr>
            <a:r>
              <a:rPr lang="en-US" sz="1500" dirty="0">
                <a:solidFill>
                  <a:schemeClr val="accent6"/>
                </a:solidFill>
              </a:rPr>
              <a:t>신고 없이도 정기 관리</a:t>
            </a:r>
            <a:endParaRPr lang="en-US" sz="1500" dirty="0"/>
          </a:p>
        </p:txBody>
      </p:sp>
      <p:sp>
        <p:nvSpPr>
          <p:cNvPr id="21" name="기대 효과 어르신 · 일자리"/>
          <p:cNvSpPr/>
          <p:nvPr/>
        </p:nvSpPr>
        <p:spPr>
          <a:xfrm>
            <a:off x="3390824" y="4160520"/>
            <a:ext cx="2567864" cy="1965960"/>
          </a:xfrm>
          <a:prstGeom prst="roundRect">
            <a:avLst>
              <a:gd name="adj" fmla="val 3721"/>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22" name="어르신 · 일자리 원"/>
          <p:cNvSpPr/>
          <p:nvPr/>
        </p:nvSpPr>
        <p:spPr>
          <a:xfrm>
            <a:off x="3619424" y="4389120"/>
            <a:ext cx="502920" cy="502920"/>
          </a:xfrm>
          <a:prstGeom prst="ellipse">
            <a:avLst/>
          </a:prstGeom>
          <a:solidFill>
            <a:schemeClr val="accent1"/>
          </a:solidFill>
          <a:ln w="12700">
            <a:solidFill>
              <a:schemeClr val="accent1"/>
            </a:solidFill>
            <a:prstDash val="solid"/>
          </a:ln>
        </p:spPr>
      </p:sp>
      <p:pic>
        <p:nvPicPr>
          <p:cNvPr id="23" name="어르신 · 일자리 아이콘" descr="preencoded.png">    </p:cNvPr>
          <p:cNvPicPr>
            <a:picLocks noChangeAspect="1"/>
          </p:cNvPicPr>
          <p:nvPr/>
        </p:nvPicPr>
        <p:blipFill>
          <a:blip r:embed="rId2"/>
          <a:stretch>
            <a:fillRect/>
          </a:stretch>
        </p:blipFill>
        <p:spPr>
          <a:xfrm>
            <a:off x="3730066" y="4499762"/>
            <a:ext cx="281635" cy="281635"/>
          </a:xfrm>
          <a:prstGeom prst="rect">
            <a:avLst/>
          </a:prstGeom>
        </p:spPr>
      </p:pic>
      <p:sp>
        <p:nvSpPr>
          <p:cNvPr id="24" name="Text 20"/>
          <p:cNvSpPr txBox="1"/>
          <p:nvPr/>
        </p:nvSpPr>
        <p:spPr>
          <a:xfrm>
            <a:off x="4259504" y="4389120"/>
            <a:ext cx="1607744" cy="502920"/>
          </a:xfrm>
          <a:prstGeom prst="rect">
            <a:avLst/>
          </a:prstGeom>
          <a:noFill/>
          <a:ln/>
        </p:spPr>
        <p:txBody>
          <a:bodyPr wrap="square" lIns="0" tIns="0" rIns="0" bIns="0" rtlCol="0" anchor="ctr"/>
          <a:lstStyle/>
          <a:p>
            <a:pPr indent="0" marL="0">
              <a:buNone/>
            </a:pPr>
            <a:r>
              <a:rPr lang="en-US" sz="1500" b="1" dirty="0">
                <a:solidFill>
                  <a:schemeClr val="tx1"/>
                </a:solidFill>
              </a:rPr>
              <a:t>어르신 · 일자리</a:t>
            </a:r>
            <a:endParaRPr lang="en-US" sz="1500" dirty="0"/>
          </a:p>
        </p:txBody>
      </p:sp>
      <p:sp>
        <p:nvSpPr>
          <p:cNvPr id="25" name="Text 21"/>
          <p:cNvSpPr txBox="1"/>
          <p:nvPr/>
        </p:nvSpPr>
        <p:spPr>
          <a:xfrm>
            <a:off x="3619424" y="5056632"/>
            <a:ext cx="2156384" cy="960120"/>
          </a:xfrm>
          <a:prstGeom prst="rect">
            <a:avLst/>
          </a:prstGeom>
          <a:noFill/>
          <a:ln/>
        </p:spPr>
        <p:txBody>
          <a:bodyPr wrap="square" lIns="0" tIns="0" rIns="0" bIns="0" rtlCol="0" anchor="t"/>
          <a:lstStyle/>
          <a:p>
            <a:pPr indent="0" marL="0">
              <a:buNone/>
            </a:pPr>
            <a:r>
              <a:rPr lang="en-US" sz="1500" dirty="0">
                <a:solidFill>
                  <a:schemeClr val="accent6"/>
                </a:solidFill>
              </a:rPr>
              <a:t>동네 경험을 살린 일자리</a:t>
            </a:r>
            <a:endParaRPr lang="en-US" sz="1500" dirty="0"/>
          </a:p>
          <a:p>
            <a:pPr indent="0" marL="0">
              <a:buNone/>
            </a:pPr>
            <a:r>
              <a:rPr lang="en-US" sz="1500" dirty="0">
                <a:solidFill>
                  <a:schemeClr val="accent6"/>
                </a:solidFill>
              </a:rPr>
              <a:t>걷기·사회 참여</a:t>
            </a:r>
            <a:endParaRPr lang="en-US" sz="1500" dirty="0"/>
          </a:p>
        </p:txBody>
      </p:sp>
      <p:sp>
        <p:nvSpPr>
          <p:cNvPr id="26" name="기대 효과 시 행정 · 효율"/>
          <p:cNvSpPr/>
          <p:nvPr/>
        </p:nvSpPr>
        <p:spPr>
          <a:xfrm>
            <a:off x="6233008" y="4160520"/>
            <a:ext cx="2567864" cy="1965960"/>
          </a:xfrm>
          <a:prstGeom prst="roundRect">
            <a:avLst>
              <a:gd name="adj" fmla="val 3721"/>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27" name="시 행정 · 효율 원"/>
          <p:cNvSpPr/>
          <p:nvPr/>
        </p:nvSpPr>
        <p:spPr>
          <a:xfrm>
            <a:off x="6461608" y="4389120"/>
            <a:ext cx="502920" cy="502920"/>
          </a:xfrm>
          <a:prstGeom prst="ellipse">
            <a:avLst/>
          </a:prstGeom>
          <a:solidFill>
            <a:schemeClr val="tx2"/>
          </a:solidFill>
          <a:ln w="12700">
            <a:solidFill>
              <a:schemeClr val="tx2"/>
            </a:solidFill>
            <a:prstDash val="solid"/>
          </a:ln>
        </p:spPr>
      </p:sp>
      <p:pic>
        <p:nvPicPr>
          <p:cNvPr id="28" name="시 행정 · 효율 아이콘" descr="preencoded.png">    </p:cNvPr>
          <p:cNvPicPr>
            <a:picLocks noChangeAspect="1"/>
          </p:cNvPicPr>
          <p:nvPr/>
        </p:nvPicPr>
        <p:blipFill>
          <a:blip r:embed="rId3"/>
          <a:stretch>
            <a:fillRect/>
          </a:stretch>
        </p:blipFill>
        <p:spPr>
          <a:xfrm>
            <a:off x="6572250" y="4499762"/>
            <a:ext cx="281635" cy="281635"/>
          </a:xfrm>
          <a:prstGeom prst="rect">
            <a:avLst/>
          </a:prstGeom>
        </p:spPr>
      </p:pic>
      <p:sp>
        <p:nvSpPr>
          <p:cNvPr id="29" name="Text 24"/>
          <p:cNvSpPr txBox="1"/>
          <p:nvPr/>
        </p:nvSpPr>
        <p:spPr>
          <a:xfrm>
            <a:off x="7101688" y="4389120"/>
            <a:ext cx="1607744" cy="502920"/>
          </a:xfrm>
          <a:prstGeom prst="rect">
            <a:avLst/>
          </a:prstGeom>
          <a:noFill/>
          <a:ln/>
        </p:spPr>
        <p:txBody>
          <a:bodyPr wrap="square" lIns="0" tIns="0" rIns="0" bIns="0" rtlCol="0" anchor="ctr"/>
          <a:lstStyle/>
          <a:p>
            <a:pPr indent="0" marL="0">
              <a:buNone/>
            </a:pPr>
            <a:r>
              <a:rPr lang="en-US" sz="1500" b="1" dirty="0">
                <a:solidFill>
                  <a:schemeClr val="tx1"/>
                </a:solidFill>
              </a:rPr>
              <a:t>시 행정 · 효율</a:t>
            </a:r>
            <a:endParaRPr lang="en-US" sz="1500" dirty="0"/>
          </a:p>
        </p:txBody>
      </p:sp>
      <p:sp>
        <p:nvSpPr>
          <p:cNvPr id="30" name="Text 25"/>
          <p:cNvSpPr txBox="1"/>
          <p:nvPr/>
        </p:nvSpPr>
        <p:spPr>
          <a:xfrm>
            <a:off x="6461608" y="5056632"/>
            <a:ext cx="2156384" cy="960120"/>
          </a:xfrm>
          <a:prstGeom prst="rect">
            <a:avLst/>
          </a:prstGeom>
          <a:noFill/>
          <a:ln/>
        </p:spPr>
        <p:txBody>
          <a:bodyPr wrap="square" lIns="0" tIns="0" rIns="0" bIns="0" rtlCol="0" anchor="t"/>
          <a:lstStyle/>
          <a:p>
            <a:pPr indent="0" marL="0">
              <a:buNone/>
            </a:pPr>
            <a:r>
              <a:rPr lang="en-US" sz="1500" dirty="0">
                <a:solidFill>
                  <a:schemeClr val="accent6"/>
                </a:solidFill>
              </a:rPr>
              <a:t>AI가 추린 목록으로 검토</a:t>
            </a:r>
            <a:endParaRPr lang="en-US" sz="1500" dirty="0"/>
          </a:p>
          <a:p>
            <a:pPr indent="0" marL="0">
              <a:buNone/>
            </a:pPr>
            <a:r>
              <a:rPr lang="en-US" sz="1500" dirty="0">
                <a:solidFill>
                  <a:schemeClr val="accent6"/>
                </a:solidFill>
              </a:rPr>
              <a:t>보고와 현장 차이 포착</a:t>
            </a:r>
            <a:endParaRPr lang="en-US" sz="1500" dirty="0"/>
          </a:p>
        </p:txBody>
      </p:sp>
      <p:sp>
        <p:nvSpPr>
          <p:cNvPr id="31" name="기대 효과 지역사회 · 확산"/>
          <p:cNvSpPr/>
          <p:nvPr/>
        </p:nvSpPr>
        <p:spPr>
          <a:xfrm>
            <a:off x="9075191" y="4160520"/>
            <a:ext cx="2567864" cy="1965960"/>
          </a:xfrm>
          <a:prstGeom prst="roundRect">
            <a:avLst>
              <a:gd name="adj" fmla="val 3721"/>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32" name="지역사회 · 확산 원"/>
          <p:cNvSpPr/>
          <p:nvPr/>
        </p:nvSpPr>
        <p:spPr>
          <a:xfrm>
            <a:off x="9303791" y="4389120"/>
            <a:ext cx="502920" cy="502920"/>
          </a:xfrm>
          <a:prstGeom prst="ellipse">
            <a:avLst/>
          </a:prstGeom>
          <a:solidFill>
            <a:schemeClr val="accent4"/>
          </a:solidFill>
          <a:ln w="12700">
            <a:solidFill>
              <a:schemeClr val="accent4"/>
            </a:solidFill>
            <a:prstDash val="solid"/>
          </a:ln>
        </p:spPr>
      </p:sp>
      <p:pic>
        <p:nvPicPr>
          <p:cNvPr id="33" name="지역사회 · 확산 아이콘" descr="preencoded.png">    </p:cNvPr>
          <p:cNvPicPr>
            <a:picLocks noChangeAspect="1"/>
          </p:cNvPicPr>
          <p:nvPr/>
        </p:nvPicPr>
        <p:blipFill>
          <a:blip r:embed="rId4"/>
          <a:stretch>
            <a:fillRect/>
          </a:stretch>
        </p:blipFill>
        <p:spPr>
          <a:xfrm>
            <a:off x="9414434" y="4499762"/>
            <a:ext cx="281635" cy="281635"/>
          </a:xfrm>
          <a:prstGeom prst="rect">
            <a:avLst/>
          </a:prstGeom>
        </p:spPr>
      </p:pic>
      <p:sp>
        <p:nvSpPr>
          <p:cNvPr id="34" name="Text 28"/>
          <p:cNvSpPr txBox="1"/>
          <p:nvPr/>
        </p:nvSpPr>
        <p:spPr>
          <a:xfrm>
            <a:off x="9943871" y="4389120"/>
            <a:ext cx="1607744" cy="502920"/>
          </a:xfrm>
          <a:prstGeom prst="rect">
            <a:avLst/>
          </a:prstGeom>
          <a:noFill/>
          <a:ln/>
        </p:spPr>
        <p:txBody>
          <a:bodyPr wrap="square" lIns="0" tIns="0" rIns="0" bIns="0" rtlCol="0" anchor="ctr"/>
          <a:lstStyle/>
          <a:p>
            <a:pPr indent="0" marL="0">
              <a:buNone/>
            </a:pPr>
            <a:r>
              <a:rPr lang="en-US" sz="1500" b="1" dirty="0">
                <a:solidFill>
                  <a:schemeClr val="tx1"/>
                </a:solidFill>
              </a:rPr>
              <a:t>지역사회 · 확산</a:t>
            </a:r>
            <a:endParaRPr lang="en-US" sz="1500" dirty="0"/>
          </a:p>
        </p:txBody>
      </p:sp>
      <p:sp>
        <p:nvSpPr>
          <p:cNvPr id="35" name="Text 29"/>
          <p:cNvSpPr txBox="1"/>
          <p:nvPr/>
        </p:nvSpPr>
        <p:spPr>
          <a:xfrm>
            <a:off x="9303791" y="5056632"/>
            <a:ext cx="2156384" cy="960120"/>
          </a:xfrm>
          <a:prstGeom prst="rect">
            <a:avLst/>
          </a:prstGeom>
          <a:noFill/>
          <a:ln/>
        </p:spPr>
        <p:txBody>
          <a:bodyPr wrap="square" lIns="0" tIns="0" rIns="0" bIns="0" rtlCol="0" anchor="t"/>
          <a:lstStyle/>
          <a:p>
            <a:pPr indent="0" marL="0">
              <a:buNone/>
            </a:pPr>
            <a:r>
              <a:rPr lang="en-US" sz="1500" dirty="0">
                <a:solidFill>
                  <a:schemeClr val="accent6"/>
                </a:solidFill>
              </a:rPr>
              <a:t>전국 공통 문제라</a:t>
            </a:r>
            <a:endParaRPr lang="en-US" sz="1500" dirty="0"/>
          </a:p>
          <a:p>
            <a:pPr indent="0" marL="0">
              <a:buNone/>
            </a:pPr>
            <a:r>
              <a:rPr lang="en-US" sz="1500" dirty="0">
                <a:solidFill>
                  <a:schemeClr val="accent6"/>
                </a:solidFill>
              </a:rPr>
              <a:t>다른 지자체도 적용 가능</a:t>
            </a:r>
            <a:endParaRPr lang="en-US" sz="15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4C5A"/>
        </a:solidFill>
        <a:effectLst/>
      </p:bgPr>
    </p:bg>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rgbClr val="13292E"/>
                </a:solidFill>
              </a:rPr>
              <a:t>✓</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rgbClr val="FFFFFF"/>
                </a:solidFill>
              </a:rPr>
              <a:t>마무리</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rgbClr val="F5C518"/>
                </a:solidFill>
              </a:rPr>
              <a:t>시니어 동네 점검단</a:t>
            </a:r>
            <a:endParaRPr lang="en-US" sz="3200" dirty="0"/>
          </a:p>
        </p:txBody>
      </p:sp>
      <p:sp>
        <p:nvSpPr>
          <p:cNvPr id="5" name="Text 3"/>
          <p:cNvSpPr txBox="1"/>
          <p:nvPr/>
        </p:nvSpPr>
        <p:spPr>
          <a:xfrm>
            <a:off x="548640" y="1600200"/>
            <a:ext cx="11094415" cy="411480"/>
          </a:xfrm>
          <a:prstGeom prst="rect">
            <a:avLst/>
          </a:prstGeom>
          <a:noFill/>
          <a:ln/>
        </p:spPr>
        <p:txBody>
          <a:bodyPr wrap="square" lIns="0" tIns="0" rIns="0" bIns="0" rtlCol="0" anchor="t"/>
          <a:lstStyle/>
          <a:p>
            <a:pPr indent="0" marL="0">
              <a:buNone/>
            </a:pPr>
            <a:r>
              <a:rPr lang="en-US" sz="1800" dirty="0">
                <a:solidFill>
                  <a:srgbClr val="D5E9EE"/>
                </a:solidFill>
              </a:rPr>
              <a:t>어르신이 찍고 AI가 판독해 현장과 행정을 잇는 생활 시설 점검 서비스</a:t>
            </a:r>
            <a:endParaRPr lang="en-US" sz="1800" dirty="0"/>
          </a:p>
        </p:txBody>
      </p:sp>
      <p:sp>
        <p:nvSpPr>
          <p:cNvPr id="7" name="이소미 카드"/>
          <p:cNvSpPr/>
          <p:nvPr/>
        </p:nvSpPr>
        <p:spPr>
          <a:xfrm>
            <a:off x="548640" y="2651760"/>
            <a:ext cx="3515258" cy="1737360"/>
          </a:xfrm>
          <a:prstGeom prst="roundRect">
            <a:avLst>
              <a:gd name="adj" fmla="val 3810"/>
            </a:avLst>
          </a:prstGeom>
          <a:solidFill>
            <a:srgbClr val="265E6A"/>
          </a:solidFill>
          <a:ln>
            <a:noFill/>
          </a:ln>
        </p:spPr>
      </p:sp>
      <p:sp>
        <p:nvSpPr>
          <p:cNvPr id="8" name="Text 6"/>
          <p:cNvSpPr txBox="1"/>
          <p:nvPr/>
        </p:nvSpPr>
        <p:spPr>
          <a:xfrm>
            <a:off x="822960" y="2907792"/>
            <a:ext cx="2966618" cy="457200"/>
          </a:xfrm>
          <a:prstGeom prst="rect">
            <a:avLst/>
          </a:prstGeom>
          <a:noFill/>
          <a:ln/>
        </p:spPr>
        <p:txBody>
          <a:bodyPr wrap="square" lIns="0" tIns="0" rIns="0" bIns="0" rtlCol="0" anchor="t"/>
          <a:lstStyle/>
          <a:p>
            <a:pPr indent="0" marL="0">
              <a:buNone/>
            </a:pPr>
            <a:r>
              <a:rPr lang="en-US" sz="2200" b="1" dirty="0">
                <a:solidFill>
                  <a:srgbClr val="FFFFFF"/>
                </a:solidFill>
              </a:rPr>
              <a:t>이소미</a:t>
            </a:r>
            <a:endParaRPr lang="en-US" sz="2200" dirty="0"/>
          </a:p>
        </p:txBody>
      </p:sp>
      <p:sp>
        <p:nvSpPr>
          <p:cNvPr id="9" name="Text 7"/>
          <p:cNvSpPr txBox="1"/>
          <p:nvPr/>
        </p:nvSpPr>
        <p:spPr>
          <a:xfrm>
            <a:off x="822960" y="3520440"/>
            <a:ext cx="2966618" cy="822960"/>
          </a:xfrm>
          <a:prstGeom prst="rect">
            <a:avLst/>
          </a:prstGeom>
          <a:noFill/>
          <a:ln/>
        </p:spPr>
        <p:txBody>
          <a:bodyPr wrap="square" lIns="0" tIns="0" rIns="0" bIns="0" rtlCol="0" anchor="t"/>
          <a:lstStyle/>
          <a:p>
            <a:pPr indent="0" marL="0">
              <a:spcAft>
                <a:spcPts val="800"/>
              </a:spcAft>
              <a:buNone/>
            </a:pPr>
            <a:r>
              <a:rPr lang="en-US" sz="1400" b="1" dirty="0">
                <a:solidFill>
                  <a:srgbClr val="F5C518"/>
                </a:solidFill>
              </a:rPr>
              <a:t xml:space="preserve">역할: </a:t>
            </a:r>
            <a:r>
              <a:rPr lang="en-US" sz="1400" dirty="0">
                <a:solidFill>
                  <a:srgbClr val="FFFFFF"/>
                </a:solidFill>
              </a:rPr>
              <a:t>기획·백엔드</a:t>
            </a:r>
            <a:endParaRPr lang="en-US" sz="1400" dirty="0"/>
          </a:p>
          <a:p>
            <a:pPr indent="0" marL="0">
              <a:spcAft>
                <a:spcPts val="800"/>
              </a:spcAft>
              <a:buNone/>
            </a:pPr>
            <a:r>
              <a:rPr lang="en-US" sz="1400" b="1" dirty="0">
                <a:solidFill>
                  <a:srgbClr val="F5C518"/>
                </a:solidFill>
              </a:rPr>
              <a:t xml:space="preserve">기여: </a:t>
            </a:r>
            <a:r>
              <a:rPr lang="en-US" sz="1400" dirty="0">
                <a:solidFill>
                  <a:srgbClr val="FFFFFF"/>
                </a:solidFill>
              </a:rPr>
              <a:t>서비스 기획, 업무 서버</a:t>
            </a:r>
            <a:endParaRPr lang="en-US" sz="1400" dirty="0"/>
          </a:p>
        </p:txBody>
      </p:sp>
      <p:sp>
        <p:nvSpPr>
          <p:cNvPr id="10" name="이승재 카드"/>
          <p:cNvSpPr/>
          <p:nvPr/>
        </p:nvSpPr>
        <p:spPr>
          <a:xfrm>
            <a:off x="4338218" y="2651760"/>
            <a:ext cx="3515258" cy="1737360"/>
          </a:xfrm>
          <a:prstGeom prst="roundRect">
            <a:avLst>
              <a:gd name="adj" fmla="val 3810"/>
            </a:avLst>
          </a:prstGeom>
          <a:solidFill>
            <a:srgbClr val="265E6A"/>
          </a:solidFill>
          <a:ln>
            <a:noFill/>
          </a:ln>
        </p:spPr>
      </p:sp>
      <p:sp>
        <p:nvSpPr>
          <p:cNvPr id="11" name="Text 9"/>
          <p:cNvSpPr txBox="1"/>
          <p:nvPr/>
        </p:nvSpPr>
        <p:spPr>
          <a:xfrm>
            <a:off x="4612538" y="2907792"/>
            <a:ext cx="2966618" cy="457200"/>
          </a:xfrm>
          <a:prstGeom prst="rect">
            <a:avLst/>
          </a:prstGeom>
          <a:noFill/>
          <a:ln/>
        </p:spPr>
        <p:txBody>
          <a:bodyPr wrap="square" lIns="0" tIns="0" rIns="0" bIns="0" rtlCol="0" anchor="t"/>
          <a:lstStyle/>
          <a:p>
            <a:pPr indent="0" marL="0">
              <a:buNone/>
            </a:pPr>
            <a:r>
              <a:rPr lang="en-US" sz="2200" b="1" dirty="0">
                <a:solidFill>
                  <a:srgbClr val="FFFFFF"/>
                </a:solidFill>
              </a:rPr>
              <a:t>이승재</a:t>
            </a:r>
            <a:endParaRPr lang="en-US" sz="2200" dirty="0"/>
          </a:p>
        </p:txBody>
      </p:sp>
      <p:sp>
        <p:nvSpPr>
          <p:cNvPr id="12" name="Text 10"/>
          <p:cNvSpPr txBox="1"/>
          <p:nvPr/>
        </p:nvSpPr>
        <p:spPr>
          <a:xfrm>
            <a:off x="4612538" y="3520440"/>
            <a:ext cx="2966618" cy="822960"/>
          </a:xfrm>
          <a:prstGeom prst="rect">
            <a:avLst/>
          </a:prstGeom>
          <a:noFill/>
          <a:ln/>
        </p:spPr>
        <p:txBody>
          <a:bodyPr wrap="square" lIns="0" tIns="0" rIns="0" bIns="0" rtlCol="0" anchor="t"/>
          <a:lstStyle/>
          <a:p>
            <a:pPr indent="0" marL="0">
              <a:spcAft>
                <a:spcPts val="800"/>
              </a:spcAft>
              <a:buNone/>
            </a:pPr>
            <a:r>
              <a:rPr lang="en-US" sz="1400" b="1" dirty="0">
                <a:solidFill>
                  <a:srgbClr val="F5C518"/>
                </a:solidFill>
              </a:rPr>
              <a:t xml:space="preserve">역할: </a:t>
            </a:r>
            <a:r>
              <a:rPr lang="en-US" sz="1400" dirty="0">
                <a:solidFill>
                  <a:srgbClr val="FFFFFF"/>
                </a:solidFill>
              </a:rPr>
              <a:t>발표·프론트엔드</a:t>
            </a:r>
            <a:endParaRPr lang="en-US" sz="1400" dirty="0"/>
          </a:p>
          <a:p>
            <a:pPr indent="0" marL="0">
              <a:spcAft>
                <a:spcPts val="800"/>
              </a:spcAft>
              <a:buNone/>
            </a:pPr>
            <a:r>
              <a:rPr lang="en-US" sz="1400" b="1" dirty="0">
                <a:solidFill>
                  <a:srgbClr val="F5C518"/>
                </a:solidFill>
              </a:rPr>
              <a:t xml:space="preserve">기여: </a:t>
            </a:r>
            <a:r>
              <a:rPr lang="en-US" sz="1400" dirty="0">
                <a:solidFill>
                  <a:srgbClr val="FFFFFF"/>
                </a:solidFill>
              </a:rPr>
              <a:t>시니어 앱·관리자 웹</a:t>
            </a:r>
            <a:endParaRPr lang="en-US" sz="1400" dirty="0"/>
          </a:p>
        </p:txBody>
      </p:sp>
      <p:sp>
        <p:nvSpPr>
          <p:cNvPr id="13" name="황상진 카드"/>
          <p:cNvSpPr/>
          <p:nvPr/>
        </p:nvSpPr>
        <p:spPr>
          <a:xfrm>
            <a:off x="8127797" y="2651760"/>
            <a:ext cx="3515258" cy="1737360"/>
          </a:xfrm>
          <a:prstGeom prst="roundRect">
            <a:avLst>
              <a:gd name="adj" fmla="val 3810"/>
            </a:avLst>
          </a:prstGeom>
          <a:solidFill>
            <a:srgbClr val="265E6A"/>
          </a:solidFill>
          <a:ln>
            <a:noFill/>
          </a:ln>
        </p:spPr>
      </p:sp>
      <p:sp>
        <p:nvSpPr>
          <p:cNvPr id="14" name="Text 12"/>
          <p:cNvSpPr txBox="1"/>
          <p:nvPr/>
        </p:nvSpPr>
        <p:spPr>
          <a:xfrm>
            <a:off x="8402117" y="2907792"/>
            <a:ext cx="2966618" cy="457200"/>
          </a:xfrm>
          <a:prstGeom prst="rect">
            <a:avLst/>
          </a:prstGeom>
          <a:noFill/>
          <a:ln/>
        </p:spPr>
        <p:txBody>
          <a:bodyPr wrap="square" lIns="0" tIns="0" rIns="0" bIns="0" rtlCol="0" anchor="t"/>
          <a:lstStyle/>
          <a:p>
            <a:pPr indent="0" marL="0">
              <a:buNone/>
            </a:pPr>
            <a:r>
              <a:rPr lang="en-US" sz="2200" b="1" dirty="0">
                <a:solidFill>
                  <a:srgbClr val="FFFFFF"/>
                </a:solidFill>
              </a:rPr>
              <a:t>황상진</a:t>
            </a:r>
            <a:endParaRPr lang="en-US" sz="2200" dirty="0"/>
          </a:p>
        </p:txBody>
      </p:sp>
      <p:sp>
        <p:nvSpPr>
          <p:cNvPr id="15" name="Text 13"/>
          <p:cNvSpPr txBox="1"/>
          <p:nvPr/>
        </p:nvSpPr>
        <p:spPr>
          <a:xfrm>
            <a:off x="8402117" y="3520440"/>
            <a:ext cx="2966618" cy="822960"/>
          </a:xfrm>
          <a:prstGeom prst="rect">
            <a:avLst/>
          </a:prstGeom>
          <a:noFill/>
          <a:ln/>
        </p:spPr>
        <p:txBody>
          <a:bodyPr wrap="square" lIns="0" tIns="0" rIns="0" bIns="0" rtlCol="0" anchor="t"/>
          <a:lstStyle/>
          <a:p>
            <a:pPr indent="0" marL="0">
              <a:spcAft>
                <a:spcPts val="800"/>
              </a:spcAft>
              <a:buNone/>
            </a:pPr>
            <a:r>
              <a:rPr lang="en-US" sz="1400" b="1" dirty="0">
                <a:solidFill>
                  <a:srgbClr val="F5C518"/>
                </a:solidFill>
              </a:rPr>
              <a:t xml:space="preserve">역할: </a:t>
            </a:r>
            <a:r>
              <a:rPr lang="en-US" sz="1400" dirty="0">
                <a:solidFill>
                  <a:srgbClr val="FFFFFF"/>
                </a:solidFill>
              </a:rPr>
              <a:t>문서·AI</a:t>
            </a:r>
            <a:endParaRPr lang="en-US" sz="1400" dirty="0"/>
          </a:p>
          <a:p>
            <a:pPr indent="0" marL="0">
              <a:spcAft>
                <a:spcPts val="800"/>
              </a:spcAft>
              <a:buNone/>
            </a:pPr>
            <a:r>
              <a:rPr lang="en-US" sz="1400" b="1" dirty="0">
                <a:solidFill>
                  <a:srgbClr val="F5C518"/>
                </a:solidFill>
              </a:rPr>
              <a:t xml:space="preserve">기여: </a:t>
            </a:r>
            <a:r>
              <a:rPr lang="en-US" sz="1400" dirty="0">
                <a:solidFill>
                  <a:srgbClr val="FFFFFF"/>
                </a:solidFill>
              </a:rPr>
              <a:t>기획안 작성, AI 판독 서버</a:t>
            </a:r>
            <a:endParaRPr lang="en-US" sz="1400" dirty="0"/>
          </a:p>
        </p:txBody>
      </p:sp>
      <p:sp>
        <p:nvSpPr>
          <p:cNvPr id="16" name="Text 14"/>
          <p:cNvSpPr txBox="1"/>
          <p:nvPr/>
        </p:nvSpPr>
        <p:spPr>
          <a:xfrm>
            <a:off x="548640" y="5166360"/>
            <a:ext cx="11094415" cy="548640"/>
          </a:xfrm>
          <a:prstGeom prst="rect">
            <a:avLst/>
          </a:prstGeom>
          <a:noFill/>
          <a:ln/>
        </p:spPr>
        <p:txBody>
          <a:bodyPr wrap="square" lIns="0" tIns="0" rIns="0" bIns="0" rtlCol="0" anchor="t"/>
          <a:lstStyle/>
          <a:p>
            <a:pPr indent="0" marL="0">
              <a:buNone/>
            </a:pPr>
            <a:r>
              <a:rPr lang="en-US" sz="2600" b="1" dirty="0">
                <a:solidFill>
                  <a:srgbClr val="F5C518"/>
                </a:solidFill>
              </a:rPr>
              <a:t>감사합니다</a:t>
            </a:r>
            <a:endParaRPr lang="en-US" sz="26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D5E9E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A1</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tx2"/>
                </a:solidFill>
              </a:rPr>
              <a:t>부록 · 질의응답 참고</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tx1"/>
                </a:solidFill>
              </a:rPr>
              <a:t>기존 방식과 무엇이 다른가</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463040"/>
                <a:gridCol w="3017520"/>
                <a:gridCol w="3017520"/>
                <a:gridCol w="3596335"/>
              </a:tblGrid>
              <a:tr h="658368">
                <a:tc>
                  <a:txBody>
                    <a:bodyPr/>
                    <a:lstStyle/>
                    <a:p>
                      <a:pPr indent="0" marL="0">
                        <a:buNone/>
                      </a:pPr>
                      <a:r>
                        <a:rPr lang="en-US" sz="1300" b="1" dirty="0">
                          <a:solidFill>
                            <a:schemeClr val="bg1"/>
                          </a:solidFill>
                        </a:rPr>
                        <a:t>구분</a:t>
                      </a:r>
                      <a:endParaRPr lang="en-US" sz="13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accent6"/>
                    </a:solidFill>
                  </a:tcPr>
                </a:tc>
                <a:tc>
                  <a:txBody>
                    <a:bodyPr/>
                    <a:lstStyle/>
                    <a:p>
                      <a:pPr indent="0" marL="0">
                        <a:buNone/>
                      </a:pPr>
                      <a:r>
                        <a:rPr lang="en-US" sz="1300" b="1" dirty="0">
                          <a:solidFill>
                            <a:schemeClr val="bg1"/>
                          </a:solidFill>
                        </a:rPr>
                        <a:t>AI 안전신문고(행정안전부)</a:t>
                      </a:r>
                      <a:endParaRPr lang="en-US" sz="1300" dirty="0"/>
                    </a:p>
                    <a:p>
                      <a:pPr indent="0" marL="0">
                        <a:buNone/>
                      </a:pPr>
                      <a:r>
                        <a:rPr lang="en-US" sz="1300" b="1" dirty="0">
                          <a:solidFill>
                            <a:schemeClr val="bg1"/>
                          </a:solidFill>
                        </a:rPr>
                        <a:t>1단계 개발 완료 · 연말 시범</a:t>
                      </a:r>
                      <a:endParaRPr lang="en-US" sz="13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accent6"/>
                    </a:solidFill>
                  </a:tcPr>
                </a:tc>
                <a:tc>
                  <a:txBody>
                    <a:bodyPr/>
                    <a:lstStyle/>
                    <a:p>
                      <a:pPr indent="0" marL="0">
                        <a:buNone/>
                      </a:pPr>
                      <a:r>
                        <a:rPr lang="en-US" sz="1300" b="1" dirty="0">
                          <a:solidFill>
                            <a:schemeClr val="bg1"/>
                          </a:solidFill>
                        </a:rPr>
                        <a:t>보행로 정보수집 전문가</a:t>
                      </a:r>
                      <a:endParaRPr lang="en-US" sz="1300" dirty="0"/>
                    </a:p>
                    <a:p>
                      <a:pPr indent="0" marL="0">
                        <a:buNone/>
                      </a:pPr>
                      <a:r>
                        <a:rPr lang="en-US" sz="1300" b="1" dirty="0">
                          <a:solidFill>
                            <a:schemeClr val="bg1"/>
                          </a:solidFill>
                        </a:rPr>
                        <a:t>(노인일자리)</a:t>
                      </a:r>
                      <a:endParaRPr lang="en-US" sz="13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accent6"/>
                    </a:solidFill>
                  </a:tcPr>
                </a:tc>
                <a:tc>
                  <a:txBody>
                    <a:bodyPr/>
                    <a:lstStyle/>
                    <a:p>
                      <a:pPr indent="0" marL="0">
                        <a:buNone/>
                      </a:pPr>
                      <a:r>
                        <a:rPr lang="en-US" sz="1300" b="1" dirty="0">
                          <a:solidFill>
                            <a:schemeClr val="bg1"/>
                          </a:solidFill>
                        </a:rPr>
                        <a:t>시니어 동네 점검단</a:t>
                      </a:r>
                      <a:endParaRPr lang="en-US" sz="13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tx2"/>
                    </a:solidFill>
                  </a:tcPr>
                </a:tc>
              </a:tr>
              <a:tr h="548640">
                <a:tc>
                  <a:txBody>
                    <a:bodyPr/>
                    <a:lstStyle/>
                    <a:p>
                      <a:pPr indent="0" marL="0">
                        <a:buNone/>
                      </a:pPr>
                      <a:r>
                        <a:rPr lang="en-US" sz="1200" b="1" dirty="0">
                          <a:solidFill>
                            <a:schemeClr val="tx2"/>
                          </a:solidFill>
                        </a:rPr>
                        <a:t>누가 찾나</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위험을 우연히 본 시민</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교육받은 어르신이 계획 지역 순회</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2인 1조 어르신이 정해진 코스 정기 순회</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accent5"/>
                    </a:solidFill>
                  </a:tcPr>
                </a:tc>
              </a:tr>
              <a:tr h="548640">
                <a:tc>
                  <a:txBody>
                    <a:bodyPr/>
                    <a:lstStyle/>
                    <a:p>
                      <a:pPr indent="0" marL="0">
                        <a:buNone/>
                      </a:pPr>
                      <a:r>
                        <a:rPr lang="en-US" sz="1200" b="1" dirty="0">
                          <a:solidFill>
                            <a:schemeClr val="tx2"/>
                          </a:solidFill>
                        </a:rPr>
                        <a:t>이상 판단</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AI가 신고 분류와 중요도 판단</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어르신이 직접 판단해 입력</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AI가 먼저 읽고 담당자가 확정</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accent5"/>
                    </a:solidFill>
                  </a:tcPr>
                </a:tc>
              </a:tr>
              <a:tr h="548640">
                <a:tc>
                  <a:txBody>
                    <a:bodyPr/>
                    <a:lstStyle/>
                    <a:p>
                      <a:pPr indent="0" marL="0">
                        <a:buNone/>
                      </a:pPr>
                      <a:r>
                        <a:rPr lang="en-US" sz="1200" b="1" dirty="0">
                          <a:solidFill>
                            <a:schemeClr val="tx2"/>
                          </a:solidFill>
                        </a:rPr>
                        <a:t>주 목적</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신고 접수·이송 효율</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보행 내비게이션용 데이터 구축</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생활 시설 이상 발견과 수리 확인</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accent5"/>
                    </a:solidFill>
                  </a:tcPr>
                </a:tc>
              </a:tr>
              <a:tr h="548640">
                <a:tc>
                  <a:txBody>
                    <a:bodyPr/>
                    <a:lstStyle/>
                    <a:p>
                      <a:pPr indent="0" marL="0">
                        <a:buNone/>
                      </a:pPr>
                      <a:r>
                        <a:rPr lang="en-US" sz="1200" b="1" dirty="0">
                          <a:solidFill>
                            <a:schemeClr val="tx2"/>
                          </a:solidFill>
                        </a:rPr>
                        <a:t>신고 이후</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처리 결과를 신고자에게 통보</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위험 신고는 부수 활동</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보수 후 사진 AI 비교로 종결·재보수</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accent5"/>
                    </a:solidFill>
                  </a:tcPr>
                </a:tc>
              </a:tr>
              <a:tr h="548640">
                <a:tc>
                  <a:txBody>
                    <a:bodyPr/>
                    <a:lstStyle/>
                    <a:p>
                      <a:pPr indent="0" marL="0">
                        <a:buNone/>
                      </a:pPr>
                      <a:r>
                        <a:rPr lang="en-US" sz="1200" b="1" dirty="0">
                          <a:solidFill>
                            <a:schemeClr val="tx2"/>
                          </a:solidFill>
                        </a:rPr>
                        <a:t>쌓이는 기록</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신고된 문제만</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보행로 속성 정보</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이상 없음까지 담은 시설별 이력</a:t>
                      </a:r>
                      <a:endParaRPr lang="en-US" sz="1200" dirty="0"/>
                    </a:p>
                  </a:txBody>
                  <a:tcPr marL="109728" marR="109728" marT="54864" marB="54864" anchor="ctr">
                    <a:lnL w="9525" cap="flat" cmpd="sng" algn="ctr">
                      <a:solidFill>
                        <a:srgbClr val="D5E9EE"/>
                      </a:solidFill>
                      <a:prstDash val="solid"/>
                      <a:round/>
                      <a:headEnd type="none" w="med" len="med"/>
                      <a:tailEnd type="none" w="med" len="med"/>
                    </a:lnL>
                    <a:lnR w="9525" cap="flat" cmpd="sng" algn="ctr">
                      <a:solidFill>
                        <a:srgbClr val="D5E9EE"/>
                      </a:solidFill>
                      <a:prstDash val="solid"/>
                      <a:round/>
                      <a:headEnd type="none" w="med" len="med"/>
                      <a:tailEnd type="none" w="med" len="med"/>
                    </a:lnR>
                    <a:lnT w="9525" cap="flat" cmpd="sng" algn="ctr">
                      <a:solidFill>
                        <a:srgbClr val="D5E9EE"/>
                      </a:solidFill>
                      <a:prstDash val="solid"/>
                      <a:round/>
                      <a:headEnd type="none" w="med" len="med"/>
                      <a:tailEnd type="none" w="med" len="med"/>
                    </a:lnT>
                    <a:lnB w="9525" cap="flat" cmpd="sng" algn="ctr">
                      <a:solidFill>
                        <a:srgbClr val="D5E9EE"/>
                      </a:solidFill>
                      <a:prstDash val="solid"/>
                      <a:round/>
                      <a:headEnd type="none" w="med" len="med"/>
                      <a:tailEnd type="none" w="med" len="med"/>
                    </a:lnB>
                    <a:solidFill>
                      <a:schemeClr val="accent5"/>
                    </a:solidFill>
                  </a:tcPr>
                </a:tc>
              </a:tr>
            </a:tbl>
          </a:graphicData>
        </a:graphic>
      </p:graphicFrame>
      <p:sp>
        <p:nvSpPr>
          <p:cNvPr id="6" name="Text 3"/>
          <p:cNvSpPr txBox="1"/>
          <p:nvPr/>
        </p:nvSpPr>
        <p:spPr>
          <a:xfrm>
            <a:off x="548640" y="5440680"/>
            <a:ext cx="11094415" cy="502920"/>
          </a:xfrm>
          <a:prstGeom prst="rect">
            <a:avLst/>
          </a:prstGeom>
          <a:noFill/>
          <a:ln/>
        </p:spPr>
        <p:txBody>
          <a:bodyPr wrap="square" lIns="0" tIns="0" rIns="0" bIns="0" rtlCol="0" anchor="t"/>
          <a:lstStyle/>
          <a:p>
            <a:pPr indent="0" marL="0">
              <a:buNone/>
            </a:pPr>
            <a:r>
              <a:rPr lang="en-US" sz="1300" b="1" dirty="0">
                <a:solidFill>
                  <a:schemeClr val="tx2"/>
                </a:solidFill>
              </a:rPr>
              <a:t>점검단은 기존 신고 체계·노인일자리 사업과 경쟁하지 않고 연계한다</a:t>
            </a:r>
            <a:endParaRPr lang="en-US" sz="1300" dirty="0"/>
          </a:p>
        </p:txBody>
      </p:sp>
      <p:sp>
        <p:nvSpPr>
          <p:cNvPr id="7" name="Text 4"/>
          <p:cNvSpPr txBox="1"/>
          <p:nvPr/>
        </p:nvSpPr>
        <p:spPr>
          <a:xfrm>
            <a:off x="548640" y="6016752"/>
            <a:ext cx="11094415" cy="228600"/>
          </a:xfrm>
          <a:prstGeom prst="rect">
            <a:avLst/>
          </a:prstGeom>
          <a:noFill/>
          <a:ln/>
        </p:spPr>
        <p:txBody>
          <a:bodyPr wrap="square" lIns="0" tIns="0" rIns="0" bIns="0" rtlCol="0" anchor="t"/>
          <a:lstStyle/>
          <a:p>
            <a:pPr indent="0" marL="0">
              <a:buNone/>
            </a:pPr>
            <a:r>
              <a:rPr lang="en-US" sz="1000" dirty="0">
                <a:solidFill>
                  <a:schemeClr val="accent6"/>
                </a:solidFill>
              </a:rPr>
              <a:t>출처: 내 손안에 서울(2024.3), 헤럴드경제(2025.8), KETI·LG AI연구원 발표 및 세계일보(2026.4)</a:t>
            </a:r>
            <a:endParaRPr lang="en-US" sz="10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A2</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tx2"/>
                </a:solidFill>
              </a:rPr>
              <a:t>부록 · 질의응답 참고</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tx1"/>
                </a:solidFill>
              </a:rPr>
              <a:t>AI 판독 결과는 이렇게 처리된다</a:t>
            </a:r>
            <a:endParaRPr lang="en-US" sz="3200" dirty="0"/>
          </a:p>
        </p:txBody>
      </p:sp>
      <p:sp>
        <p:nvSpPr>
          <p:cNvPr id="5" name="Text 3"/>
          <p:cNvSpPr txBox="1"/>
          <p:nvPr/>
        </p:nvSpPr>
        <p:spPr>
          <a:xfrm>
            <a:off x="548640" y="1828800"/>
            <a:ext cx="1280160" cy="365760"/>
          </a:xfrm>
          <a:prstGeom prst="rect">
            <a:avLst/>
          </a:prstGeom>
          <a:noFill/>
          <a:ln/>
        </p:spPr>
        <p:txBody>
          <a:bodyPr wrap="square" lIns="0" tIns="0" rIns="0" bIns="0" rtlCol="0" anchor="t"/>
          <a:lstStyle/>
          <a:p>
            <a:pPr indent="0" marL="0">
              <a:buNone/>
            </a:pPr>
            <a:r>
              <a:rPr lang="en-US" sz="1500" b="1" dirty="0">
                <a:solidFill>
                  <a:schemeClr val="tx2"/>
                </a:solidFill>
              </a:rPr>
              <a:t>AI 판독</a:t>
            </a:r>
            <a:endParaRPr lang="en-US" sz="1500" dirty="0"/>
          </a:p>
        </p:txBody>
      </p:sp>
      <p:sp>
        <p:nvSpPr>
          <p:cNvPr id="6" name="Text 4"/>
          <p:cNvSpPr txBox="1"/>
          <p:nvPr/>
        </p:nvSpPr>
        <p:spPr>
          <a:xfrm>
            <a:off x="548640" y="4160520"/>
            <a:ext cx="1280160" cy="365760"/>
          </a:xfrm>
          <a:prstGeom prst="rect">
            <a:avLst/>
          </a:prstGeom>
          <a:noFill/>
          <a:ln/>
        </p:spPr>
        <p:txBody>
          <a:bodyPr wrap="square" lIns="0" tIns="0" rIns="0" bIns="0" rtlCol="0" anchor="t"/>
          <a:lstStyle/>
          <a:p>
            <a:pPr indent="0" marL="0">
              <a:buNone/>
            </a:pPr>
            <a:r>
              <a:rPr lang="en-US" sz="1500" b="1" dirty="0">
                <a:solidFill>
                  <a:schemeClr val="tx2"/>
                </a:solidFill>
              </a:rPr>
              <a:t>담당자 판정</a:t>
            </a:r>
            <a:endParaRPr lang="en-US" sz="1500" dirty="0"/>
          </a:p>
        </p:txBody>
      </p:sp>
      <p:sp>
        <p:nvSpPr>
          <p:cNvPr id="7" name="AI 판독 다시 찍기"/>
          <p:cNvSpPr/>
          <p:nvPr/>
        </p:nvSpPr>
        <p:spPr>
          <a:xfrm>
            <a:off x="2011680" y="1737360"/>
            <a:ext cx="3027578" cy="1783080"/>
          </a:xfrm>
          <a:prstGeom prst="roundRect">
            <a:avLst>
              <a:gd name="adj" fmla="val 4103"/>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8" name="Text 6"/>
          <p:cNvSpPr/>
          <p:nvPr/>
        </p:nvSpPr>
        <p:spPr>
          <a:xfrm>
            <a:off x="2240280" y="1938528"/>
            <a:ext cx="1280160" cy="310896"/>
          </a:xfrm>
          <a:prstGeom prst="roundRect">
            <a:avLst>
              <a:gd name="adj" fmla="val 50000"/>
            </a:avLst>
          </a:prstGeom>
          <a:solidFill>
            <a:schemeClr val="accent6"/>
          </a:solidFill>
          <a:ln>
            <a:solidFill>
              <a:schemeClr val="accent6"/>
            </a:solidFill>
          </a:ln>
        </p:spPr>
        <p:txBody>
          <a:bodyPr wrap="square" lIns="0" tIns="0" rIns="0" bIns="0" rtlCol="0" anchor="ctr"/>
          <a:lstStyle/>
          <a:p>
            <a:pPr algn="ctr" indent="0" marL="0">
              <a:buNone/>
            </a:pPr>
            <a:r>
              <a:rPr lang="en-US" sz="1200" b="1" dirty="0">
                <a:solidFill>
                  <a:schemeClr val="bg1"/>
                </a:solidFill>
              </a:rPr>
              <a:t>다시 찍기</a:t>
            </a:r>
            <a:endParaRPr lang="en-US" sz="1200" dirty="0"/>
          </a:p>
        </p:txBody>
      </p:sp>
      <p:sp>
        <p:nvSpPr>
          <p:cNvPr id="9" name="Text 7"/>
          <p:cNvSpPr txBox="1"/>
          <p:nvPr/>
        </p:nvSpPr>
        <p:spPr>
          <a:xfrm>
            <a:off x="2240280" y="2377440"/>
            <a:ext cx="2570378" cy="1051560"/>
          </a:xfrm>
          <a:prstGeom prst="rect">
            <a:avLst/>
          </a:prstGeom>
          <a:noFill/>
          <a:ln/>
        </p:spPr>
        <p:txBody>
          <a:bodyPr wrap="square" lIns="0" tIns="0" rIns="0" bIns="0" rtlCol="0" anchor="t"/>
          <a:lstStyle/>
          <a:p>
            <a:pPr indent="0" marL="0">
              <a:buNone/>
            </a:pPr>
            <a:r>
              <a:rPr lang="en-US" sz="1400" dirty="0">
                <a:solidFill>
                  <a:schemeClr val="tx1"/>
                </a:solidFill>
              </a:rPr>
              <a:t>흐림·어두움 등 품질 문제</a:t>
            </a:r>
          </a:p>
          <a:p>
            <a:pPr indent="0" marL="0">
              <a:buNone/>
            </a:pPr>
            <a:r>
              <a:rPr lang="en-US" sz="1400" dirty="0">
                <a:solidFill>
                  <a:schemeClr val="tx1"/>
                </a:solidFill>
              </a:rPr>
              <a:t>2번 다시 찍어도 안 되면 담당자에게 넘김</a:t>
            </a:r>
            <a:endParaRPr lang="en-US" sz="1400" dirty="0"/>
          </a:p>
        </p:txBody>
      </p:sp>
      <p:sp>
        <p:nvSpPr>
          <p:cNvPr id="10" name="AI 판독 확인 필요"/>
          <p:cNvSpPr/>
          <p:nvPr/>
        </p:nvSpPr>
        <p:spPr>
          <a:xfrm>
            <a:off x="5313578" y="1737360"/>
            <a:ext cx="3027578" cy="1783080"/>
          </a:xfrm>
          <a:prstGeom prst="roundRect">
            <a:avLst>
              <a:gd name="adj" fmla="val 4103"/>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1" name="Text 9"/>
          <p:cNvSpPr/>
          <p:nvPr/>
        </p:nvSpPr>
        <p:spPr>
          <a:xfrm>
            <a:off x="5542178" y="1938528"/>
            <a:ext cx="1280160" cy="310896"/>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200" b="1" dirty="0">
                <a:solidFill>
                  <a:schemeClr val="bg1"/>
                </a:solidFill>
              </a:rPr>
              <a:t>확인 필요</a:t>
            </a:r>
            <a:endParaRPr lang="en-US" sz="1200" dirty="0"/>
          </a:p>
        </p:txBody>
      </p:sp>
      <p:sp>
        <p:nvSpPr>
          <p:cNvPr id="12" name="Text 10"/>
          <p:cNvSpPr txBox="1"/>
          <p:nvPr/>
        </p:nvSpPr>
        <p:spPr>
          <a:xfrm>
            <a:off x="5542178" y="2377440"/>
            <a:ext cx="2570378" cy="1051560"/>
          </a:xfrm>
          <a:prstGeom prst="rect">
            <a:avLst/>
          </a:prstGeom>
          <a:noFill/>
          <a:ln/>
        </p:spPr>
        <p:txBody>
          <a:bodyPr wrap="square" lIns="0" tIns="0" rIns="0" bIns="0" rtlCol="0" anchor="t"/>
          <a:lstStyle/>
          <a:p>
            <a:pPr indent="0" marL="0">
              <a:buNone/>
            </a:pPr>
            <a:r>
              <a:rPr lang="en-US" sz="1400" dirty="0">
                <a:solidFill>
                  <a:schemeClr val="tx1"/>
                </a:solidFill>
              </a:rPr>
              <a:t>이상 의심·AI 불확실·대상 불일치</a:t>
            </a:r>
          </a:p>
          <a:p>
            <a:pPr indent="0" marL="0">
              <a:buNone/>
            </a:pPr>
            <a:r>
              <a:rPr lang="en-US" sz="1400" dirty="0">
                <a:solidFill>
                  <a:schemeClr val="tx1"/>
                </a:solidFill>
              </a:rPr>
              <a:t>근거와 함께 전부 담당자가 확인</a:t>
            </a:r>
            <a:endParaRPr lang="en-US" sz="1400" dirty="0"/>
          </a:p>
        </p:txBody>
      </p:sp>
      <p:sp>
        <p:nvSpPr>
          <p:cNvPr id="13" name="AI 판독 이상 미발견"/>
          <p:cNvSpPr/>
          <p:nvPr/>
        </p:nvSpPr>
        <p:spPr>
          <a:xfrm>
            <a:off x="8615477" y="1737360"/>
            <a:ext cx="3027578" cy="1783080"/>
          </a:xfrm>
          <a:prstGeom prst="roundRect">
            <a:avLst>
              <a:gd name="adj" fmla="val 4103"/>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4" name="Text 12"/>
          <p:cNvSpPr/>
          <p:nvPr/>
        </p:nvSpPr>
        <p:spPr>
          <a:xfrm>
            <a:off x="8844077" y="1938528"/>
            <a:ext cx="1280160" cy="310896"/>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200" b="1" dirty="0">
                <a:solidFill>
                  <a:schemeClr val="bg1"/>
                </a:solidFill>
              </a:rPr>
              <a:t>이상 미발견</a:t>
            </a:r>
            <a:endParaRPr lang="en-US" sz="1200" dirty="0"/>
          </a:p>
        </p:txBody>
      </p:sp>
      <p:sp>
        <p:nvSpPr>
          <p:cNvPr id="15" name="Text 13"/>
          <p:cNvSpPr txBox="1"/>
          <p:nvPr/>
        </p:nvSpPr>
        <p:spPr>
          <a:xfrm>
            <a:off x="8844077" y="2377440"/>
            <a:ext cx="2570378" cy="1051560"/>
          </a:xfrm>
          <a:prstGeom prst="rect">
            <a:avLst/>
          </a:prstGeom>
          <a:noFill/>
          <a:ln/>
        </p:spPr>
        <p:txBody>
          <a:bodyPr wrap="square" lIns="0" tIns="0" rIns="0" bIns="0" rtlCol="0" anchor="t"/>
          <a:lstStyle/>
          <a:p>
            <a:pPr indent="0" marL="0">
              <a:buNone/>
            </a:pPr>
            <a:r>
              <a:rPr lang="en-US" sz="1400" dirty="0">
                <a:solidFill>
                  <a:schemeClr val="tx1"/>
                </a:solidFill>
              </a:rPr>
              <a:t>사진상 이상 없음</a:t>
            </a:r>
          </a:p>
          <a:p>
            <a:pPr indent="0" marL="0">
              <a:buNone/>
            </a:pPr>
            <a:r>
              <a:rPr lang="en-US" sz="1400" dirty="0">
                <a:solidFill>
                  <a:schemeClr val="tx1"/>
                </a:solidFill>
              </a:rPr>
              <a:t>비교용 기록으로 남기고 일부는 표본 확인</a:t>
            </a:r>
            <a:endParaRPr lang="en-US" sz="1400" dirty="0"/>
          </a:p>
        </p:txBody>
      </p:sp>
      <p:sp>
        <p:nvSpPr>
          <p:cNvPr id="16" name="Text 14"/>
          <p:cNvSpPr txBox="1"/>
          <p:nvPr/>
        </p:nvSpPr>
        <p:spPr>
          <a:xfrm>
            <a:off x="2011680" y="3611880"/>
            <a:ext cx="9631375" cy="365760"/>
          </a:xfrm>
          <a:prstGeom prst="rect">
            <a:avLst/>
          </a:prstGeom>
          <a:noFill/>
          <a:ln/>
        </p:spPr>
        <p:txBody>
          <a:bodyPr wrap="square" lIns="0" tIns="0" rIns="0" bIns="0" rtlCol="0" anchor="ctr"/>
          <a:lstStyle/>
          <a:p>
            <a:pPr algn="ctr" indent="0" marL="0">
              <a:buNone/>
            </a:pPr>
            <a:r>
              <a:rPr lang="en-US" sz="1400" b="1" dirty="0">
                <a:solidFill>
                  <a:schemeClr val="tx2"/>
                </a:solidFill>
              </a:rPr>
              <a:t>↓ 시설 담당자가 사진과 근거를 보고 판정</a:t>
            </a:r>
            <a:endParaRPr lang="en-US" sz="1400" dirty="0"/>
          </a:p>
        </p:txBody>
      </p:sp>
      <p:sp>
        <p:nvSpPr>
          <p:cNvPr id="17" name="담당자 판정 이상 확인"/>
          <p:cNvSpPr/>
          <p:nvPr/>
        </p:nvSpPr>
        <p:spPr>
          <a:xfrm>
            <a:off x="2011680" y="4069080"/>
            <a:ext cx="3027578" cy="1371600"/>
          </a:xfrm>
          <a:prstGeom prst="roundRect">
            <a:avLst>
              <a:gd name="adj" fmla="val 5333"/>
            </a:avLst>
          </a:prstGeom>
          <a:solidFill>
            <a:schemeClr val="tx2"/>
          </a:solidFill>
          <a:ln w="12700">
            <a:solidFill>
              <a:schemeClr val="tx2"/>
            </a:solidFill>
            <a:prstDash val="solid"/>
          </a:ln>
          <a:effectLst>
            <a:outerShdw sx="100000" sy="100000" kx="0" ky="0" algn="bl" rotWithShape="0" blurRad="101600" dist="25400" dir="5400000">
              <a:srgbClr val="0E4C5A">
                <a:alpha val="10000"/>
              </a:srgbClr>
            </a:outerShdw>
          </a:effectLst>
        </p:spPr>
      </p:sp>
      <p:sp>
        <p:nvSpPr>
          <p:cNvPr id="18" name="Text 16"/>
          <p:cNvSpPr txBox="1"/>
          <p:nvPr/>
        </p:nvSpPr>
        <p:spPr>
          <a:xfrm>
            <a:off x="2240280" y="4224528"/>
            <a:ext cx="2570378" cy="114300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이상 확인</a:t>
            </a:r>
            <a:endParaRPr lang="en-US" sz="1400" dirty="0"/>
          </a:p>
          <a:p>
            <a:pPr indent="0" marL="0">
              <a:buNone/>
            </a:pPr>
            <a:r>
              <a:rPr lang="en-US" sz="1400" dirty="0">
                <a:solidFill>
                  <a:schemeClr val="bg1"/>
                </a:solidFill>
              </a:rPr>
              <a:t>관리 부서에 보수 요청</a:t>
            </a:r>
            <a:endParaRPr lang="en-US" sz="1400" dirty="0"/>
          </a:p>
          <a:p>
            <a:pPr indent="0" marL="0">
              <a:spcAft>
                <a:spcPts val="400"/>
              </a:spcAft>
              <a:buNone/>
            </a:pPr>
            <a:r>
              <a:rPr lang="en-US" sz="1400" dirty="0">
                <a:solidFill>
                  <a:schemeClr val="bg1"/>
                </a:solidFill>
              </a:rPr>
              <a:t>같은 문제면 기존 건에 추가</a:t>
            </a:r>
            <a:endParaRPr lang="en-US" sz="1400" dirty="0"/>
          </a:p>
        </p:txBody>
      </p:sp>
      <p:sp>
        <p:nvSpPr>
          <p:cNvPr id="19" name="담당자 판정 이상 미발견"/>
          <p:cNvSpPr/>
          <p:nvPr/>
        </p:nvSpPr>
        <p:spPr>
          <a:xfrm>
            <a:off x="5313578" y="4069080"/>
            <a:ext cx="3027578" cy="1371600"/>
          </a:xfrm>
          <a:prstGeom prst="roundRect">
            <a:avLst>
              <a:gd name="adj" fmla="val 5333"/>
            </a:avLst>
          </a:prstGeom>
          <a:solidFill>
            <a:schemeClr val="tx2"/>
          </a:solidFill>
          <a:ln w="12700">
            <a:solidFill>
              <a:schemeClr val="tx2"/>
            </a:solidFill>
            <a:prstDash val="solid"/>
          </a:ln>
          <a:effectLst>
            <a:outerShdw sx="100000" sy="100000" kx="0" ky="0" algn="bl" rotWithShape="0" blurRad="101600" dist="25400" dir="5400000">
              <a:srgbClr val="0E4C5A">
                <a:alpha val="10000"/>
              </a:srgbClr>
            </a:outerShdw>
          </a:effectLst>
        </p:spPr>
      </p:sp>
      <p:sp>
        <p:nvSpPr>
          <p:cNvPr id="20" name="Text 18"/>
          <p:cNvSpPr txBox="1"/>
          <p:nvPr/>
        </p:nvSpPr>
        <p:spPr>
          <a:xfrm>
            <a:off x="5542178" y="4224528"/>
            <a:ext cx="2570378" cy="114300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이상 없음</a:t>
            </a:r>
            <a:endParaRPr lang="en-US" sz="1400" dirty="0"/>
          </a:p>
          <a:p>
            <a:pPr indent="0" marL="0">
              <a:spcAft>
                <a:spcPts val="400"/>
              </a:spcAft>
              <a:buNone/>
            </a:pPr>
            <a:r>
              <a:rPr lang="en-US" sz="1400" dirty="0">
                <a:solidFill>
                  <a:schemeClr val="bg1"/>
                </a:solidFill>
              </a:rPr>
              <a:t>사유를 남기고 종료</a:t>
            </a:r>
            <a:endParaRPr lang="en-US" sz="1400" dirty="0"/>
          </a:p>
        </p:txBody>
      </p:sp>
      <p:sp>
        <p:nvSpPr>
          <p:cNvPr id="21" name="담당자 판정 추가 확인 필요"/>
          <p:cNvSpPr/>
          <p:nvPr/>
        </p:nvSpPr>
        <p:spPr>
          <a:xfrm>
            <a:off x="8615477" y="4069080"/>
            <a:ext cx="3027578" cy="1371600"/>
          </a:xfrm>
          <a:prstGeom prst="roundRect">
            <a:avLst>
              <a:gd name="adj" fmla="val 5333"/>
            </a:avLst>
          </a:prstGeom>
          <a:solidFill>
            <a:schemeClr val="tx2"/>
          </a:solidFill>
          <a:ln w="12700">
            <a:solidFill>
              <a:schemeClr val="tx2"/>
            </a:solidFill>
            <a:prstDash val="solid"/>
          </a:ln>
          <a:effectLst>
            <a:outerShdw sx="100000" sy="100000" kx="0" ky="0" algn="bl" rotWithShape="0" blurRad="101600" dist="25400" dir="5400000">
              <a:srgbClr val="0E4C5A">
                <a:alpha val="10000"/>
              </a:srgbClr>
            </a:outerShdw>
          </a:effectLst>
        </p:spPr>
      </p:sp>
      <p:sp>
        <p:nvSpPr>
          <p:cNvPr id="22" name="Text 20"/>
          <p:cNvSpPr txBox="1"/>
          <p:nvPr/>
        </p:nvSpPr>
        <p:spPr>
          <a:xfrm>
            <a:off x="8844077" y="4224528"/>
            <a:ext cx="2570378" cy="114300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추가 확인 필요</a:t>
            </a:r>
            <a:endParaRPr lang="en-US" sz="1400" dirty="0"/>
          </a:p>
          <a:p>
            <a:pPr indent="0" marL="0">
              <a:spcAft>
                <a:spcPts val="400"/>
              </a:spcAft>
              <a:buNone/>
            </a:pPr>
            <a:r>
              <a:rPr lang="en-US" sz="1400" dirty="0">
                <a:solidFill>
                  <a:schemeClr val="bg1"/>
                </a:solidFill>
              </a:rPr>
              <a:t>다음 순회에 추가 촬영·현장 확인</a:t>
            </a:r>
            <a:endParaRPr lang="en-US" sz="1400" dirty="0"/>
          </a:p>
        </p:txBody>
      </p:sp>
      <p:sp>
        <p:nvSpPr>
          <p:cNvPr id="23" name="Text 21"/>
          <p:cNvSpPr txBox="1"/>
          <p:nvPr/>
        </p:nvSpPr>
        <p:spPr>
          <a:xfrm>
            <a:off x="548640" y="5623560"/>
            <a:ext cx="11094415" cy="594360"/>
          </a:xfrm>
          <a:prstGeom prst="rect">
            <a:avLst/>
          </a:prstGeom>
          <a:noFill/>
          <a:ln/>
        </p:spPr>
        <p:txBody>
          <a:bodyPr wrap="square" lIns="0" tIns="0" rIns="0" bIns="0" rtlCol="0" anchor="t"/>
          <a:lstStyle/>
          <a:p>
            <a:pPr indent="0" marL="0">
              <a:spcAft>
                <a:spcPts val="300"/>
              </a:spcAft>
              <a:buNone/>
            </a:pPr>
            <a:r>
              <a:rPr lang="en-US" sz="1300" dirty="0">
                <a:solidFill>
                  <a:schemeClr val="accent6"/>
                </a:solidFill>
              </a:rPr>
              <a:t>검토는 활동일마다 모아서 진행(어르신은 기다리지 않음) · '이상 미발견'이 안전 보장은 아님</a:t>
            </a:r>
            <a:endParaRPr lang="en-US" sz="1300" dirty="0"/>
          </a:p>
          <a:p>
            <a:pPr indent="0" marL="0">
              <a:buNone/>
            </a:pPr>
            <a:r>
              <a:rPr lang="en-US" sz="1300" b="1" dirty="0">
                <a:solidFill>
                  <a:schemeClr val="tx2"/>
                </a:solidFill>
              </a:rPr>
              <a:t>급한 위험</a:t>
            </a:r>
            <a:r>
              <a:rPr lang="en-US" sz="1300" dirty="0">
                <a:solidFill>
                  <a:schemeClr val="accent6"/>
                </a:solidFill>
              </a:rPr>
              <a:t>: 어르신의 '위험해서 못 찍겠어요' 표시나 검토 중 급하다고 본 건은 담당자가 바로 현장 확인</a:t>
            </a:r>
            <a:endParaRPr lang="en-US" sz="13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A3</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tx2"/>
                </a:solidFill>
              </a:rPr>
              <a:t>부록 · 질의응답 참고</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tx1"/>
                </a:solidFill>
              </a:rPr>
              <a:t>어르신 안전과 사전 교육</a:t>
            </a:r>
            <a:endParaRPr lang="en-US" sz="3200" dirty="0"/>
          </a:p>
        </p:txBody>
      </p:sp>
      <p:sp>
        <p:nvSpPr>
          <p:cNvPr id="5" name="Text 3"/>
          <p:cNvSpPr txBox="1"/>
          <p:nvPr/>
        </p:nvSpPr>
        <p:spPr>
          <a:xfrm>
            <a:off x="548640" y="1691640"/>
            <a:ext cx="7315200" cy="320040"/>
          </a:xfrm>
          <a:prstGeom prst="rect">
            <a:avLst/>
          </a:prstGeom>
          <a:noFill/>
          <a:ln/>
        </p:spPr>
        <p:txBody>
          <a:bodyPr wrap="square" lIns="0" tIns="0" rIns="0" bIns="0" rtlCol="0" anchor="t"/>
          <a:lstStyle/>
          <a:p>
            <a:pPr indent="0" marL="0">
              <a:buNone/>
            </a:pPr>
            <a:r>
              <a:rPr lang="en-US" sz="1500" b="1" dirty="0">
                <a:solidFill>
                  <a:schemeClr val="tx2"/>
                </a:solidFill>
              </a:rPr>
              <a:t>한 조의 하루 활동(3시간 시험 운영안)</a:t>
            </a:r>
            <a:endParaRPr lang="en-US" sz="1500" dirty="0"/>
          </a:p>
        </p:txBody>
      </p:sp>
      <p:sp>
        <p:nvSpPr>
          <p:cNvPr id="6" name="Text 4"/>
          <p:cNvSpPr/>
          <p:nvPr/>
        </p:nvSpPr>
        <p:spPr>
          <a:xfrm>
            <a:off x="548640" y="2103120"/>
            <a:ext cx="887959" cy="731520"/>
          </a:xfrm>
          <a:prstGeom prst="rect">
            <a:avLst/>
          </a:prstGeom>
          <a:solidFill>
            <a:schemeClr val="accent1"/>
          </a:solidFill>
          <a:ln w="9525">
            <a:solidFill>
              <a:schemeClr val="accent5"/>
            </a:solidFill>
          </a:ln>
        </p:spPr>
        <p:txBody>
          <a:bodyPr wrap="square" lIns="508" tIns="508" rIns="508" bIns="508" rtlCol="0" anchor="ctr"/>
          <a:lstStyle/>
          <a:p>
            <a:pPr algn="ctr" indent="0" marL="0">
              <a:buNone/>
            </a:pPr>
            <a:r>
              <a:rPr lang="en-US" sz="1300" b="1" dirty="0">
                <a:solidFill>
                  <a:schemeClr val="tx1"/>
                </a:solidFill>
              </a:rPr>
              <a:t>집결</a:t>
            </a:r>
            <a:endParaRPr lang="en-US" sz="1300" dirty="0"/>
          </a:p>
          <a:p>
            <a:pPr algn="ctr" indent="0" marL="0">
              <a:buNone/>
            </a:pPr>
            <a:r>
              <a:rPr lang="en-US" sz="1100" dirty="0">
                <a:solidFill>
                  <a:schemeClr val="tx1"/>
                </a:solidFill>
              </a:rPr>
              <a:t>15분</a:t>
            </a:r>
            <a:endParaRPr lang="en-US" sz="1300" dirty="0"/>
          </a:p>
        </p:txBody>
      </p:sp>
      <p:sp>
        <p:nvSpPr>
          <p:cNvPr id="7" name="Text 5"/>
          <p:cNvSpPr/>
          <p:nvPr/>
        </p:nvSpPr>
        <p:spPr>
          <a:xfrm>
            <a:off x="1473175" y="2103120"/>
            <a:ext cx="887959" cy="731520"/>
          </a:xfrm>
          <a:prstGeom prst="rect">
            <a:avLst/>
          </a:prstGeom>
          <a:solidFill>
            <a:schemeClr val="bg1"/>
          </a:solidFill>
          <a:ln w="9525">
            <a:solidFill>
              <a:schemeClr val="accent5"/>
            </a:solidFill>
          </a:ln>
        </p:spPr>
        <p:txBody>
          <a:bodyPr wrap="square" lIns="508" tIns="508" rIns="508" bIns="508" rtlCol="0" anchor="ctr"/>
          <a:lstStyle/>
          <a:p>
            <a:pPr algn="ctr" indent="0" marL="0">
              <a:buNone/>
            </a:pPr>
            <a:r>
              <a:rPr lang="en-US" sz="1300" b="1" dirty="0">
                <a:solidFill>
                  <a:schemeClr val="tx1"/>
                </a:solidFill>
              </a:rPr>
              <a:t>이동</a:t>
            </a:r>
            <a:endParaRPr lang="en-US" sz="1300" dirty="0"/>
          </a:p>
          <a:p>
            <a:pPr algn="ctr" indent="0" marL="0">
              <a:buNone/>
            </a:pPr>
            <a:r>
              <a:rPr lang="en-US" sz="1100" dirty="0">
                <a:solidFill>
                  <a:schemeClr val="tx1"/>
                </a:solidFill>
              </a:rPr>
              <a:t>15분</a:t>
            </a:r>
            <a:endParaRPr lang="en-US" sz="1300" dirty="0"/>
          </a:p>
        </p:txBody>
      </p:sp>
      <p:sp>
        <p:nvSpPr>
          <p:cNvPr id="8" name="Text 6"/>
          <p:cNvSpPr/>
          <p:nvPr/>
        </p:nvSpPr>
        <p:spPr>
          <a:xfrm>
            <a:off x="2397709" y="2103120"/>
            <a:ext cx="2737028" cy="731520"/>
          </a:xfrm>
          <a:prstGeom prst="rect">
            <a:avLst/>
          </a:prstGeom>
          <a:solidFill>
            <a:schemeClr val="accent5"/>
          </a:solidFill>
          <a:ln w="9525">
            <a:solidFill>
              <a:schemeClr val="accent5"/>
            </a:solidFill>
          </a:ln>
        </p:spPr>
        <p:txBody>
          <a:bodyPr wrap="square" lIns="508" tIns="508" rIns="508" bIns="508" rtlCol="0" anchor="ctr"/>
          <a:lstStyle/>
          <a:p>
            <a:pPr algn="ctr" indent="0" marL="0">
              <a:buNone/>
            </a:pPr>
            <a:r>
              <a:rPr lang="en-US" sz="1300" b="1" dirty="0">
                <a:solidFill>
                  <a:schemeClr val="tx1"/>
                </a:solidFill>
              </a:rPr>
              <a:t>점검</a:t>
            </a:r>
            <a:endParaRPr lang="en-US" sz="1300" dirty="0"/>
          </a:p>
          <a:p>
            <a:pPr algn="ctr" indent="0" marL="0">
              <a:buNone/>
            </a:pPr>
            <a:r>
              <a:rPr lang="en-US" sz="1100" dirty="0">
                <a:solidFill>
                  <a:schemeClr val="tx1"/>
                </a:solidFill>
              </a:rPr>
              <a:t>45분</a:t>
            </a:r>
            <a:endParaRPr lang="en-US" sz="1300" dirty="0"/>
          </a:p>
        </p:txBody>
      </p:sp>
      <p:sp>
        <p:nvSpPr>
          <p:cNvPr id="9" name="Text 7"/>
          <p:cNvSpPr/>
          <p:nvPr/>
        </p:nvSpPr>
        <p:spPr>
          <a:xfrm>
            <a:off x="5171313" y="2103120"/>
            <a:ext cx="887959" cy="731520"/>
          </a:xfrm>
          <a:prstGeom prst="rect">
            <a:avLst/>
          </a:prstGeom>
          <a:solidFill>
            <a:schemeClr val="bg1"/>
          </a:solidFill>
          <a:ln w="9525">
            <a:solidFill>
              <a:schemeClr val="accent5"/>
            </a:solidFill>
          </a:ln>
        </p:spPr>
        <p:txBody>
          <a:bodyPr wrap="square" lIns="508" tIns="508" rIns="508" bIns="508" rtlCol="0" anchor="ctr"/>
          <a:lstStyle/>
          <a:p>
            <a:pPr algn="ctr" indent="0" marL="0">
              <a:buNone/>
            </a:pPr>
            <a:r>
              <a:rPr lang="en-US" sz="1300" b="1" dirty="0">
                <a:solidFill>
                  <a:schemeClr val="tx1"/>
                </a:solidFill>
              </a:rPr>
              <a:t>휴식</a:t>
            </a:r>
            <a:endParaRPr lang="en-US" sz="1300" dirty="0"/>
          </a:p>
          <a:p>
            <a:pPr algn="ctr" indent="0" marL="0">
              <a:buNone/>
            </a:pPr>
            <a:r>
              <a:rPr lang="en-US" sz="1100" dirty="0">
                <a:solidFill>
                  <a:schemeClr val="tx1"/>
                </a:solidFill>
              </a:rPr>
              <a:t>15분</a:t>
            </a:r>
            <a:endParaRPr lang="en-US" sz="1300" dirty="0"/>
          </a:p>
        </p:txBody>
      </p:sp>
      <p:sp>
        <p:nvSpPr>
          <p:cNvPr id="10" name="Text 8"/>
          <p:cNvSpPr/>
          <p:nvPr/>
        </p:nvSpPr>
        <p:spPr>
          <a:xfrm>
            <a:off x="6095848" y="2103120"/>
            <a:ext cx="3661562" cy="731520"/>
          </a:xfrm>
          <a:prstGeom prst="rect">
            <a:avLst/>
          </a:prstGeom>
          <a:solidFill>
            <a:schemeClr val="accent5"/>
          </a:solidFill>
          <a:ln w="9525">
            <a:solidFill>
              <a:schemeClr val="accent5"/>
            </a:solidFill>
          </a:ln>
        </p:spPr>
        <p:txBody>
          <a:bodyPr wrap="square" lIns="508" tIns="508" rIns="508" bIns="508" rtlCol="0" anchor="ctr"/>
          <a:lstStyle/>
          <a:p>
            <a:pPr algn="ctr" indent="0" marL="0">
              <a:buNone/>
            </a:pPr>
            <a:r>
              <a:rPr lang="en-US" sz="1300" b="1" dirty="0">
                <a:solidFill>
                  <a:schemeClr val="tx1"/>
                </a:solidFill>
              </a:rPr>
              <a:t>점검</a:t>
            </a:r>
            <a:endParaRPr lang="en-US" sz="1300" dirty="0"/>
          </a:p>
          <a:p>
            <a:pPr algn="ctr" indent="0" marL="0">
              <a:buNone/>
            </a:pPr>
            <a:r>
              <a:rPr lang="en-US" sz="1100" dirty="0">
                <a:solidFill>
                  <a:schemeClr val="tx1"/>
                </a:solidFill>
              </a:rPr>
              <a:t>60분</a:t>
            </a:r>
            <a:endParaRPr lang="en-US" sz="1300" dirty="0"/>
          </a:p>
        </p:txBody>
      </p:sp>
      <p:sp>
        <p:nvSpPr>
          <p:cNvPr id="11" name="Text 9"/>
          <p:cNvSpPr/>
          <p:nvPr/>
        </p:nvSpPr>
        <p:spPr>
          <a:xfrm>
            <a:off x="9793986" y="2103120"/>
            <a:ext cx="1812493" cy="731520"/>
          </a:xfrm>
          <a:prstGeom prst="rect">
            <a:avLst/>
          </a:prstGeom>
          <a:solidFill>
            <a:schemeClr val="accent1"/>
          </a:solidFill>
          <a:ln w="9525">
            <a:solidFill>
              <a:schemeClr val="accent5"/>
            </a:solidFill>
          </a:ln>
        </p:spPr>
        <p:txBody>
          <a:bodyPr wrap="square" lIns="508" tIns="508" rIns="508" bIns="508" rtlCol="0" anchor="ctr"/>
          <a:lstStyle/>
          <a:p>
            <a:pPr algn="ctr" indent="0" marL="0">
              <a:buNone/>
            </a:pPr>
            <a:r>
              <a:rPr lang="en-US" sz="1300" b="1" dirty="0">
                <a:solidFill>
                  <a:schemeClr val="tx1"/>
                </a:solidFill>
              </a:rPr>
              <a:t>복귀</a:t>
            </a:r>
            <a:endParaRPr lang="en-US" sz="1300" dirty="0"/>
          </a:p>
          <a:p>
            <a:pPr algn="ctr" indent="0" marL="0">
              <a:buNone/>
            </a:pPr>
            <a:r>
              <a:rPr lang="en-US" sz="1100" dirty="0">
                <a:solidFill>
                  <a:schemeClr val="tx1"/>
                </a:solidFill>
              </a:rPr>
              <a:t>30분</a:t>
            </a:r>
            <a:endParaRPr lang="en-US" sz="1300" dirty="0"/>
          </a:p>
        </p:txBody>
      </p:sp>
      <p:sp>
        <p:nvSpPr>
          <p:cNvPr id="12" name="Text 10"/>
          <p:cNvSpPr txBox="1"/>
          <p:nvPr/>
        </p:nvSpPr>
        <p:spPr>
          <a:xfrm>
            <a:off x="548640" y="2907792"/>
            <a:ext cx="11094415" cy="274320"/>
          </a:xfrm>
          <a:prstGeom prst="rect">
            <a:avLst/>
          </a:prstGeom>
          <a:noFill/>
          <a:ln/>
        </p:spPr>
        <p:txBody>
          <a:bodyPr wrap="square" lIns="0" tIns="0" rIns="0" bIns="0" rtlCol="0" anchor="t"/>
          <a:lstStyle/>
          <a:p>
            <a:pPr indent="0" marL="0">
              <a:buNone/>
            </a:pPr>
            <a:r>
              <a:rPr lang="en-US" sz="1200" dirty="0">
                <a:solidFill>
                  <a:schemeClr val="accent6"/>
                </a:solidFill>
              </a:rPr>
              <a:t>집결·복귀 때 조원을 한 명씩 확인 · 시간을 채우려고 시설을 늘리지 않음</a:t>
            </a:r>
            <a:endParaRPr lang="en-US" sz="1200" dirty="0"/>
          </a:p>
        </p:txBody>
      </p:sp>
      <p:sp>
        <p:nvSpPr>
          <p:cNvPr id="13" name="안전 원칙 카드"/>
          <p:cNvSpPr/>
          <p:nvPr/>
        </p:nvSpPr>
        <p:spPr>
          <a:xfrm>
            <a:off x="548640" y="3383280"/>
            <a:ext cx="5120640" cy="2816352"/>
          </a:xfrm>
          <a:prstGeom prst="roundRect">
            <a:avLst>
              <a:gd name="adj" fmla="val 2597"/>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4" name="Text 12"/>
          <p:cNvSpPr txBox="1"/>
          <p:nvPr/>
        </p:nvSpPr>
        <p:spPr>
          <a:xfrm>
            <a:off x="777240" y="3520440"/>
            <a:ext cx="2743200" cy="365760"/>
          </a:xfrm>
          <a:prstGeom prst="rect">
            <a:avLst/>
          </a:prstGeom>
          <a:noFill/>
          <a:ln/>
        </p:spPr>
        <p:txBody>
          <a:bodyPr wrap="square" lIns="0" tIns="0" rIns="0" bIns="0" rtlCol="0" anchor="t"/>
          <a:lstStyle/>
          <a:p>
            <a:pPr indent="0" marL="0">
              <a:buNone/>
            </a:pPr>
            <a:r>
              <a:rPr lang="en-US" sz="1600" b="1" dirty="0">
                <a:solidFill>
                  <a:schemeClr val="tx2"/>
                </a:solidFill>
              </a:rPr>
              <a:t>안전 원칙</a:t>
            </a:r>
            <a:endParaRPr lang="en-US" sz="1600" dirty="0"/>
          </a:p>
        </p:txBody>
      </p:sp>
      <p:sp>
        <p:nvSpPr>
          <p:cNvPr id="15" name="Text 13"/>
          <p:cNvSpPr txBox="1"/>
          <p:nvPr/>
        </p:nvSpPr>
        <p:spPr>
          <a:xfrm>
            <a:off x="777240" y="3977640"/>
            <a:ext cx="4709160" cy="21488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rPr>
              <a:t>시설은 만지지 않고 찍기만</a:t>
            </a:r>
            <a:endParaRPr lang="en-US" sz="1500" dirty="0"/>
          </a:p>
          <a:p>
            <a:pPr marL="177800" indent="-177800">
              <a:spcAft>
                <a:spcPts val="800"/>
              </a:spcAft>
              <a:buSzPct val="100000"/>
              <a:buChar char="•"/>
            </a:pPr>
            <a:r>
              <a:rPr lang="en-US" sz="1500" dirty="0">
                <a:solidFill>
                  <a:schemeClr val="tx1"/>
                </a:solidFill>
              </a:rPr>
              <a:t>차도로 내려가지 않는 보도 고정 코스</a:t>
            </a:r>
            <a:endParaRPr lang="en-US" sz="1500" dirty="0"/>
          </a:p>
          <a:p>
            <a:pPr marL="177800" indent="-177800">
              <a:spcAft>
                <a:spcPts val="800"/>
              </a:spcAft>
              <a:buSzPct val="100000"/>
              <a:buChar char="•"/>
            </a:pPr>
            <a:r>
              <a:rPr lang="en-US" sz="1500" dirty="0">
                <a:solidFill>
                  <a:schemeClr val="tx1"/>
                </a:solidFill>
              </a:rPr>
              <a:t>위험하면 '위험해서 못 찍겠어요' 선택</a:t>
            </a:r>
            <a:endParaRPr lang="en-US" sz="1500" dirty="0"/>
          </a:p>
          <a:p>
            <a:pPr marL="177800" indent="-177800">
              <a:spcAft>
                <a:spcPts val="800"/>
              </a:spcAft>
              <a:buSzPct val="100000"/>
              <a:buChar char="•"/>
            </a:pPr>
            <a:r>
              <a:rPr lang="en-US" sz="1500" dirty="0">
                <a:solidFill>
                  <a:schemeClr val="tx1"/>
                </a:solidFill>
              </a:rPr>
              <a:t>전화·쉬기·그만하기 버튼 항상 표시</a:t>
            </a:r>
            <a:endParaRPr lang="en-US" sz="1500" dirty="0"/>
          </a:p>
          <a:p>
            <a:pPr marL="177800" indent="-177800">
              <a:spcAft>
                <a:spcPts val="800"/>
              </a:spcAft>
              <a:buSzPct val="100000"/>
              <a:buChar char="•"/>
            </a:pPr>
            <a:r>
              <a:rPr lang="en-US" sz="1500" dirty="0">
                <a:solidFill>
                  <a:schemeClr val="tx1"/>
                </a:solidFill>
              </a:rPr>
              <a:t>중도 종료 시 담당자와 함께 복귀</a:t>
            </a:r>
            <a:endParaRPr lang="en-US" sz="1500" dirty="0"/>
          </a:p>
        </p:txBody>
      </p:sp>
      <p:sp>
        <p:nvSpPr>
          <p:cNvPr id="16" name="Text 14"/>
          <p:cNvSpPr txBox="1"/>
          <p:nvPr/>
        </p:nvSpPr>
        <p:spPr>
          <a:xfrm>
            <a:off x="5943600" y="3383280"/>
            <a:ext cx="5699455" cy="365760"/>
          </a:xfrm>
          <a:prstGeom prst="rect">
            <a:avLst/>
          </a:prstGeom>
          <a:noFill/>
          <a:ln/>
        </p:spPr>
        <p:txBody>
          <a:bodyPr wrap="square" lIns="0" tIns="0" rIns="0" bIns="0" rtlCol="0" anchor="t"/>
          <a:lstStyle/>
          <a:p>
            <a:pPr indent="0" marL="0">
              <a:buNone/>
            </a:pPr>
            <a:r>
              <a:rPr lang="en-US" sz="1600" b="1" dirty="0">
                <a:solidFill>
                  <a:schemeClr val="tx2"/>
                </a:solidFill>
              </a:rPr>
              <a:t>사전 업무 교육(하루 3시간 × 3일)</a:t>
            </a:r>
            <a:endParaRPr lang="en-US" sz="1600" dirty="0"/>
          </a:p>
        </p:txBody>
      </p:sp>
      <p:sp>
        <p:nvSpPr>
          <p:cNvPr id="17" name="교육 1일차 · 교실"/>
          <p:cNvSpPr/>
          <p:nvPr/>
        </p:nvSpPr>
        <p:spPr>
          <a:xfrm>
            <a:off x="5943600" y="3840480"/>
            <a:ext cx="5699455" cy="512064"/>
          </a:xfrm>
          <a:prstGeom prst="roundRect">
            <a:avLst>
              <a:gd name="adj" fmla="val 14286"/>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8" name="Text 16"/>
          <p:cNvSpPr txBox="1"/>
          <p:nvPr/>
        </p:nvSpPr>
        <p:spPr>
          <a:xfrm>
            <a:off x="6126480" y="3840480"/>
            <a:ext cx="1417320" cy="512064"/>
          </a:xfrm>
          <a:prstGeom prst="rect">
            <a:avLst/>
          </a:prstGeom>
          <a:noFill/>
          <a:ln/>
        </p:spPr>
        <p:txBody>
          <a:bodyPr wrap="square" lIns="0" tIns="0" rIns="0" bIns="0" rtlCol="0" anchor="ctr"/>
          <a:lstStyle/>
          <a:p>
            <a:pPr indent="0" marL="0">
              <a:buNone/>
            </a:pPr>
            <a:r>
              <a:rPr lang="en-US" sz="1300" b="1" dirty="0">
                <a:solidFill>
                  <a:schemeClr val="tx2"/>
                </a:solidFill>
              </a:rPr>
              <a:t>1일차 · 교실</a:t>
            </a:r>
            <a:endParaRPr lang="en-US" sz="1300" dirty="0"/>
          </a:p>
        </p:txBody>
      </p:sp>
      <p:sp>
        <p:nvSpPr>
          <p:cNvPr id="19" name="Text 17"/>
          <p:cNvSpPr txBox="1"/>
          <p:nvPr/>
        </p:nvSpPr>
        <p:spPr>
          <a:xfrm>
            <a:off x="7589520" y="3840480"/>
            <a:ext cx="3916375" cy="512064"/>
          </a:xfrm>
          <a:prstGeom prst="rect">
            <a:avLst/>
          </a:prstGeom>
          <a:noFill/>
          <a:ln/>
        </p:spPr>
        <p:txBody>
          <a:bodyPr wrap="square" lIns="0" tIns="0" rIns="0" bIns="0" rtlCol="0" anchor="ctr"/>
          <a:lstStyle/>
          <a:p>
            <a:pPr indent="0" marL="0">
              <a:buNone/>
            </a:pPr>
            <a:r>
              <a:rPr lang="en-US" sz="1200" dirty="0">
                <a:solidFill>
                  <a:schemeClr val="tx1"/>
                </a:solidFill>
              </a:rPr>
              <a:t>사업 이해, 현장 안전, 낙상·온열질환 예방</a:t>
            </a:r>
            <a:endParaRPr lang="en-US" sz="1200" dirty="0"/>
          </a:p>
        </p:txBody>
      </p:sp>
      <p:sp>
        <p:nvSpPr>
          <p:cNvPr id="20" name="교육 2일차 · 실습"/>
          <p:cNvSpPr/>
          <p:nvPr/>
        </p:nvSpPr>
        <p:spPr>
          <a:xfrm>
            <a:off x="5943600" y="4443984"/>
            <a:ext cx="5699455" cy="512064"/>
          </a:xfrm>
          <a:prstGeom prst="roundRect">
            <a:avLst>
              <a:gd name="adj" fmla="val 14286"/>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21" name="Text 19"/>
          <p:cNvSpPr txBox="1"/>
          <p:nvPr/>
        </p:nvSpPr>
        <p:spPr>
          <a:xfrm>
            <a:off x="6126480" y="4443984"/>
            <a:ext cx="1417320" cy="512064"/>
          </a:xfrm>
          <a:prstGeom prst="rect">
            <a:avLst/>
          </a:prstGeom>
          <a:noFill/>
          <a:ln/>
        </p:spPr>
        <p:txBody>
          <a:bodyPr wrap="square" lIns="0" tIns="0" rIns="0" bIns="0" rtlCol="0" anchor="ctr"/>
          <a:lstStyle/>
          <a:p>
            <a:pPr indent="0" marL="0">
              <a:buNone/>
            </a:pPr>
            <a:r>
              <a:rPr lang="en-US" sz="1300" b="1" dirty="0">
                <a:solidFill>
                  <a:schemeClr val="tx2"/>
                </a:solidFill>
              </a:rPr>
              <a:t>2일차 · 실습</a:t>
            </a:r>
            <a:endParaRPr lang="en-US" sz="1300" dirty="0"/>
          </a:p>
        </p:txBody>
      </p:sp>
      <p:sp>
        <p:nvSpPr>
          <p:cNvPr id="22" name="Text 20"/>
          <p:cNvSpPr txBox="1"/>
          <p:nvPr/>
        </p:nvSpPr>
        <p:spPr>
          <a:xfrm>
            <a:off x="7589520" y="4443984"/>
            <a:ext cx="3916375" cy="512064"/>
          </a:xfrm>
          <a:prstGeom prst="rect">
            <a:avLst/>
          </a:prstGeom>
          <a:noFill/>
          <a:ln/>
        </p:spPr>
        <p:txBody>
          <a:bodyPr wrap="square" lIns="0" tIns="0" rIns="0" bIns="0" rtlCol="0" anchor="ctr"/>
          <a:lstStyle/>
          <a:p>
            <a:pPr indent="0" marL="0">
              <a:buNone/>
            </a:pPr>
            <a:r>
              <a:rPr lang="en-US" sz="1200" dirty="0">
                <a:solidFill>
                  <a:schemeClr val="tx1"/>
                </a:solidFill>
              </a:rPr>
              <a:t>앱 사용, 같은 구도로 찍기, 얼굴·번호판 피하기</a:t>
            </a:r>
            <a:endParaRPr lang="en-US" sz="1200" dirty="0"/>
          </a:p>
        </p:txBody>
      </p:sp>
      <p:sp>
        <p:nvSpPr>
          <p:cNvPr id="23" name="교육 3일차 · 현장"/>
          <p:cNvSpPr/>
          <p:nvPr/>
        </p:nvSpPr>
        <p:spPr>
          <a:xfrm>
            <a:off x="5943600" y="5047488"/>
            <a:ext cx="5699455" cy="512064"/>
          </a:xfrm>
          <a:prstGeom prst="roundRect">
            <a:avLst>
              <a:gd name="adj" fmla="val 14286"/>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24" name="Text 22"/>
          <p:cNvSpPr txBox="1"/>
          <p:nvPr/>
        </p:nvSpPr>
        <p:spPr>
          <a:xfrm>
            <a:off x="6126480" y="5047488"/>
            <a:ext cx="1417320" cy="512064"/>
          </a:xfrm>
          <a:prstGeom prst="rect">
            <a:avLst/>
          </a:prstGeom>
          <a:noFill/>
          <a:ln/>
        </p:spPr>
        <p:txBody>
          <a:bodyPr wrap="square" lIns="0" tIns="0" rIns="0" bIns="0" rtlCol="0" anchor="ctr"/>
          <a:lstStyle/>
          <a:p>
            <a:pPr indent="0" marL="0">
              <a:buNone/>
            </a:pPr>
            <a:r>
              <a:rPr lang="en-US" sz="1300" b="1" dirty="0">
                <a:solidFill>
                  <a:schemeClr val="tx2"/>
                </a:solidFill>
              </a:rPr>
              <a:t>3일차 · 현장</a:t>
            </a:r>
            <a:endParaRPr lang="en-US" sz="1300" dirty="0"/>
          </a:p>
        </p:txBody>
      </p:sp>
      <p:sp>
        <p:nvSpPr>
          <p:cNvPr id="25" name="Text 23"/>
          <p:cNvSpPr txBox="1"/>
          <p:nvPr/>
        </p:nvSpPr>
        <p:spPr>
          <a:xfrm>
            <a:off x="7589520" y="5047488"/>
            <a:ext cx="3916375" cy="512064"/>
          </a:xfrm>
          <a:prstGeom prst="rect">
            <a:avLst/>
          </a:prstGeom>
          <a:noFill/>
          <a:ln/>
        </p:spPr>
        <p:txBody>
          <a:bodyPr wrap="square" lIns="0" tIns="0" rIns="0" bIns="0" rtlCol="0" anchor="ctr"/>
          <a:lstStyle/>
          <a:p>
            <a:pPr indent="0" marL="0">
              <a:buNone/>
            </a:pPr>
            <a:r>
              <a:rPr lang="en-US" sz="1200" dirty="0">
                <a:solidFill>
                  <a:schemeClr val="tx1"/>
                </a:solidFill>
              </a:rPr>
              <a:t>시범 코스 동행 순회, 출석·복귀 절차</a:t>
            </a:r>
            <a:endParaRPr lang="en-US" sz="1200" dirty="0"/>
          </a:p>
        </p:txBody>
      </p:sp>
      <p:sp>
        <p:nvSpPr>
          <p:cNvPr id="26" name="교육 활동 중"/>
          <p:cNvSpPr/>
          <p:nvPr/>
        </p:nvSpPr>
        <p:spPr>
          <a:xfrm>
            <a:off x="5943600" y="5650992"/>
            <a:ext cx="5699455" cy="512064"/>
          </a:xfrm>
          <a:prstGeom prst="roundRect">
            <a:avLst>
              <a:gd name="adj" fmla="val 14286"/>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27" name="Text 25"/>
          <p:cNvSpPr txBox="1"/>
          <p:nvPr/>
        </p:nvSpPr>
        <p:spPr>
          <a:xfrm>
            <a:off x="6126480" y="5650992"/>
            <a:ext cx="1417320" cy="512064"/>
          </a:xfrm>
          <a:prstGeom prst="rect">
            <a:avLst/>
          </a:prstGeom>
          <a:noFill/>
          <a:ln/>
        </p:spPr>
        <p:txBody>
          <a:bodyPr wrap="square" lIns="0" tIns="0" rIns="0" bIns="0" rtlCol="0" anchor="ctr"/>
          <a:lstStyle/>
          <a:p>
            <a:pPr indent="0" marL="0">
              <a:buNone/>
            </a:pPr>
            <a:r>
              <a:rPr lang="en-US" sz="1300" b="1" dirty="0">
                <a:solidFill>
                  <a:schemeClr val="tx2"/>
                </a:solidFill>
              </a:rPr>
              <a:t>활동 중</a:t>
            </a:r>
            <a:endParaRPr lang="en-US" sz="1300" dirty="0"/>
          </a:p>
        </p:txBody>
      </p:sp>
      <p:sp>
        <p:nvSpPr>
          <p:cNvPr id="28" name="Text 26"/>
          <p:cNvSpPr txBox="1"/>
          <p:nvPr/>
        </p:nvSpPr>
        <p:spPr>
          <a:xfrm>
            <a:off x="7589520" y="5650992"/>
            <a:ext cx="3916375" cy="512064"/>
          </a:xfrm>
          <a:prstGeom prst="rect">
            <a:avLst/>
          </a:prstGeom>
          <a:noFill/>
          <a:ln/>
        </p:spPr>
        <p:txBody>
          <a:bodyPr wrap="square" lIns="0" tIns="0" rIns="0" bIns="0" rtlCol="0" anchor="ctr"/>
          <a:lstStyle/>
          <a:p>
            <a:pPr indent="0" marL="0">
              <a:buNone/>
            </a:pPr>
            <a:r>
              <a:rPr lang="en-US" sz="1200" dirty="0">
                <a:solidFill>
                  <a:schemeClr val="tx1"/>
                </a:solidFill>
              </a:rPr>
              <a:t>분기별 재교육, 재촬영 잦은 조 개별 지도</a:t>
            </a:r>
            <a:endParaRPr lang="en-US" sz="12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A4</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tx2"/>
                </a:solidFill>
              </a:rPr>
              <a:t>부록 · 질의응답 참고</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tx1"/>
                </a:solidFill>
              </a:rPr>
              <a:t>효과는 이렇게 측정한다</a:t>
            </a:r>
            <a:endParaRPr lang="en-US" sz="3200" dirty="0"/>
          </a:p>
        </p:txBody>
      </p:sp>
      <p:sp>
        <p:nvSpPr>
          <p:cNvPr id="5" name="현장 효과 지표"/>
          <p:cNvSpPr/>
          <p:nvPr/>
        </p:nvSpPr>
        <p:spPr>
          <a:xfrm>
            <a:off x="548640" y="1737360"/>
            <a:ext cx="3515258" cy="2834640"/>
          </a:xfrm>
          <a:prstGeom prst="roundRect">
            <a:avLst>
              <a:gd name="adj" fmla="val 2581"/>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6" name="현장 효과 원"/>
          <p:cNvSpPr/>
          <p:nvPr/>
        </p:nvSpPr>
        <p:spPr>
          <a:xfrm>
            <a:off x="777240" y="1965960"/>
            <a:ext cx="530352" cy="530352"/>
          </a:xfrm>
          <a:prstGeom prst="ellipse">
            <a:avLst/>
          </a:prstGeom>
          <a:solidFill>
            <a:schemeClr val="accent2"/>
          </a:solidFill>
          <a:ln w="12700">
            <a:solidFill>
              <a:schemeClr val="accent2"/>
            </a:solidFill>
            <a:prstDash val="solid"/>
          </a:ln>
        </p:spPr>
      </p:sp>
      <p:pic>
        <p:nvPicPr>
          <p:cNvPr id="7" name="현장 효과 아이콘" descr="preencoded.png">    </p:cNvPr>
          <p:cNvPicPr>
            <a:picLocks noChangeAspect="1"/>
          </p:cNvPicPr>
          <p:nvPr/>
        </p:nvPicPr>
        <p:blipFill>
          <a:blip r:embed="rId1"/>
          <a:stretch>
            <a:fillRect/>
          </a:stretch>
        </p:blipFill>
        <p:spPr>
          <a:xfrm>
            <a:off x="893917" y="2082637"/>
            <a:ext cx="296997" cy="296997"/>
          </a:xfrm>
          <a:prstGeom prst="rect">
            <a:avLst/>
          </a:prstGeom>
        </p:spPr>
      </p:pic>
      <p:sp>
        <p:nvSpPr>
          <p:cNvPr id="8" name="Text 5"/>
          <p:cNvSpPr txBox="1"/>
          <p:nvPr/>
        </p:nvSpPr>
        <p:spPr>
          <a:xfrm>
            <a:off x="1444752" y="1965960"/>
            <a:ext cx="2509418" cy="530352"/>
          </a:xfrm>
          <a:prstGeom prst="rect">
            <a:avLst/>
          </a:prstGeom>
          <a:noFill/>
          <a:ln/>
        </p:spPr>
        <p:txBody>
          <a:bodyPr wrap="square" lIns="0" tIns="0" rIns="0" bIns="0" rtlCol="0" anchor="ctr"/>
          <a:lstStyle/>
          <a:p>
            <a:pPr indent="0" marL="0">
              <a:buNone/>
            </a:pPr>
            <a:r>
              <a:rPr lang="en-US" sz="1800" b="1" dirty="0">
                <a:solidFill>
                  <a:schemeClr val="tx1"/>
                </a:solidFill>
              </a:rPr>
              <a:t>현장 효과</a:t>
            </a:r>
            <a:endParaRPr lang="en-US" sz="1800" dirty="0"/>
          </a:p>
        </p:txBody>
      </p:sp>
      <p:sp>
        <p:nvSpPr>
          <p:cNvPr id="9" name="Text 6"/>
          <p:cNvSpPr txBox="1"/>
          <p:nvPr/>
        </p:nvSpPr>
        <p:spPr>
          <a:xfrm>
            <a:off x="804672" y="2743200"/>
            <a:ext cx="3058058" cy="169164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rPr>
              <a:t>시범 구역 민원 건수(도입 전 대비)</a:t>
            </a:r>
            <a:endParaRPr lang="en-US" sz="1500" dirty="0"/>
          </a:p>
          <a:p>
            <a:pPr marL="177800" indent="-177800">
              <a:spcAft>
                <a:spcPts val="1000"/>
              </a:spcAft>
              <a:buSzPct val="100000"/>
              <a:buChar char="•"/>
            </a:pPr>
            <a:r>
              <a:rPr lang="en-US" sz="1500" dirty="0">
                <a:solidFill>
                  <a:schemeClr val="tx1"/>
                </a:solidFill>
              </a:rPr>
              <a:t>이상 확인 → 종결까지 걸린 시간</a:t>
            </a:r>
            <a:endParaRPr lang="en-US" sz="1500" dirty="0"/>
          </a:p>
          <a:p>
            <a:pPr marL="177800" indent="-177800">
              <a:spcAft>
                <a:spcPts val="1000"/>
              </a:spcAft>
              <a:buSzPct val="100000"/>
              <a:buChar char="•"/>
            </a:pPr>
            <a:r>
              <a:rPr lang="en-US" sz="1500" dirty="0">
                <a:solidFill>
                  <a:schemeClr val="tx1"/>
                </a:solidFill>
              </a:rPr>
              <a:t>재보수 요청 비율</a:t>
            </a:r>
            <a:endParaRPr lang="en-US" sz="1500" dirty="0"/>
          </a:p>
        </p:txBody>
      </p:sp>
      <p:sp>
        <p:nvSpPr>
          <p:cNvPr id="10" name="AI 정확도 지표"/>
          <p:cNvSpPr/>
          <p:nvPr/>
        </p:nvSpPr>
        <p:spPr>
          <a:xfrm>
            <a:off x="4338218" y="1737360"/>
            <a:ext cx="3515258" cy="2834640"/>
          </a:xfrm>
          <a:prstGeom prst="roundRect">
            <a:avLst>
              <a:gd name="adj" fmla="val 2581"/>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1" name="AI 정확도 원"/>
          <p:cNvSpPr/>
          <p:nvPr/>
        </p:nvSpPr>
        <p:spPr>
          <a:xfrm>
            <a:off x="4566818" y="1965960"/>
            <a:ext cx="530352" cy="530352"/>
          </a:xfrm>
          <a:prstGeom prst="ellipse">
            <a:avLst/>
          </a:prstGeom>
          <a:solidFill>
            <a:schemeClr val="accent1"/>
          </a:solidFill>
          <a:ln w="12700">
            <a:solidFill>
              <a:schemeClr val="accent1"/>
            </a:solidFill>
            <a:prstDash val="solid"/>
          </a:ln>
        </p:spPr>
      </p:sp>
      <p:pic>
        <p:nvPicPr>
          <p:cNvPr id="12" name="AI 정확도 아이콘" descr="preencoded.png">    </p:cNvPr>
          <p:cNvPicPr>
            <a:picLocks noChangeAspect="1"/>
          </p:cNvPicPr>
          <p:nvPr/>
        </p:nvPicPr>
        <p:blipFill>
          <a:blip r:embed="rId2"/>
          <a:stretch>
            <a:fillRect/>
          </a:stretch>
        </p:blipFill>
        <p:spPr>
          <a:xfrm>
            <a:off x="4683496" y="2082637"/>
            <a:ext cx="296997" cy="296997"/>
          </a:xfrm>
          <a:prstGeom prst="rect">
            <a:avLst/>
          </a:prstGeom>
        </p:spPr>
      </p:pic>
      <p:sp>
        <p:nvSpPr>
          <p:cNvPr id="13" name="Text 9"/>
          <p:cNvSpPr txBox="1"/>
          <p:nvPr/>
        </p:nvSpPr>
        <p:spPr>
          <a:xfrm>
            <a:off x="5234330" y="1965960"/>
            <a:ext cx="2509418" cy="530352"/>
          </a:xfrm>
          <a:prstGeom prst="rect">
            <a:avLst/>
          </a:prstGeom>
          <a:noFill/>
          <a:ln/>
        </p:spPr>
        <p:txBody>
          <a:bodyPr wrap="square" lIns="0" tIns="0" rIns="0" bIns="0" rtlCol="0" anchor="ctr"/>
          <a:lstStyle/>
          <a:p>
            <a:pPr indent="0" marL="0">
              <a:buNone/>
            </a:pPr>
            <a:r>
              <a:rPr lang="en-US" sz="1800" b="1" dirty="0">
                <a:solidFill>
                  <a:schemeClr val="tx1"/>
                </a:solidFill>
              </a:rPr>
              <a:t>AI 정확도</a:t>
            </a:r>
            <a:endParaRPr lang="en-US" sz="1800" dirty="0"/>
          </a:p>
        </p:txBody>
      </p:sp>
      <p:sp>
        <p:nvSpPr>
          <p:cNvPr id="14" name="Text 10"/>
          <p:cNvSpPr txBox="1"/>
          <p:nvPr/>
        </p:nvSpPr>
        <p:spPr>
          <a:xfrm>
            <a:off x="4594250" y="2743200"/>
            <a:ext cx="3058058" cy="169164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rPr>
              <a:t>시설별 AI·담당자 판정 일치율</a:t>
            </a:r>
            <a:endParaRPr lang="en-US" sz="1500" dirty="0"/>
          </a:p>
          <a:p>
            <a:pPr marL="177800" indent="-177800">
              <a:spcAft>
                <a:spcPts val="1000"/>
              </a:spcAft>
              <a:buSzPct val="100000"/>
              <a:buChar char="•"/>
            </a:pPr>
            <a:r>
              <a:rPr lang="en-US" sz="1500" dirty="0">
                <a:solidFill>
                  <a:schemeClr val="tx1"/>
                </a:solidFill>
              </a:rPr>
              <a:t>AI가 놓친 건수(표본 검토)</a:t>
            </a:r>
            <a:endParaRPr lang="en-US" sz="1500" dirty="0"/>
          </a:p>
          <a:p>
            <a:pPr marL="177800" indent="-177800">
              <a:spcAft>
                <a:spcPts val="1000"/>
              </a:spcAft>
              <a:buSzPct val="100000"/>
              <a:buChar char="•"/>
            </a:pPr>
            <a:r>
              <a:rPr lang="en-US" sz="1500" dirty="0">
                <a:solidFill>
                  <a:schemeClr val="tx1"/>
                </a:solidFill>
              </a:rPr>
              <a:t>가림 누락 비율(표본 점검)</a:t>
            </a:r>
            <a:endParaRPr lang="en-US" sz="1500" dirty="0"/>
          </a:p>
          <a:p>
            <a:pPr marL="177800" indent="-177800">
              <a:spcAft>
                <a:spcPts val="1000"/>
              </a:spcAft>
              <a:buSzPct val="100000"/>
              <a:buChar char="•"/>
            </a:pPr>
            <a:r>
              <a:rPr lang="en-US" sz="1500" dirty="0">
                <a:solidFill>
                  <a:schemeClr val="tx1"/>
                </a:solidFill>
              </a:rPr>
              <a:t>수리 확인 제안 일치율</a:t>
            </a:r>
            <a:endParaRPr lang="en-US" sz="1500" dirty="0"/>
          </a:p>
        </p:txBody>
      </p:sp>
      <p:sp>
        <p:nvSpPr>
          <p:cNvPr id="15" name="참여자 지표"/>
          <p:cNvSpPr/>
          <p:nvPr/>
        </p:nvSpPr>
        <p:spPr>
          <a:xfrm>
            <a:off x="8127797" y="1737360"/>
            <a:ext cx="3515258" cy="2834640"/>
          </a:xfrm>
          <a:prstGeom prst="roundRect">
            <a:avLst>
              <a:gd name="adj" fmla="val 2581"/>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16" name="참여자 원"/>
          <p:cNvSpPr/>
          <p:nvPr/>
        </p:nvSpPr>
        <p:spPr>
          <a:xfrm>
            <a:off x="8356397" y="1965960"/>
            <a:ext cx="530352" cy="530352"/>
          </a:xfrm>
          <a:prstGeom prst="ellipse">
            <a:avLst/>
          </a:prstGeom>
          <a:solidFill>
            <a:schemeClr val="accent4"/>
          </a:solidFill>
          <a:ln w="12700">
            <a:solidFill>
              <a:schemeClr val="accent4"/>
            </a:solidFill>
            <a:prstDash val="solid"/>
          </a:ln>
        </p:spPr>
      </p:sp>
      <p:pic>
        <p:nvPicPr>
          <p:cNvPr id="17" name="참여자 아이콘" descr="preencoded.png">    </p:cNvPr>
          <p:cNvPicPr>
            <a:picLocks noChangeAspect="1"/>
          </p:cNvPicPr>
          <p:nvPr/>
        </p:nvPicPr>
        <p:blipFill>
          <a:blip r:embed="rId3"/>
          <a:stretch>
            <a:fillRect/>
          </a:stretch>
        </p:blipFill>
        <p:spPr>
          <a:xfrm>
            <a:off x="8473074" y="2082637"/>
            <a:ext cx="296997" cy="296997"/>
          </a:xfrm>
          <a:prstGeom prst="rect">
            <a:avLst/>
          </a:prstGeom>
        </p:spPr>
      </p:pic>
      <p:sp>
        <p:nvSpPr>
          <p:cNvPr id="18" name="Text 13"/>
          <p:cNvSpPr txBox="1"/>
          <p:nvPr/>
        </p:nvSpPr>
        <p:spPr>
          <a:xfrm>
            <a:off x="9023909" y="1965960"/>
            <a:ext cx="2509418" cy="530352"/>
          </a:xfrm>
          <a:prstGeom prst="rect">
            <a:avLst/>
          </a:prstGeom>
          <a:noFill/>
          <a:ln/>
        </p:spPr>
        <p:txBody>
          <a:bodyPr wrap="square" lIns="0" tIns="0" rIns="0" bIns="0" rtlCol="0" anchor="ctr"/>
          <a:lstStyle/>
          <a:p>
            <a:pPr indent="0" marL="0">
              <a:buNone/>
            </a:pPr>
            <a:r>
              <a:rPr lang="en-US" sz="1800" b="1" dirty="0">
                <a:solidFill>
                  <a:schemeClr val="tx1"/>
                </a:solidFill>
              </a:rPr>
              <a:t>참여자</a:t>
            </a:r>
            <a:endParaRPr lang="en-US" sz="1800" dirty="0"/>
          </a:p>
        </p:txBody>
      </p:sp>
      <p:sp>
        <p:nvSpPr>
          <p:cNvPr id="19" name="Text 14"/>
          <p:cNvSpPr txBox="1"/>
          <p:nvPr/>
        </p:nvSpPr>
        <p:spPr>
          <a:xfrm>
            <a:off x="8383829" y="2743200"/>
            <a:ext cx="3058058" cy="169164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rPr>
              <a:t>교육 전후 재촬영 비율</a:t>
            </a:r>
            <a:endParaRPr lang="en-US" sz="1500" dirty="0"/>
          </a:p>
          <a:p>
            <a:pPr marL="177800" indent="-177800">
              <a:spcAft>
                <a:spcPts val="1000"/>
              </a:spcAft>
              <a:buSzPct val="100000"/>
              <a:buChar char="•"/>
            </a:pPr>
            <a:r>
              <a:rPr lang="en-US" sz="1500" dirty="0">
                <a:solidFill>
                  <a:schemeClr val="tx1"/>
                </a:solidFill>
              </a:rPr>
              <a:t>참여자 안전사고 건수</a:t>
            </a:r>
            <a:endParaRPr lang="en-US" sz="1500" dirty="0"/>
          </a:p>
          <a:p>
            <a:pPr marL="177800" indent="-177800">
              <a:spcAft>
                <a:spcPts val="1000"/>
              </a:spcAft>
              <a:buSzPct val="100000"/>
              <a:buChar char="•"/>
            </a:pPr>
            <a:r>
              <a:rPr lang="en-US" sz="1500" dirty="0">
                <a:solidFill>
                  <a:schemeClr val="tx1"/>
                </a:solidFill>
              </a:rPr>
              <a:t>출석·활동 지속률</a:t>
            </a:r>
            <a:endParaRPr lang="en-US" sz="1500" dirty="0"/>
          </a:p>
        </p:txBody>
      </p:sp>
      <p:sp>
        <p:nvSpPr>
          <p:cNvPr id="20" name="Text 15"/>
          <p:cNvSpPr txBox="1"/>
          <p:nvPr/>
        </p:nvSpPr>
        <p:spPr>
          <a:xfrm>
            <a:off x="548640" y="4846320"/>
            <a:ext cx="11094415" cy="320040"/>
          </a:xfrm>
          <a:prstGeom prst="rect">
            <a:avLst/>
          </a:prstGeom>
          <a:noFill/>
          <a:ln/>
        </p:spPr>
        <p:txBody>
          <a:bodyPr wrap="square" lIns="0" tIns="0" rIns="0" bIns="0" rtlCol="0" anchor="t"/>
          <a:lstStyle/>
          <a:p>
            <a:pPr indent="0" marL="0">
              <a:buNone/>
            </a:pPr>
            <a:r>
              <a:rPr lang="en-US" sz="1500" b="1" dirty="0">
                <a:solidFill>
                  <a:schemeClr val="tx2"/>
                </a:solidFill>
              </a:rPr>
              <a:t>분기마다 기록하고, 민원 건수·처리 기간은 도입 전과 비교</a:t>
            </a:r>
            <a:endParaRPr lang="en-US" sz="15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A5</a:t>
            </a:r>
            <a:endParaRPr lang="en-US" sz="1300" dirty="0"/>
          </a:p>
        </p:txBody>
      </p:sp>
      <p:sp>
        <p:nvSpPr>
          <p:cNvPr id="3" name="Text 1"/>
          <p:cNvSpPr/>
          <p:nvPr>
            <p:ph idx="102" type="body" hasCustomPrompt="1"/>
          </p:nvPr>
        </p:nvSpPr>
        <p:spPr>
          <a:xfrm>
            <a:off x="1024128" y="384048"/>
            <a:ext cx="7772400" cy="365760"/>
          </a:xfrm>
          <a:prstGeom prst="rect">
            <a:avLst/>
          </a:prstGeom>
          <a:noFill/>
          <a:ln/>
        </p:spPr>
        <p:txBody>
          <a:bodyPr wrap="square" lIns="0" tIns="0" rIns="0" bIns="0" rtlCol="0" anchor="ctr"/>
          <a:lstStyle/>
          <a:p>
            <a:pPr indent="0" marL="0">
              <a:buNone/>
            </a:pPr>
            <a:r>
              <a:rPr lang="en-US" sz="1400" b="1" dirty="0">
                <a:solidFill>
                  <a:schemeClr val="tx2"/>
                </a:solidFill>
              </a:rPr>
              <a:t>부록 · 질의응답 참고</a:t>
            </a:r>
            <a:endParaRPr lang="en-US" sz="1400" dirty="0"/>
          </a:p>
        </p:txBody>
      </p:sp>
      <p:sp>
        <p:nvSpPr>
          <p:cNvPr id="4" name="Text 1"/>
          <p:cNvSpPr/>
          <p:nvPr>
            <p:ph idx="103" type="title" hasCustomPrompt="1"/>
          </p:nvPr>
        </p:nvSpPr>
        <p:spPr>
          <a:xfrm>
            <a:off x="548640" y="841248"/>
            <a:ext cx="11094415" cy="658368"/>
          </a:xfrm>
          <a:prstGeom prst="rect">
            <a:avLst/>
          </a:prstGeom>
          <a:noFill/>
          <a:ln/>
        </p:spPr>
        <p:txBody>
          <a:bodyPr wrap="square" lIns="0" tIns="0" rIns="0" bIns="0" rtlCol="0" anchor="ctr"/>
          <a:lstStyle/>
          <a:p>
            <a:pPr algn="l" indent="0" marL="0">
              <a:buNone/>
            </a:pPr>
            <a:r>
              <a:rPr lang="en-US" sz="3200" b="1" dirty="0">
                <a:solidFill>
                  <a:schemeClr val="tx1"/>
                </a:solidFill>
              </a:rPr>
              <a:t>기술·운영 상세</a:t>
            </a:r>
            <a:endParaRPr lang="en-US" sz="3200" dirty="0"/>
          </a:p>
        </p:txBody>
      </p:sp>
      <p:sp>
        <p:nvSpPr>
          <p:cNvPr id="40" name="상세 카드 시스템 구성"/>
          <p:cNvSpPr/>
          <p:nvPr/>
        </p:nvSpPr>
        <p:spPr>
          <a:xfrm>
            <a:off x="548640" y="1691640"/>
            <a:ext cx="5408676" cy="2423160"/>
          </a:xfrm>
          <a:prstGeom prst="roundRect">
            <a:avLst>
              <a:gd name="adj" fmla="val 2581"/>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41" name="상세 제목 시스템 구성"/>
          <p:cNvSpPr txBox="1"/>
          <p:nvPr/>
        </p:nvSpPr>
        <p:spPr>
          <a:xfrm>
            <a:off x="777240" y="1856232"/>
            <a:ext cx="4951476" cy="347472"/>
          </a:xfrm>
          <a:prstGeom prst="rect">
            <a:avLst/>
          </a:prstGeom>
          <a:noFill/>
          <a:ln/>
        </p:spPr>
        <p:txBody>
          <a:bodyPr wrap="square" lIns="0" tIns="0" rIns="0" bIns="0" rtlCol="0" anchor="t"/>
          <a:lstStyle/>
          <a:p>
            <a:pPr indent="0" marL="0">
              <a:buNone/>
            </a:pPr>
            <a:r>
              <a:rPr lang="en-US" sz="1600" b="1" dirty="0">
                <a:solidFill>
                  <a:schemeClr val="tx1"/>
                </a:solidFill>
              </a:rPr>
              <a:t>시스템·보안</a:t>
            </a:r>
            <a:endParaRPr lang="en-US" sz="1600" dirty="0"/>
          </a:p>
        </p:txBody>
      </p:sp>
      <p:graphicFrame>
        <p:nvGraphicFramePr>
          <p:cNvPr id="42" name="상세 내용 시스템 구성"/>
          <p:cNvGraphicFramePr>
            <a:graphicFrameLocks noGrp="1"/>
          </p:cNvGraphicFramePr>
          <p:nvPr/>
        </p:nvGraphicFramePr>
        <p:xfrm>
          <a:off x="777240" y="2194560"/>
          <a:ext cx="4951476" cy="1300000"/>
        </p:xfrm>
        <a:graphic>
          <a:graphicData uri="http://schemas.openxmlformats.org/drawingml/2006/table">
            <a:tbl>
              <a:tblPr firstRow="0" bandRow="0"/>
              <a:tblGrid>
                <a:gridCol w="1280160"/>
                <a:gridCol w="3671316"/>
              </a:tblGrid>
              <a:tr h="260000">
                <a:tc>
                  <a:txBody>
                    <a:bodyPr/>
                    <a:lstStyle/>
                    <a:p>
                      <a:pPr marL="0" indent="0">
                        <a:lnSpc>
                          <a:spcPct val="100000"/>
                        </a:lnSpc>
                        <a:buNone/>
                      </a:pPr>
                      <a:r>
                        <a:rPr lang="ko-KR" altLang="en-US" sz="1250" b="1" dirty="0">
                          <a:solidFill>
                            <a:srgbClr val="13292E"/>
                          </a:solidFill>
                        </a:rPr>
                        <a:t>업무 서버</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Spring Boot · PostgreSQL</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저장 내용</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시설 대장·순회·사진 처리 상태, 사건·보수·변경 이력</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호출 구조</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앱은 업무 서버만 호출, AI 서버 직접 호출 없음</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가림 위치</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휴대폰에서 먼저 가리고 서버가 재검사</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사진 보관</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정상 6개월·처리 건 3년 뒤 자동 삭제</a:t>
                      </a:r>
                    </a:p>
                  </a:txBody>
                  <a:tcPr marL="0" marR="0" marT="0" marB="38100">
                    <a:lnL w="0">
                      <a:noFill/>
                    </a:lnL>
                    <a:lnR w="0">
                      <a:noFill/>
                    </a:lnR>
                    <a:lnT w="0">
                      <a:noFill/>
                    </a:lnT>
                    <a:lnB w="0">
                      <a:noFill/>
                    </a:lnB>
                    <a:noFill/>
                  </a:tcPr>
                </a:tc>
              </a:tr>
            </a:tbl>
          </a:graphicData>
        </a:graphic>
      </p:graphicFrame>
      <p:sp>
        <p:nvSpPr>
          <p:cNvPr id="43" name="상세 카드 AI 모델"/>
          <p:cNvSpPr/>
          <p:nvPr/>
        </p:nvSpPr>
        <p:spPr>
          <a:xfrm>
            <a:off x="6231636" y="1691640"/>
            <a:ext cx="5408676" cy="2423160"/>
          </a:xfrm>
          <a:prstGeom prst="roundRect">
            <a:avLst>
              <a:gd name="adj" fmla="val 2581"/>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44" name="상세 제목 AI 모델"/>
          <p:cNvSpPr txBox="1"/>
          <p:nvPr/>
        </p:nvSpPr>
        <p:spPr>
          <a:xfrm>
            <a:off x="6460236" y="1856232"/>
            <a:ext cx="4951476" cy="347472"/>
          </a:xfrm>
          <a:prstGeom prst="rect">
            <a:avLst/>
          </a:prstGeom>
          <a:noFill/>
          <a:ln/>
        </p:spPr>
        <p:txBody>
          <a:bodyPr wrap="square" lIns="0" tIns="0" rIns="0" bIns="0" rtlCol="0" anchor="t"/>
          <a:lstStyle/>
          <a:p>
            <a:pPr indent="0" marL="0">
              <a:buNone/>
            </a:pPr>
            <a:r>
              <a:rPr lang="en-US" sz="1600" b="1" dirty="0">
                <a:solidFill>
                  <a:schemeClr val="tx1"/>
                </a:solidFill>
              </a:rPr>
              <a:t>AI 모델</a:t>
            </a:r>
            <a:endParaRPr lang="en-US" sz="1600" dirty="0"/>
          </a:p>
        </p:txBody>
      </p:sp>
      <p:graphicFrame>
        <p:nvGraphicFramePr>
          <p:cNvPr id="45" name="상세 내용 AI 모델"/>
          <p:cNvGraphicFramePr>
            <a:graphicFrameLocks noGrp="1"/>
          </p:cNvGraphicFramePr>
          <p:nvPr/>
        </p:nvGraphicFramePr>
        <p:xfrm>
          <a:off x="6460236" y="2194560"/>
          <a:ext cx="4951476" cy="1560000"/>
        </p:xfrm>
        <a:graphic>
          <a:graphicData uri="http://schemas.openxmlformats.org/drawingml/2006/table">
            <a:tbl>
              <a:tblPr firstRow="0" bandRow="0"/>
              <a:tblGrid>
                <a:gridCol w="1280160"/>
                <a:gridCol w="3671316"/>
              </a:tblGrid>
              <a:tr h="260000">
                <a:tc>
                  <a:txBody>
                    <a:bodyPr/>
                    <a:lstStyle/>
                    <a:p>
                      <a:pPr marL="0" indent="0">
                        <a:lnSpc>
                          <a:spcPct val="100000"/>
                        </a:lnSpc>
                        <a:buNone/>
                      </a:pPr>
                      <a:r>
                        <a:rPr lang="ko-KR" altLang="en-US" sz="1250" b="1" dirty="0">
                          <a:solidFill>
                            <a:srgbClr val="13292E"/>
                          </a:solidFill>
                        </a:rPr>
                        <a:t>얼굴 가림</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YuNet</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번호판 가림</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YOLOv9 + 규칙 기반 검출, 98% 미달 시 추가 학습</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차량 가림</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번호판을 못 찾으면 차량 전체 가림(RF-DETR)</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시설·이상 판독</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Qwen3-VL 8B(시험용), 근거와 함께 제시</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보수 전후 비교</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고쳐짐·그대로 / 악화·비슷·좋아짐 중 제안</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비용 절감</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기록이 쌓이면 더 작은 모델로 전환</a:t>
                      </a:r>
                    </a:p>
                  </a:txBody>
                  <a:tcPr marL="0" marR="0" marT="0" marB="38100">
                    <a:lnL w="0">
                      <a:noFill/>
                    </a:lnL>
                    <a:lnR w="0">
                      <a:noFill/>
                    </a:lnR>
                    <a:lnT w="0">
                      <a:noFill/>
                    </a:lnT>
                    <a:lnB w="0">
                      <a:noFill/>
                    </a:lnB>
                    <a:noFill/>
                  </a:tcPr>
                </a:tc>
              </a:tr>
            </a:tbl>
          </a:graphicData>
        </a:graphic>
      </p:graphicFrame>
      <p:sp>
        <p:nvSpPr>
          <p:cNvPr id="46" name="상세 카드 규칙 코드 기준"/>
          <p:cNvSpPr/>
          <p:nvPr/>
        </p:nvSpPr>
        <p:spPr>
          <a:xfrm>
            <a:off x="548640" y="4297680"/>
            <a:ext cx="5408676" cy="2011680"/>
          </a:xfrm>
          <a:prstGeom prst="roundRect">
            <a:avLst>
              <a:gd name="adj" fmla="val 2581"/>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47" name="상세 제목 규칙 코드 기준"/>
          <p:cNvSpPr txBox="1"/>
          <p:nvPr/>
        </p:nvSpPr>
        <p:spPr>
          <a:xfrm>
            <a:off x="777240" y="4462272"/>
            <a:ext cx="4951476" cy="347472"/>
          </a:xfrm>
          <a:prstGeom prst="rect">
            <a:avLst/>
          </a:prstGeom>
          <a:noFill/>
          <a:ln/>
        </p:spPr>
        <p:txBody>
          <a:bodyPr wrap="square" lIns="0" tIns="0" rIns="0" bIns="0" rtlCol="0" anchor="t"/>
          <a:lstStyle/>
          <a:p>
            <a:pPr indent="0" marL="0">
              <a:buNone/>
            </a:pPr>
            <a:r>
              <a:rPr lang="en-US" sz="1600" b="1" dirty="0">
                <a:solidFill>
                  <a:schemeClr val="tx1"/>
                </a:solidFill>
              </a:rPr>
              <a:t>규칙 코드 기준</a:t>
            </a:r>
            <a:endParaRPr lang="en-US" sz="1600" dirty="0"/>
          </a:p>
        </p:txBody>
      </p:sp>
      <p:graphicFrame>
        <p:nvGraphicFramePr>
          <p:cNvPr id="48" name="상세 내용 규칙 코드 기준"/>
          <p:cNvGraphicFramePr>
            <a:graphicFrameLocks noGrp="1"/>
          </p:cNvGraphicFramePr>
          <p:nvPr/>
        </p:nvGraphicFramePr>
        <p:xfrm>
          <a:off x="777240" y="4800600"/>
          <a:ext cx="4951476" cy="1040000"/>
        </p:xfrm>
        <a:graphic>
          <a:graphicData uri="http://schemas.openxmlformats.org/drawingml/2006/table">
            <a:tbl>
              <a:tblPr firstRow="0" bandRow="0"/>
              <a:tblGrid>
                <a:gridCol w="1280160"/>
                <a:gridCol w="3671316"/>
              </a:tblGrid>
              <a:tr h="260000">
                <a:tc>
                  <a:txBody>
                    <a:bodyPr/>
                    <a:lstStyle/>
                    <a:p>
                      <a:pPr marL="0" indent="0">
                        <a:lnSpc>
                          <a:spcPct val="100000"/>
                        </a:lnSpc>
                        <a:buNone/>
                      </a:pPr>
                      <a:r>
                        <a:rPr lang="ko-KR" altLang="en-US" sz="1250" b="1" dirty="0">
                          <a:solidFill>
                            <a:srgbClr val="13292E"/>
                          </a:solidFill>
                        </a:rPr>
                        <a:t>사진 품질</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흐림·어두움은 코드로, 구도는 AI로 확인</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시설 연결</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코스에 배정된 시설 ID로 연결</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부서 배정</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시설 대장 기준</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분류·집계</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검토 분류·재촬영 일정·숫자 집계</a:t>
                      </a:r>
                    </a:p>
                  </a:txBody>
                  <a:tcPr marL="0" marR="0" marT="0" marB="38100">
                    <a:lnL w="0">
                      <a:noFill/>
                    </a:lnL>
                    <a:lnR w="0">
                      <a:noFill/>
                    </a:lnR>
                    <a:lnT w="0">
                      <a:noFill/>
                    </a:lnT>
                    <a:lnB w="0">
                      <a:noFill/>
                    </a:lnB>
                    <a:noFill/>
                  </a:tcPr>
                </a:tc>
              </a:tr>
            </a:tbl>
          </a:graphicData>
        </a:graphic>
      </p:graphicFrame>
      <p:sp>
        <p:nvSpPr>
          <p:cNvPr id="49" name="상세 카드 추진 단계 세부"/>
          <p:cNvSpPr/>
          <p:nvPr/>
        </p:nvSpPr>
        <p:spPr>
          <a:xfrm>
            <a:off x="6231636" y="4297680"/>
            <a:ext cx="5408676" cy="2011680"/>
          </a:xfrm>
          <a:prstGeom prst="roundRect">
            <a:avLst>
              <a:gd name="adj" fmla="val 2581"/>
            </a:avLst>
          </a:prstGeom>
          <a:solidFill>
            <a:schemeClr val="bg1"/>
          </a:solidFill>
          <a:ln w="9525">
            <a:solidFill>
              <a:schemeClr val="accent5"/>
            </a:solidFill>
            <a:prstDash val="solid"/>
          </a:ln>
          <a:effectLst>
            <a:outerShdw sx="100000" sy="100000" kx="0" ky="0" algn="bl" rotWithShape="0" blurRad="101600" dist="25400" dir="5400000">
              <a:srgbClr val="0E4C5A">
                <a:alpha val="10000"/>
              </a:srgbClr>
            </a:outerShdw>
          </a:effectLst>
        </p:spPr>
      </p:sp>
      <p:sp>
        <p:nvSpPr>
          <p:cNvPr id="50" name="상세 제목 추진 단계 세부"/>
          <p:cNvSpPr txBox="1"/>
          <p:nvPr/>
        </p:nvSpPr>
        <p:spPr>
          <a:xfrm>
            <a:off x="6460236" y="4462272"/>
            <a:ext cx="4951476" cy="347472"/>
          </a:xfrm>
          <a:prstGeom prst="rect">
            <a:avLst/>
          </a:prstGeom>
          <a:noFill/>
          <a:ln/>
        </p:spPr>
        <p:txBody>
          <a:bodyPr wrap="square" lIns="0" tIns="0" rIns="0" bIns="0" rtlCol="0" anchor="t"/>
          <a:lstStyle/>
          <a:p>
            <a:pPr indent="0" marL="0">
              <a:buNone/>
            </a:pPr>
            <a:r>
              <a:rPr lang="en-US" sz="1600" b="1" dirty="0">
                <a:solidFill>
                  <a:schemeClr val="tx1"/>
                </a:solidFill>
              </a:rPr>
              <a:t>추진·운영 세부</a:t>
            </a:r>
            <a:endParaRPr lang="en-US" sz="1600" dirty="0"/>
          </a:p>
        </p:txBody>
      </p:sp>
      <p:graphicFrame>
        <p:nvGraphicFramePr>
          <p:cNvPr id="51" name="상세 내용 추진 단계 세부"/>
          <p:cNvGraphicFramePr>
            <a:graphicFrameLocks noGrp="1"/>
          </p:cNvGraphicFramePr>
          <p:nvPr/>
        </p:nvGraphicFramePr>
        <p:xfrm>
          <a:off x="6460236" y="4800600"/>
          <a:ext cx="4951476" cy="1300000"/>
        </p:xfrm>
        <a:graphic>
          <a:graphicData uri="http://schemas.openxmlformats.org/drawingml/2006/table">
            <a:tbl>
              <a:tblPr firstRow="0" bandRow="0"/>
              <a:tblGrid>
                <a:gridCol w="1280160"/>
                <a:gridCol w="3671316"/>
              </a:tblGrid>
              <a:tr h="260000">
                <a:tc>
                  <a:txBody>
                    <a:bodyPr/>
                    <a:lstStyle/>
                    <a:p>
                      <a:pPr marL="0" indent="0">
                        <a:lnSpc>
                          <a:spcPct val="100000"/>
                        </a:lnSpc>
                        <a:buNone/>
                      </a:pPr>
                      <a:r>
                        <a:rPr lang="ko-KR" altLang="en-US" sz="1250" b="1" dirty="0">
                          <a:solidFill>
                            <a:srgbClr val="13292E"/>
                          </a:solidFill>
                        </a:rPr>
                        <a:t>1단계</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코스 거리·촬영 장수 확정</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2단계</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기존 노인일자리 사진도 함께 판독, 부서 시스템 연계 검토</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3단계</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기상 예보에 맞춘 우선 코스</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정기 실사</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분기마다 담당자가 표본 코스 동행 확인</a:t>
                      </a:r>
                    </a:p>
                  </a:txBody>
                  <a:tcPr marL="0" marR="0" marT="0" marB="38100">
                    <a:lnL w="0">
                      <a:noFill/>
                    </a:lnL>
                    <a:lnR w="0">
                      <a:noFill/>
                    </a:lnR>
                    <a:lnT w="0">
                      <a:noFill/>
                    </a:lnT>
                    <a:lnB w="0">
                      <a:noFill/>
                    </a:lnB>
                    <a:noFill/>
                  </a:tcPr>
                </a:tc>
              </a:tr>
              <a:tr h="260000">
                <a:tc>
                  <a:txBody>
                    <a:bodyPr/>
                    <a:lstStyle/>
                    <a:p>
                      <a:pPr marL="0" indent="0">
                        <a:lnSpc>
                          <a:spcPct val="100000"/>
                        </a:lnSpc>
                        <a:buNone/>
                      </a:pPr>
                      <a:r>
                        <a:rPr lang="ko-KR" altLang="en-US" sz="1250" b="1" dirty="0">
                          <a:solidFill>
                            <a:srgbClr val="13292E"/>
                          </a:solidFill>
                        </a:rPr>
                        <a:t>협력 기관</a:t>
                      </a:r>
                    </a:p>
                  </a:txBody>
                  <a:tcPr marL="0" marR="45720" marT="0" marB="38100">
                    <a:lnL w="0">
                      <a:noFill/>
                    </a:lnL>
                    <a:lnR w="0">
                      <a:noFill/>
                    </a:lnR>
                    <a:lnT w="0">
                      <a:noFill/>
                    </a:lnT>
                    <a:lnB w="0">
                      <a:noFill/>
                    </a:lnB>
                    <a:noFill/>
                  </a:tcPr>
                </a:tc>
                <a:tc>
                  <a:txBody>
                    <a:bodyPr/>
                    <a:lstStyle/>
                    <a:p>
                      <a:pPr marL="0" indent="0">
                        <a:lnSpc>
                          <a:spcPct val="100000"/>
                        </a:lnSpc>
                        <a:buNone/>
                      </a:pPr>
                      <a:r>
                        <a:rPr lang="ko-KR" altLang="en-US" sz="1250" b="0" dirty="0">
                          <a:solidFill>
                            <a:srgbClr val="36494D"/>
                          </a:solidFill>
                        </a:rPr>
                        <a:t>수행기관 3곳 중 협의, 행정복지센터</a:t>
                      </a:r>
                    </a:p>
                  </a:txBody>
                  <a:tcPr marL="0" marR="0" marT="0" marB="38100">
                    <a:lnL w="0">
                      <a:noFill/>
                    </a:lnL>
                    <a:lnR w="0">
                      <a:noFill/>
                    </a:lnR>
                    <a:lnT w="0">
                      <a:noFill/>
                    </a:lnT>
                    <a:lnB w="0">
                      <a:noFill/>
                    </a:lnB>
                    <a:noFill/>
                  </a:tcPr>
                </a:tc>
              </a:tr>
            </a:tbl>
          </a:graphicData>
        </a:graphic>
      </p:graphicFrame>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Senior Checkers">
  <a:themeElements>
    <a:clrScheme name="Senior Checkers">
      <a:dk1>
        <a:srgbClr val="13292E"/>
      </a:dk1>
      <a:lt1>
        <a:srgbClr val="FFFFFF"/>
      </a:lt1>
      <a:dk2>
        <a:srgbClr val="0E4C5A"/>
      </a:dk2>
      <a:lt2>
        <a:srgbClr val="EEF2F2"/>
      </a:lt2>
      <a:accent1>
        <a:srgbClr val="F5C518"/>
      </a:accent1>
      <a:accent2>
        <a:srgbClr val="3B8EA5"/>
      </a:accent2>
      <a:accent3>
        <a:srgbClr val="C2410C"/>
      </a:accent3>
      <a:accent4>
        <a:srgbClr val="2F7D4F"/>
      </a:accent4>
      <a:accent5>
        <a:srgbClr val="D5E9EE"/>
      </a:accent5>
      <a:accent6>
        <a:srgbClr val="52666B"/>
      </a:accent6>
      <a:hlink>
        <a:srgbClr val="3B8EA5"/>
      </a:hlink>
      <a:folHlink>
        <a:srgbClr val="0E4C5A"/>
      </a:folHlink>
    </a:clrScheme>
    <a:fontScheme name="Senior Checkers">
      <a:majorFont>
        <a:latin typeface="Malgun Gothic"/>
        <a:ea typeface="Malgun 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Malgun 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시니어 동네 점검단 - 이로움</dc:title>
  <dc:subject>PptxGenJS Presentation</dc:subject>
  <dc:creator>이로움</dc:creator>
  <cp:lastModifiedBy>이로움</cp:lastModifiedBy>
  <cp:revision>1</cp:revision>
  <dcterms:created xsi:type="dcterms:W3CDTF">2026-10-11T12:13:17Z</dcterms:created>
  <dcterms:modified xsi:type="dcterms:W3CDTF">2026-10-11T12:13:17Z</dcterms:modified>
</cp:coreProperties>
</file>